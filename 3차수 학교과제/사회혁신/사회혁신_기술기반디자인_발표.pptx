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대본 | 도입</a:t>
            </a:r>
          </a:p>
          <a:p>
            <a:r>
              <a:t>예상 시간: 약 18초</a:t>
            </a:r>
          </a:p>
          <a:p/>
          <a:p>
            <a:r>
              <a:t>안녕하세요. 저는 청년 고용과 주거 불안, 사회적 고립과 고독사, 기후위기와 폭염 불평등을 살펴봤습니다. 세 문제를 기술기반 디자인으로 어떻게 개선할 수 있을지, 필요한 사람에게 지원을 연결한다는 관점에서 제안하겠습니다.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대본 | 핵심 불편</a:t>
            </a:r>
          </a:p>
          <a:p>
            <a:r>
              <a:t>예상 시간: 약 24초</a:t>
            </a:r>
          </a:p>
          <a:p/>
          <a:p>
            <a:r>
              <a:t>세 문제의 공통점은 지원이 있어도 필요한 사람에게 닿기 어렵다는 점입니다. 청년에게는 정보 접근, 고립된 사람에게는 관계의 시작, 폭염 취약계층에게는 보호 자원 접근이 중요합니다. 여기 적은 불편은 기사에서 출발한 가설이며, 인터뷰와 관찰로 확인할 계획입니다.</a:t>
            </a:r>
          </a:p>
          <a:p/>
          <a:p>
            <a:r>
              <a:t>보충 설명 / 질문 대비</a:t>
            </a:r>
          </a:p>
          <a:p>
            <a:r>
              <a:t>문제와 해결 방향은 발표자의 해석이다. 사용자 인터뷰나 현장 실험을 이미 수행한 결과로 설명하지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대본 | 청년 자립</a:t>
            </a:r>
          </a:p>
          <a:p>
            <a:r>
              <a:t>예상 시간: 약 38초</a:t>
            </a:r>
          </a:p>
          <a:p/>
          <a:p>
            <a:r>
              <a:t>첫 번째는 청년 고용과 주거 불안입니다. 2026년 7월 청년층 고용률은 44.2퍼센트로 전년 같은 달보다 낮아졌습니다. 이 상황에서 지원 정보를 찾고 신청하는 부담을 줄이는 데 초점을 맞췄습니다. 제안은 AI 기반 자립 경로 플랫폼입니다. 지역과 소득, 구직 상태를 입력하면 조건에 맞는 월세 지원, 일자리, 상담을 안내하고 공식 신청 경로로 연결합니다. 쉽게 말하면, 내게 맞는 지원을 찾아 실제 신청까지 도와주는 서비스입니다.</a:t>
            </a:r>
          </a:p>
          <a:p/>
          <a:p>
            <a:r>
              <a:t>보충 설명 / 질문 대비</a:t>
            </a:r>
          </a:p>
          <a:p>
            <a:r>
              <a:t>AI가 지원 자격을 최종 판정하지 않는다. 공식 조건에 따른 매칭을 먼저 적용하고 AI는 설명을 돕는다. 정책기자단의 월세 기사는 개인 경험을 담은 보조 자료이며, 전국 청년의 주거비 통계로 사용하지 않는다. 이 제안은 정보 탐색과 신청 부담을 줄이는 범위이며 일자리 부족과 주택 가격 자체의 해결을 뜻하지 않는다.</a:t>
            </a:r>
          </a:p>
          <a:p/>
          <a:p>
            <a:r>
              <a:t>자료 출처</a:t>
            </a:r>
          </a:p>
          <a:p>
            <a:r>
              <a:t>[1] 2026년 7월 고용동향 | 국가데이터처 · 대한민국 정책브리핑 | 2026.08.12</a:t>
            </a:r>
          </a:p>
          <a:p>
            <a:r>
              <a:t>https://www.korea.kr/briefing/policyBriefingView.do?newsId=156774135</a:t>
            </a:r>
          </a:p>
          <a:p>
            <a:r>
              <a:t>[2] '청년월세 특별지원' 나도 신청할 수 있을까 | 정책기자단 김윤희 · 대한민국 정책브리핑 | 2026.01.29</a:t>
            </a:r>
          </a:p>
          <a:p>
            <a:r>
              <a:t>https://m.korea.kr/news/customizedNewsView.do?newsId=148958583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대본 | 사회적 고립</a:t>
            </a:r>
          </a:p>
          <a:p>
            <a:r>
              <a:t>예상 시간: 약 36초</a:t>
            </a:r>
          </a:p>
          <a:p/>
          <a:p>
            <a:r>
              <a:t>두 번째는 사회적 고립과 고독사입니다. 정부도 사후 대응에서 고립 예방으로 전환하는 방향을 논의하고 있습니다. 제안은 지역 기반 안부 연결 시스템입니다. 참여에 동의한 주민에게 문자나 전화로 안부를 확인하고, 응답이 없으면 담당자가 상황을 확인한 뒤 상담이나 돌봄으로 연결합니다. 편의점과 약국은 일상에서 도움의 연결점을 만들 수 있습니다. 핵심은 기술이 신호를 전달하고 사람이 관계를 이어주는 것입니다.</a:t>
            </a:r>
          </a:p>
          <a:p/>
          <a:p>
            <a:r>
              <a:t>보충 설명 / 질문 대비</a:t>
            </a:r>
          </a:p>
          <a:p>
            <a:r>
              <a:t>미응답만으로 위험이나 고독사를 단정하지 않는다. 동의한 범위의 최소 정보만 공유하며 문자·전화 등 비앱 경로도 제공하는 설계다.</a:t>
            </a:r>
          </a:p>
          <a:p/>
          <a:p>
            <a:r>
              <a:t>자료 출처</a:t>
            </a:r>
          </a:p>
          <a:p>
            <a:r>
              <a:t>[3] '사회적 고립 예방' 국가 과제로 관리…범정부 대응체계 구축 | 보건복지부 · 대한민국 정책브리핑 | 2026.05.13</a:t>
            </a:r>
          </a:p>
          <a:p>
            <a:r>
              <a:t>https://www.korea.kr/news/policyNewsView.do?newsId=148964300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대본 | 폭염 불평등</a:t>
            </a:r>
          </a:p>
          <a:p>
            <a:r>
              <a:t>예상 시간: 약 36초</a:t>
            </a:r>
          </a:p>
          <a:p/>
          <a:p>
            <a:r>
              <a:t>세 번째는 폭염 불평등입니다. 질병관리청 자료는 고령층 등 취약집단을 보호할 필요가 있음을 보여줍니다. 제안은 폭염 취약지역 보호 지도입니다. 기상정보와 지역 단위의 취약성 정보를 함께 보고, 가까운 쉼터와 냉방 지원을 안내합니다. 담당자는 보호가 필요한 구역을 확인해 방문 지원으로 연결할 수 있습니다. 화면의 지도는 작동 방식을 설명하기 위한 예시입니다. 핵심은 위험을 알리는 데서 끝나지 않고 보호 행동까지 연결하는 것입니다.</a:t>
            </a:r>
          </a:p>
          <a:p/>
          <a:p>
            <a:r>
              <a:t>보충 설명 / 질문 대비</a:t>
            </a:r>
          </a:p>
          <a:p>
            <a:r>
              <a:t>실제 개인의 위치나 건강정보를 공개하는 지도가 아니다. 위험도 기준, 데이터 이용 가능성, 쉼터의 운영 여부는 후속 설계에서 검증해야 한다.</a:t>
            </a:r>
          </a:p>
          <a:p/>
          <a:p>
            <a:r>
              <a:t>자료 출처</a:t>
            </a:r>
          </a:p>
          <a:p>
            <a:r>
              <a:t>[4] 첫 '폭염중대경보' 발령, 건강수칙 준수 당부 | 질병관리청 | 2026.07.12</a:t>
            </a:r>
          </a:p>
          <a:p>
            <a:r>
              <a:t>https://www.kdca.go.kr/kdca/2848/subview.do?enc=Zm5jdDF8QEB8JTJGYmJzJTJGa2RjYSUyRjQyJTJGMzExNzUxJTJGYXJ0Y2xWaWV3LmRvJTNG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대본 | 기술 로드맵</a:t>
            </a:r>
          </a:p>
          <a:p>
            <a:r>
              <a:t>예상 시간: 약 27초</a:t>
            </a:r>
          </a:p>
          <a:p/>
          <a:p>
            <a:r>
              <a:t>실행은 8주 정도의 작은 실험으로 계획했습니다. 먼저 인터뷰와 현장 관찰, 정책과 서비스 동향 조사를 통해 세 주제 중 하나를 좁힙니다. 이후 사용자 흐름과 데이터를 정리하고, 핵심 기능만 담은 시제품을 만듭니다. 마지막에는 실제 사용 과정과 운영 담당자의 의견을 확인해 개선하겠습니다.</a:t>
            </a:r>
          </a:p>
          <a:p/>
          <a:p>
            <a:r>
              <a:t>보충 설명 / 질문 대비</a:t>
            </a:r>
          </a:p>
          <a:p>
            <a:r>
              <a:t>8주는 발표를 위한 예시 일정이다. 시장·산업 동향 조사는 기존 서비스, 운영 주체, 기술·데이터 여건을 비교하는 후속 리서치에 포함한다.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대본 | 효과 검증</a:t>
            </a:r>
          </a:p>
          <a:p>
            <a:r>
              <a:t>예상 시간: 약 24초</a:t>
            </a:r>
          </a:p>
          <a:p/>
          <a:p>
            <a:r>
              <a:t>평가 기준은 기능의 개수보다 실제 연결이 쉬워졌는지입니다. 청년 서비스는 지원을 찾는 시간, 안부 서비스는 상담과 돌봄으로 연결되는 비율, 폭염 지도는 쉼터 정보를 찾고 현장 지원으로 이어지는 과정을 살펴보겠습니다. 아직 검증된 효과가 아니라, 앞으로 확인할 지표입니다.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대본 | 마무리</a:t>
            </a:r>
          </a:p>
          <a:p>
            <a:r>
              <a:t>예상 시간: 약 18초</a:t>
            </a:r>
          </a:p>
          <a:p/>
          <a:p>
            <a:r>
              <a:t>세 제안은 정보를 찾고, 관계를 시작하고, 보호에 도달하도록 돕는 디자인입니다. 앞으로는 어떤 연결을 바꿔야 일상이 실제로 나아지는지를 조사하고, 그 결과를 바탕으로 한 주제를 구체화하겠습니다.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대본 | 자료 출처</a:t>
            </a:r>
          </a:p>
          <a:p>
            <a:r>
              <a:t>예상 시간: 약 8초</a:t>
            </a:r>
          </a:p>
          <a:p/>
          <a:p>
            <a:r>
              <a:t>발표에 사용한 자료는 국가데이터처, 대한민국 정책브리핑, 보건복지부, 질병관리청의 공개 자료입니다. 슬라이드의 기사 제목과 발표자 노트에서 원문을 확인할 수 있습니다.</a:t>
            </a:r>
          </a:p>
          <a:p/>
          <a:p>
            <a:r>
              <a:t>보충 설명 / 질문 대비</a:t>
            </a:r>
          </a:p>
          <a:p>
            <a:r>
              <a:t>원문 확인일: 2026.09.09. 기사 전체와 사진은 전재하지 않았으며 핵심 배경만 요약했다. 화면·지도·흐름도는 발표를 위해 작성한 개념도이다. 기존 발표대본 PDF를 바탕으로 구성했다.</a:t>
            </a:r>
          </a:p>
          <a:p/>
          <a:p>
            <a:r>
              <a:t>자료 출처</a:t>
            </a:r>
          </a:p>
          <a:p>
            <a:r>
              <a:t>[1] 2026년 7월 고용동향 | 국가데이터처 · 대한민국 정책브리핑 | 2026.08.12</a:t>
            </a:r>
          </a:p>
          <a:p>
            <a:r>
              <a:t>https://www.korea.kr/briefing/policyBriefingView.do?newsId=156774135</a:t>
            </a:r>
          </a:p>
          <a:p>
            <a:r>
              <a:t>[2] '청년월세 특별지원' 나도 신청할 수 있을까 | 정책기자단 김윤희 · 대한민국 정책브리핑 | 2026.01.29</a:t>
            </a:r>
          </a:p>
          <a:p>
            <a:r>
              <a:t>https://m.korea.kr/news/customizedNewsView.do?newsId=148958583</a:t>
            </a:r>
          </a:p>
          <a:p>
            <a:r>
              <a:t>[3] '사회적 고립 예방' 국가 과제로 관리…범정부 대응체계 구축 | 보건복지부 · 대한민국 정책브리핑 | 2026.05.13</a:t>
            </a:r>
          </a:p>
          <a:p>
            <a:r>
              <a:t>https://www.korea.kr/news/policyNewsView.do?newsId=148964300</a:t>
            </a:r>
          </a:p>
          <a:p>
            <a:r>
              <a:t>[4] 첫 '폭염중대경보' 발령, 건강수칙 준수 당부 | 질병관리청 | 2026.07.12</a:t>
            </a:r>
          </a:p>
          <a:p>
            <a:r>
              <a:t>https://www.kdca.go.kr/kdca/2848/subview.do?enc=Zm5jdDF8QEB8JTJGYmJzJTJGa2RjYSUyRjQyJTJGMzExNzUxJTJGYXJ0Y2xWaWV3LmRvJTNG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orea.kr/briefing/policyBriefingView.do?newsId=156774135" TargetMode="External"/><Relationship Id="rId3" Type="http://schemas.openxmlformats.org/officeDocument/2006/relationships/hyperlink" Target="https://m.korea.kr/news/customizedNewsView.do?newsId=148958583"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orea.kr/news/policyNewsView.do?newsId=148964300"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dca.go.kr/kdca/2848/subview.do?enc=Zm5jdDF8QEB8JTJGYmJzJTJGa2RjYSUyRjQyJTJGMzExNzUxJTJGYXJ0Y2xWaWV3LmRvJTNG"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korea.kr/briefing/policyBriefingView.do?newsId=156774135" TargetMode="External"/><Relationship Id="rId3" Type="http://schemas.openxmlformats.org/officeDocument/2006/relationships/hyperlink" Target="https://m.korea.kr/news/customizedNewsView.do?newsId=148958583" TargetMode="External"/><Relationship Id="rId4" Type="http://schemas.openxmlformats.org/officeDocument/2006/relationships/hyperlink" Target="https://www.korea.kr/news/policyNewsView.do?newsId=148964300" TargetMode="External"/><Relationship Id="rId5" Type="http://schemas.openxmlformats.org/officeDocument/2006/relationships/hyperlink" Target="https://www.kdca.go.kr/kdca/2848/subview.do?enc=Zm5jdDF8QEB8JTJGYmJzJTJGa2RjYSUyRjQyJTJGMzExNzUxJTJGYXJ0Y2xWaWV3LmRvJTNG" TargetMode="External"/><Relationship Id="rId6"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02426"/>
        </a:solidFill>
        <a:effectLst/>
      </p:bgPr>
    </p:bg>
    <p:spTree>
      <p:nvGrpSpPr>
        <p:cNvPr id="1" name=""/>
        <p:cNvGrpSpPr/>
        <p:nvPr/>
      </p:nvGrpSpPr>
      <p:grpSpPr/>
      <p:sp>
        <p:nvSpPr>
          <p:cNvPr id="2" name="TextBox 1"/>
          <p:cNvSpPr txBox="1"/>
          <p:nvPr/>
        </p:nvSpPr>
        <p:spPr>
          <a:xfrm>
            <a:off x="640080" y="475488"/>
            <a:ext cx="8229600" cy="274320"/>
          </a:xfrm>
          <a:prstGeom prst="rect">
            <a:avLst/>
          </a:prstGeom>
          <a:noFill/>
        </p:spPr>
        <p:txBody>
          <a:bodyPr wrap="square" lIns="0" rIns="0" tIns="0" bIns="0" anchor="t">
            <a:spAutoFit/>
          </a:bodyPr>
          <a:lstStyle/>
          <a:p>
            <a:pPr algn="l">
              <a:lnSpc>
                <a:spcPct val="116000"/>
              </a:lnSpc>
              <a:spcBef>
                <a:spcPts val="0"/>
              </a:spcBef>
              <a:spcAft>
                <a:spcPts val="0"/>
              </a:spcAft>
            </a:pPr>
            <a:r>
              <a:rPr sz="1200" b="0" lang="ko-KR" spc="0">
                <a:solidFill>
                  <a:srgbClr val="BAC3C6"/>
                </a:solidFill>
                <a:latin typeface="맑은 고딕"/>
                <a:ea typeface="맑은 고딕"/>
              </a:rPr>
              <a:t>3차수 학교과제  /  사회혁신</a:t>
            </a:r>
          </a:p>
        </p:txBody>
      </p:sp>
      <p:sp>
        <p:nvSpPr>
          <p:cNvPr id="3" name="TextBox 2"/>
          <p:cNvSpPr txBox="1"/>
          <p:nvPr/>
        </p:nvSpPr>
        <p:spPr>
          <a:xfrm>
            <a:off x="640080" y="1508760"/>
            <a:ext cx="10789920" cy="1600200"/>
          </a:xfrm>
          <a:prstGeom prst="rect">
            <a:avLst/>
          </a:prstGeom>
          <a:noFill/>
        </p:spPr>
        <p:txBody>
          <a:bodyPr wrap="square" lIns="0" rIns="0" tIns="0" bIns="0" anchor="t">
            <a:spAutoFit/>
          </a:bodyPr>
          <a:lstStyle/>
          <a:p>
            <a:pPr algn="l">
              <a:lnSpc>
                <a:spcPct val="116000"/>
              </a:lnSpc>
              <a:spcBef>
                <a:spcPts val="0"/>
              </a:spcBef>
              <a:spcAft>
                <a:spcPts val="0"/>
              </a:spcAft>
            </a:pPr>
            <a:r>
              <a:rPr sz="4200" b="1" lang="ko-KR" spc="0">
                <a:solidFill>
                  <a:srgbClr val="FFFFFF"/>
                </a:solidFill>
                <a:latin typeface="맑은 고딕"/>
                <a:ea typeface="맑은 고딕"/>
              </a:rPr>
              <a:t>사회문제를</a:t>
            </a:r>
          </a:p>
          <a:p>
            <a:pPr algn="l">
              <a:lnSpc>
                <a:spcPct val="116000"/>
              </a:lnSpc>
              <a:spcBef>
                <a:spcPts val="0"/>
              </a:spcBef>
              <a:spcAft>
                <a:spcPts val="0"/>
              </a:spcAft>
            </a:pPr>
            <a:r>
              <a:rPr sz="4200" b="1" lang="ko-KR" spc="0">
                <a:solidFill>
                  <a:srgbClr val="FFFFFF"/>
                </a:solidFill>
                <a:latin typeface="맑은 고딕"/>
                <a:ea typeface="맑은 고딕"/>
              </a:rPr>
              <a:t>연결의 디자인으로</a:t>
            </a:r>
          </a:p>
        </p:txBody>
      </p:sp>
      <p:sp>
        <p:nvSpPr>
          <p:cNvPr id="4" name="TextBox 3"/>
          <p:cNvSpPr txBox="1"/>
          <p:nvPr/>
        </p:nvSpPr>
        <p:spPr>
          <a:xfrm>
            <a:off x="676656" y="3410712"/>
            <a:ext cx="10515600" cy="411480"/>
          </a:xfrm>
          <a:prstGeom prst="rect">
            <a:avLst/>
          </a:prstGeom>
          <a:noFill/>
        </p:spPr>
        <p:txBody>
          <a:bodyPr wrap="square" lIns="0" rIns="0" tIns="0" bIns="0" anchor="t">
            <a:spAutoFit/>
          </a:bodyPr>
          <a:lstStyle/>
          <a:p>
            <a:pPr algn="l">
              <a:lnSpc>
                <a:spcPct val="116000"/>
              </a:lnSpc>
              <a:spcBef>
                <a:spcPts val="0"/>
              </a:spcBef>
              <a:spcAft>
                <a:spcPts val="0"/>
              </a:spcAft>
            </a:pPr>
            <a:r>
              <a:rPr sz="2100" b="0" lang="ko-KR" spc="0">
                <a:solidFill>
                  <a:srgbClr val="D8DEDF"/>
                </a:solidFill>
                <a:latin typeface="맑은 고딕"/>
                <a:ea typeface="맑은 고딕"/>
              </a:rPr>
              <a:t>청년 자립 · 사회적 고립 · 폭염 불평등</a:t>
            </a:r>
          </a:p>
        </p:txBody>
      </p:sp>
      <p:cxnSp>
        <p:nvCxnSpPr>
          <p:cNvPr id="5" name="Connector 4"/>
          <p:cNvCxnSpPr/>
          <p:nvPr/>
        </p:nvCxnSpPr>
        <p:spPr>
          <a:xfrm>
            <a:off x="658368" y="4690872"/>
            <a:ext cx="3383280" cy="0"/>
          </a:xfrm>
          <a:prstGeom prst="line">
            <a:avLst/>
          </a:prstGeom>
          <a:ln w="50800">
            <a:solidFill>
              <a:srgbClr val="D45165"/>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658368" y="4992624"/>
            <a:ext cx="34290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lang="ko-KR" spc="0">
                <a:solidFill>
                  <a:srgbClr val="FFFFFF"/>
                </a:solidFill>
                <a:latin typeface="맑은 고딕"/>
                <a:ea typeface="맑은 고딕"/>
              </a:rPr>
              <a:t>01  청년 자립</a:t>
            </a:r>
          </a:p>
        </p:txBody>
      </p:sp>
      <p:sp>
        <p:nvSpPr>
          <p:cNvPr id="7" name="TextBox 6"/>
          <p:cNvSpPr txBox="1"/>
          <p:nvPr/>
        </p:nvSpPr>
        <p:spPr>
          <a:xfrm>
            <a:off x="658368" y="5522976"/>
            <a:ext cx="3383280" cy="320040"/>
          </a:xfrm>
          <a:prstGeom prst="rect">
            <a:avLst/>
          </a:prstGeom>
          <a:noFill/>
        </p:spPr>
        <p:txBody>
          <a:bodyPr wrap="square" lIns="0" rIns="0" tIns="0" bIns="0" anchor="t">
            <a:spAutoFit/>
          </a:bodyPr>
          <a:lstStyle/>
          <a:p>
            <a:pPr algn="l">
              <a:lnSpc>
                <a:spcPct val="116000"/>
              </a:lnSpc>
              <a:spcBef>
                <a:spcPts val="0"/>
              </a:spcBef>
              <a:spcAft>
                <a:spcPts val="0"/>
              </a:spcAft>
            </a:pPr>
            <a:r>
              <a:rPr sz="1500" b="0" lang="ko-KR" spc="0">
                <a:solidFill>
                  <a:srgbClr val="BDC7C9"/>
                </a:solidFill>
                <a:latin typeface="맑은 고딕"/>
                <a:ea typeface="맑은 고딕"/>
              </a:rPr>
              <a:t>정보와 지원을 연결</a:t>
            </a:r>
          </a:p>
        </p:txBody>
      </p:sp>
      <p:cxnSp>
        <p:nvCxnSpPr>
          <p:cNvPr id="8" name="Connector 7"/>
          <p:cNvCxnSpPr/>
          <p:nvPr/>
        </p:nvCxnSpPr>
        <p:spPr>
          <a:xfrm>
            <a:off x="4507992" y="4690872"/>
            <a:ext cx="3383279" cy="0"/>
          </a:xfrm>
          <a:prstGeom prst="line">
            <a:avLst/>
          </a:prstGeom>
          <a:ln w="50800">
            <a:solidFill>
              <a:srgbClr val="087F75"/>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4507992" y="4992624"/>
            <a:ext cx="34290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lang="ko-KR" spc="0">
                <a:solidFill>
                  <a:srgbClr val="FFFFFF"/>
                </a:solidFill>
                <a:latin typeface="맑은 고딕"/>
                <a:ea typeface="맑은 고딕"/>
              </a:rPr>
              <a:t>02  사회적 고립</a:t>
            </a:r>
          </a:p>
        </p:txBody>
      </p:sp>
      <p:sp>
        <p:nvSpPr>
          <p:cNvPr id="10" name="TextBox 9"/>
          <p:cNvSpPr txBox="1"/>
          <p:nvPr/>
        </p:nvSpPr>
        <p:spPr>
          <a:xfrm>
            <a:off x="4507992" y="5522976"/>
            <a:ext cx="3383280" cy="320040"/>
          </a:xfrm>
          <a:prstGeom prst="rect">
            <a:avLst/>
          </a:prstGeom>
          <a:noFill/>
        </p:spPr>
        <p:txBody>
          <a:bodyPr wrap="square" lIns="0" rIns="0" tIns="0" bIns="0" anchor="t">
            <a:spAutoFit/>
          </a:bodyPr>
          <a:lstStyle/>
          <a:p>
            <a:pPr algn="l">
              <a:lnSpc>
                <a:spcPct val="116000"/>
              </a:lnSpc>
              <a:spcBef>
                <a:spcPts val="0"/>
              </a:spcBef>
              <a:spcAft>
                <a:spcPts val="0"/>
              </a:spcAft>
            </a:pPr>
            <a:r>
              <a:rPr sz="1500" b="0" lang="ko-KR" spc="0">
                <a:solidFill>
                  <a:srgbClr val="BDC7C9"/>
                </a:solidFill>
                <a:latin typeface="맑은 고딕"/>
                <a:ea typeface="맑은 고딕"/>
              </a:rPr>
              <a:t>사람과 돌봄을 연결</a:t>
            </a:r>
          </a:p>
        </p:txBody>
      </p:sp>
      <p:cxnSp>
        <p:nvCxnSpPr>
          <p:cNvPr id="11" name="Connector 10"/>
          <p:cNvCxnSpPr/>
          <p:nvPr/>
        </p:nvCxnSpPr>
        <p:spPr>
          <a:xfrm>
            <a:off x="8357616" y="4690872"/>
            <a:ext cx="3383280" cy="0"/>
          </a:xfrm>
          <a:prstGeom prst="line">
            <a:avLst/>
          </a:prstGeom>
          <a:ln w="50800">
            <a:solidFill>
              <a:srgbClr val="E5B62E"/>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8357616" y="4992624"/>
            <a:ext cx="3429000" cy="365760"/>
          </a:xfrm>
          <a:prstGeom prst="rect">
            <a:avLst/>
          </a:prstGeom>
          <a:noFill/>
        </p:spPr>
        <p:txBody>
          <a:bodyPr wrap="square" lIns="0" rIns="0" tIns="0" bIns="0" anchor="t">
            <a:spAutoFit/>
          </a:bodyPr>
          <a:lstStyle/>
          <a:p>
            <a:pPr algn="l">
              <a:lnSpc>
                <a:spcPct val="116000"/>
              </a:lnSpc>
              <a:spcBef>
                <a:spcPts val="0"/>
              </a:spcBef>
              <a:spcAft>
                <a:spcPts val="0"/>
              </a:spcAft>
            </a:pPr>
            <a:r>
              <a:rPr sz="1900" b="1" lang="ko-KR" spc="0">
                <a:solidFill>
                  <a:srgbClr val="FFFFFF"/>
                </a:solidFill>
                <a:latin typeface="맑은 고딕"/>
                <a:ea typeface="맑은 고딕"/>
              </a:rPr>
              <a:t>03  폭염 불평등</a:t>
            </a:r>
          </a:p>
        </p:txBody>
      </p:sp>
      <p:sp>
        <p:nvSpPr>
          <p:cNvPr id="13" name="TextBox 12"/>
          <p:cNvSpPr txBox="1"/>
          <p:nvPr/>
        </p:nvSpPr>
        <p:spPr>
          <a:xfrm>
            <a:off x="8357616" y="5522976"/>
            <a:ext cx="3383280" cy="320040"/>
          </a:xfrm>
          <a:prstGeom prst="rect">
            <a:avLst/>
          </a:prstGeom>
          <a:noFill/>
        </p:spPr>
        <p:txBody>
          <a:bodyPr wrap="square" lIns="0" rIns="0" tIns="0" bIns="0" anchor="t">
            <a:spAutoFit/>
          </a:bodyPr>
          <a:lstStyle/>
          <a:p>
            <a:pPr algn="l">
              <a:lnSpc>
                <a:spcPct val="116000"/>
              </a:lnSpc>
              <a:spcBef>
                <a:spcPts val="0"/>
              </a:spcBef>
              <a:spcAft>
                <a:spcPts val="0"/>
              </a:spcAft>
            </a:pPr>
            <a:r>
              <a:rPr sz="1500" b="0" lang="ko-KR" spc="0">
                <a:solidFill>
                  <a:srgbClr val="BDC7C9"/>
                </a:solidFill>
                <a:latin typeface="맑은 고딕"/>
                <a:ea typeface="맑은 고딕"/>
              </a:rPr>
              <a:t>위험과 보호를 연결</a:t>
            </a:r>
          </a:p>
        </p:txBody>
      </p:sp>
      <p:sp>
        <p:nvSpPr>
          <p:cNvPr id="14" name="TextBox 13"/>
          <p:cNvSpPr txBox="1"/>
          <p:nvPr/>
        </p:nvSpPr>
        <p:spPr>
          <a:xfrm>
            <a:off x="658368" y="6437376"/>
            <a:ext cx="10058400" cy="210312"/>
          </a:xfrm>
          <a:prstGeom prst="rect">
            <a:avLst/>
          </a:prstGeom>
          <a:noFill/>
        </p:spPr>
        <p:txBody>
          <a:bodyPr wrap="square" lIns="0" rIns="0" tIns="0" bIns="0" anchor="t">
            <a:spAutoFit/>
          </a:bodyPr>
          <a:lstStyle/>
          <a:p>
            <a:pPr algn="l">
              <a:lnSpc>
                <a:spcPct val="116000"/>
              </a:lnSpc>
              <a:spcBef>
                <a:spcPts val="0"/>
              </a:spcBef>
              <a:spcAft>
                <a:spcPts val="0"/>
              </a:spcAft>
            </a:pPr>
            <a:r>
              <a:rPr sz="1000" b="0" lang="ko-KR" spc="0">
                <a:solidFill>
                  <a:srgbClr val="B5BFC2"/>
                </a:solidFill>
                <a:latin typeface="맑은 고딕"/>
                <a:ea typeface="맑은 고딕"/>
              </a:rPr>
              <a:t>사회적 Pain point에서 기술기반 디자인 제안까지</a:t>
            </a:r>
          </a:p>
        </p:txBody>
      </p:sp>
      <p:sp>
        <p:nvSpPr>
          <p:cNvPr id="15" name="TextBox 14"/>
          <p:cNvSpPr txBox="1"/>
          <p:nvPr/>
        </p:nvSpPr>
        <p:spPr>
          <a:xfrm>
            <a:off x="10515600" y="6419088"/>
            <a:ext cx="1005840" cy="228600"/>
          </a:xfrm>
          <a:prstGeom prst="rect">
            <a:avLst/>
          </a:prstGeom>
          <a:noFill/>
        </p:spPr>
        <p:txBody>
          <a:bodyPr wrap="square" lIns="0" rIns="0" tIns="0" bIns="0" anchor="t">
            <a:spAutoFit/>
          </a:bodyPr>
          <a:lstStyle/>
          <a:p>
            <a:pPr algn="r">
              <a:lnSpc>
                <a:spcPct val="116000"/>
              </a:lnSpc>
              <a:spcBef>
                <a:spcPts val="0"/>
              </a:spcBef>
              <a:spcAft>
                <a:spcPts val="0"/>
              </a:spcAft>
            </a:pPr>
            <a:r>
              <a:rPr sz="1000" b="0" lang="ko-KR" spc="0">
                <a:solidFill>
                  <a:srgbClr val="B5BFC2"/>
                </a:solidFill>
                <a:latin typeface="맑은 고딕"/>
                <a:ea typeface="맑은 고딕"/>
              </a:rPr>
              <a:t>01 / 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0607040" cy="219456"/>
          </a:xfrm>
          <a:prstGeom prst="rect">
            <a:avLst/>
          </a:prstGeom>
          <a:noFill/>
        </p:spPr>
        <p:txBody>
          <a:bodyPr wrap="square" lIns="0" rIns="0" tIns="0" bIns="0" anchor="t">
            <a:spAutoFit/>
          </a:bodyPr>
          <a:lstStyle/>
          <a:p>
            <a:pPr algn="l">
              <a:lnSpc>
                <a:spcPct val="116000"/>
              </a:lnSpc>
              <a:spcBef>
                <a:spcPts val="0"/>
              </a:spcBef>
              <a:spcAft>
                <a:spcPts val="0"/>
              </a:spcAft>
            </a:pPr>
            <a:r>
              <a:rPr sz="1000" b="1" lang="ko-KR" spc="0">
                <a:solidFill>
                  <a:srgbClr val="087F75"/>
                </a:solidFill>
                <a:latin typeface="맑은 고딕"/>
                <a:ea typeface="맑은 고딕"/>
              </a:rPr>
              <a:t>문제 정의  /  리서치 프레임</a:t>
            </a:r>
          </a:p>
        </p:txBody>
      </p:sp>
      <p:sp>
        <p:nvSpPr>
          <p:cNvPr id="4" name="TextBox 3"/>
          <p:cNvSpPr txBox="1"/>
          <p:nvPr/>
        </p:nvSpPr>
        <p:spPr>
          <a:xfrm>
            <a:off x="548640" y="795528"/>
            <a:ext cx="10972800" cy="585216"/>
          </a:xfrm>
          <a:prstGeom prst="rect">
            <a:avLst/>
          </a:prstGeom>
          <a:noFill/>
        </p:spPr>
        <p:txBody>
          <a:bodyPr wrap="square" lIns="0" rIns="0" tIns="0" bIns="0" anchor="t">
            <a:spAutoFit/>
          </a:bodyPr>
          <a:lstStyle/>
          <a:p>
            <a:pPr algn="l">
              <a:lnSpc>
                <a:spcPct val="116000"/>
              </a:lnSpc>
              <a:spcBef>
                <a:spcPts val="0"/>
              </a:spcBef>
              <a:spcAft>
                <a:spcPts val="0"/>
              </a:spcAft>
            </a:pPr>
            <a:r>
              <a:rPr sz="2900" b="1" lang="ko-KR" spc="0">
                <a:solidFill>
                  <a:srgbClr val="202426"/>
                </a:solidFill>
                <a:latin typeface="맑은 고딕"/>
                <a:ea typeface="맑은 고딕"/>
              </a:rPr>
              <a:t>세 가지 문제, 공통의 질문</a:t>
            </a:r>
          </a:p>
        </p:txBody>
      </p:sp>
      <p:sp>
        <p:nvSpPr>
          <p:cNvPr id="5" name="TextBox 4"/>
          <p:cNvSpPr txBox="1"/>
          <p:nvPr/>
        </p:nvSpPr>
        <p:spPr>
          <a:xfrm>
            <a:off x="576072" y="1444752"/>
            <a:ext cx="10881360" cy="365760"/>
          </a:xfrm>
          <a:prstGeom prst="rect">
            <a:avLst/>
          </a:prstGeom>
          <a:noFill/>
        </p:spPr>
        <p:txBody>
          <a:bodyPr wrap="square" lIns="0" rIns="0" tIns="0" bIns="0" anchor="t">
            <a:spAutoFit/>
          </a:bodyPr>
          <a:lstStyle/>
          <a:p>
            <a:pPr algn="l">
              <a:lnSpc>
                <a:spcPct val="116000"/>
              </a:lnSpc>
              <a:spcBef>
                <a:spcPts val="0"/>
              </a:spcBef>
              <a:spcAft>
                <a:spcPts val="0"/>
              </a:spcAft>
            </a:pPr>
            <a:r>
              <a:rPr sz="1400" b="0" lang="ko-KR" spc="0">
                <a:solidFill>
                  <a:srgbClr val="60696D"/>
                </a:solidFill>
                <a:latin typeface="맑은 고딕"/>
                <a:ea typeface="맑은 고딕"/>
              </a:rPr>
              <a:t>사회문제의 범위를 좁혀, 사용자가 실제로 겪는 불편을 찾는다.</a:t>
            </a:r>
          </a:p>
        </p:txBody>
      </p:sp>
      <p:cxnSp>
        <p:nvCxnSpPr>
          <p:cNvPr id="6" name="Connector 5"/>
          <p:cNvCxnSpPr/>
          <p:nvPr/>
        </p:nvCxnSpPr>
        <p:spPr>
          <a:xfrm>
            <a:off x="548640" y="6364224"/>
            <a:ext cx="11082528"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5486400" cy="182880"/>
          </a:xfrm>
          <a:prstGeom prst="rect">
            <a:avLst/>
          </a:prstGeom>
          <a:noFill/>
        </p:spPr>
        <p:txBody>
          <a:bodyPr wrap="square" lIns="0" rIns="0" tIns="0" bIns="0" anchor="t">
            <a:spAutoFit/>
          </a:bodyPr>
          <a:lstStyle/>
          <a:p>
            <a:pPr algn="l">
              <a:lnSpc>
                <a:spcPct val="116000"/>
              </a:lnSpc>
              <a:spcBef>
                <a:spcPts val="0"/>
              </a:spcBef>
              <a:spcAft>
                <a:spcPts val="0"/>
              </a:spcAft>
            </a:pPr>
            <a:r>
              <a:rPr sz="900" b="0" lang="ko-KR" spc="0">
                <a:solidFill>
                  <a:srgbClr val="60696D"/>
                </a:solidFill>
                <a:latin typeface="맑은 고딕"/>
                <a:ea typeface="맑은 고딕"/>
              </a:rPr>
              <a:t>사회혁신 · 기술기반 디자인 제안</a:t>
            </a:r>
          </a:p>
        </p:txBody>
      </p:sp>
      <p:sp>
        <p:nvSpPr>
          <p:cNvPr id="8" name="TextBox 7"/>
          <p:cNvSpPr txBox="1"/>
          <p:nvPr/>
        </p:nvSpPr>
        <p:spPr>
          <a:xfrm>
            <a:off x="10515600" y="6464808"/>
            <a:ext cx="1115568" cy="228600"/>
          </a:xfrm>
          <a:prstGeom prst="rect">
            <a:avLst/>
          </a:prstGeom>
          <a:noFill/>
        </p:spPr>
        <p:txBody>
          <a:bodyPr wrap="square" lIns="0" rIns="0" tIns="0" bIns="0" anchor="t">
            <a:spAutoFit/>
          </a:bodyPr>
          <a:lstStyle/>
          <a:p>
            <a:pPr algn="r">
              <a:lnSpc>
                <a:spcPct val="116000"/>
              </a:lnSpc>
              <a:spcBef>
                <a:spcPts val="0"/>
              </a:spcBef>
              <a:spcAft>
                <a:spcPts val="0"/>
              </a:spcAft>
            </a:pPr>
            <a:r>
              <a:rPr sz="1000" b="0" lang="ko-KR" spc="0">
                <a:solidFill>
                  <a:srgbClr val="60696D"/>
                </a:solidFill>
                <a:latin typeface="맑은 고딕"/>
                <a:ea typeface="맑은 고딕"/>
              </a:rPr>
              <a:t>02 / 09</a:t>
            </a:r>
          </a:p>
        </p:txBody>
      </p:sp>
      <p:sp>
        <p:nvSpPr>
          <p:cNvPr id="9" name="TextBox 8"/>
          <p:cNvSpPr txBox="1"/>
          <p:nvPr/>
        </p:nvSpPr>
        <p:spPr>
          <a:xfrm>
            <a:off x="731520" y="2048256"/>
            <a:ext cx="2560320" cy="274320"/>
          </a:xfrm>
          <a:prstGeom prst="rect">
            <a:avLst/>
          </a:prstGeom>
          <a:noFill/>
        </p:spPr>
        <p:txBody>
          <a:bodyPr wrap="square" lIns="0" rIns="0" tIns="0" bIns="0" anchor="t">
            <a:spAutoFit/>
          </a:bodyPr>
          <a:lstStyle/>
          <a:p>
            <a:pPr algn="l">
              <a:lnSpc>
                <a:spcPct val="116000"/>
              </a:lnSpc>
              <a:spcBef>
                <a:spcPts val="0"/>
              </a:spcBef>
              <a:spcAft>
                <a:spcPts val="0"/>
              </a:spcAft>
            </a:pPr>
            <a:r>
              <a:rPr sz="1300" b="1" lang="ko-KR" spc="0">
                <a:solidFill>
                  <a:srgbClr val="60696D"/>
                </a:solidFill>
                <a:latin typeface="맑은 고딕"/>
                <a:ea typeface="맑은 고딕"/>
              </a:rPr>
              <a:t>사회문제</a:t>
            </a:r>
          </a:p>
        </p:txBody>
      </p:sp>
      <p:sp>
        <p:nvSpPr>
          <p:cNvPr id="10" name="TextBox 9"/>
          <p:cNvSpPr txBox="1"/>
          <p:nvPr/>
        </p:nvSpPr>
        <p:spPr>
          <a:xfrm>
            <a:off x="3703320" y="2048256"/>
            <a:ext cx="3749039" cy="274320"/>
          </a:xfrm>
          <a:prstGeom prst="rect">
            <a:avLst/>
          </a:prstGeom>
          <a:noFill/>
        </p:spPr>
        <p:txBody>
          <a:bodyPr wrap="square" lIns="0" rIns="0" tIns="0" bIns="0" anchor="t">
            <a:spAutoFit/>
          </a:bodyPr>
          <a:lstStyle/>
          <a:p>
            <a:pPr algn="l">
              <a:lnSpc>
                <a:spcPct val="116000"/>
              </a:lnSpc>
              <a:spcBef>
                <a:spcPts val="0"/>
              </a:spcBef>
              <a:spcAft>
                <a:spcPts val="0"/>
              </a:spcAft>
            </a:pPr>
            <a:r>
              <a:rPr sz="1300" b="1" lang="ko-KR" spc="0">
                <a:solidFill>
                  <a:srgbClr val="60696D"/>
                </a:solidFill>
                <a:latin typeface="맑은 고딕"/>
                <a:ea typeface="맑은 고딕"/>
              </a:rPr>
              <a:t>핵심 불편 · 리서치 가설</a:t>
            </a:r>
          </a:p>
        </p:txBody>
      </p:sp>
      <p:sp>
        <p:nvSpPr>
          <p:cNvPr id="11" name="TextBox 10"/>
          <p:cNvSpPr txBox="1"/>
          <p:nvPr/>
        </p:nvSpPr>
        <p:spPr>
          <a:xfrm>
            <a:off x="8412480" y="2048256"/>
            <a:ext cx="2926080" cy="274320"/>
          </a:xfrm>
          <a:prstGeom prst="rect">
            <a:avLst/>
          </a:prstGeom>
          <a:noFill/>
        </p:spPr>
        <p:txBody>
          <a:bodyPr wrap="square" lIns="0" rIns="0" tIns="0" bIns="0" anchor="t">
            <a:spAutoFit/>
          </a:bodyPr>
          <a:lstStyle/>
          <a:p>
            <a:pPr algn="l">
              <a:lnSpc>
                <a:spcPct val="116000"/>
              </a:lnSpc>
              <a:spcBef>
                <a:spcPts val="0"/>
              </a:spcBef>
              <a:spcAft>
                <a:spcPts val="0"/>
              </a:spcAft>
            </a:pPr>
            <a:r>
              <a:rPr sz="1300" b="1" lang="ko-KR" spc="0">
                <a:solidFill>
                  <a:srgbClr val="60696D"/>
                </a:solidFill>
                <a:latin typeface="맑은 고딕"/>
                <a:ea typeface="맑은 고딕"/>
              </a:rPr>
              <a:t>디자인의 초점</a:t>
            </a:r>
          </a:p>
        </p:txBody>
      </p:sp>
      <p:cxnSp>
        <p:nvCxnSpPr>
          <p:cNvPr id="12" name="Connector 11"/>
          <p:cNvCxnSpPr/>
          <p:nvPr/>
        </p:nvCxnSpPr>
        <p:spPr>
          <a:xfrm>
            <a:off x="594360" y="2432304"/>
            <a:ext cx="10972800"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13232" y="2624328"/>
            <a:ext cx="438912" cy="320040"/>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D45165"/>
                </a:solidFill>
                <a:latin typeface="맑은 고딕"/>
                <a:ea typeface="맑은 고딕"/>
              </a:rPr>
              <a:t>01</a:t>
            </a:r>
          </a:p>
        </p:txBody>
      </p:sp>
      <p:sp>
        <p:nvSpPr>
          <p:cNvPr id="14" name="TextBox 13"/>
          <p:cNvSpPr txBox="1"/>
          <p:nvPr/>
        </p:nvSpPr>
        <p:spPr>
          <a:xfrm>
            <a:off x="1234440" y="2624328"/>
            <a:ext cx="2395728" cy="411480"/>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202426"/>
                </a:solidFill>
                <a:latin typeface="맑은 고딕"/>
                <a:ea typeface="맑은 고딕"/>
              </a:rPr>
              <a:t>청년 고용·주거 불안</a:t>
            </a:r>
          </a:p>
        </p:txBody>
      </p:sp>
      <p:sp>
        <p:nvSpPr>
          <p:cNvPr id="15" name="TextBox 14"/>
          <p:cNvSpPr txBox="1"/>
          <p:nvPr/>
        </p:nvSpPr>
        <p:spPr>
          <a:xfrm>
            <a:off x="3703320" y="2532888"/>
            <a:ext cx="4160520" cy="640080"/>
          </a:xfrm>
          <a:prstGeom prst="rect">
            <a:avLst/>
          </a:prstGeom>
          <a:noFill/>
        </p:spPr>
        <p:txBody>
          <a:bodyPr wrap="square" lIns="0" rIns="0" tIns="0" bIns="0" anchor="t">
            <a:spAutoFit/>
          </a:bodyPr>
          <a:lstStyle/>
          <a:p>
            <a:pPr algn="l">
              <a:lnSpc>
                <a:spcPct val="116000"/>
              </a:lnSpc>
              <a:spcBef>
                <a:spcPts val="0"/>
              </a:spcBef>
              <a:spcAft>
                <a:spcPts val="0"/>
              </a:spcAft>
            </a:pPr>
            <a:r>
              <a:rPr sz="1600" b="0" lang="ko-KR" spc="0">
                <a:solidFill>
                  <a:srgbClr val="202426"/>
                </a:solidFill>
                <a:latin typeface="맑은 고딕"/>
                <a:ea typeface="맑은 고딕"/>
              </a:rPr>
              <a:t>내게 맞는 지원을 찾고</a:t>
            </a:r>
          </a:p>
          <a:p>
            <a:pPr algn="l">
              <a:lnSpc>
                <a:spcPct val="116000"/>
              </a:lnSpc>
              <a:spcBef>
                <a:spcPts val="0"/>
              </a:spcBef>
              <a:spcAft>
                <a:spcPts val="0"/>
              </a:spcAft>
            </a:pPr>
            <a:r>
              <a:rPr sz="1600" b="0" lang="ko-KR" spc="0">
                <a:solidFill>
                  <a:srgbClr val="202426"/>
                </a:solidFill>
                <a:latin typeface="맑은 고딕"/>
                <a:ea typeface="맑은 고딕"/>
              </a:rPr>
              <a:t>신청하기 어렵다</a:t>
            </a:r>
          </a:p>
        </p:txBody>
      </p:sp>
      <p:sp>
        <p:nvSpPr>
          <p:cNvPr id="16" name="TextBox 15"/>
          <p:cNvSpPr txBox="1"/>
          <p:nvPr/>
        </p:nvSpPr>
        <p:spPr>
          <a:xfrm>
            <a:off x="8412480" y="2624328"/>
            <a:ext cx="2834640" cy="365760"/>
          </a:xfrm>
          <a:prstGeom prst="rect">
            <a:avLst/>
          </a:prstGeom>
          <a:noFill/>
        </p:spPr>
        <p:txBody>
          <a:bodyPr wrap="square" lIns="0" rIns="0" tIns="0" bIns="0" anchor="t">
            <a:spAutoFit/>
          </a:bodyPr>
          <a:lstStyle/>
          <a:p>
            <a:pPr algn="l">
              <a:lnSpc>
                <a:spcPct val="116000"/>
              </a:lnSpc>
              <a:spcBef>
                <a:spcPts val="0"/>
              </a:spcBef>
              <a:spcAft>
                <a:spcPts val="0"/>
              </a:spcAft>
            </a:pPr>
            <a:r>
              <a:rPr sz="2100" b="1" lang="ko-KR" spc="0">
                <a:solidFill>
                  <a:srgbClr val="D45165"/>
                </a:solidFill>
                <a:latin typeface="맑은 고딕"/>
                <a:ea typeface="맑은 고딕"/>
              </a:rPr>
              <a:t>정보 접근성</a:t>
            </a:r>
          </a:p>
        </p:txBody>
      </p:sp>
      <p:cxnSp>
        <p:nvCxnSpPr>
          <p:cNvPr id="17" name="Connector 16"/>
          <p:cNvCxnSpPr/>
          <p:nvPr/>
        </p:nvCxnSpPr>
        <p:spPr>
          <a:xfrm>
            <a:off x="594360" y="3236976"/>
            <a:ext cx="10972800"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13232" y="3429000"/>
            <a:ext cx="438912" cy="320040"/>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087F75"/>
                </a:solidFill>
                <a:latin typeface="맑은 고딕"/>
                <a:ea typeface="맑은 고딕"/>
              </a:rPr>
              <a:t>02</a:t>
            </a:r>
          </a:p>
        </p:txBody>
      </p:sp>
      <p:sp>
        <p:nvSpPr>
          <p:cNvPr id="19" name="TextBox 18"/>
          <p:cNvSpPr txBox="1"/>
          <p:nvPr/>
        </p:nvSpPr>
        <p:spPr>
          <a:xfrm>
            <a:off x="1234440" y="3429000"/>
            <a:ext cx="2395728" cy="411480"/>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202426"/>
                </a:solidFill>
                <a:latin typeface="맑은 고딕"/>
                <a:ea typeface="맑은 고딕"/>
              </a:rPr>
              <a:t>사회적 고립·고독사</a:t>
            </a:r>
          </a:p>
        </p:txBody>
      </p:sp>
      <p:sp>
        <p:nvSpPr>
          <p:cNvPr id="20" name="TextBox 19"/>
          <p:cNvSpPr txBox="1"/>
          <p:nvPr/>
        </p:nvSpPr>
        <p:spPr>
          <a:xfrm>
            <a:off x="3703320" y="3337560"/>
            <a:ext cx="4160520" cy="640080"/>
          </a:xfrm>
          <a:prstGeom prst="rect">
            <a:avLst/>
          </a:prstGeom>
          <a:noFill/>
        </p:spPr>
        <p:txBody>
          <a:bodyPr wrap="square" lIns="0" rIns="0" tIns="0" bIns="0" anchor="t">
            <a:spAutoFit/>
          </a:bodyPr>
          <a:lstStyle/>
          <a:p>
            <a:pPr algn="l">
              <a:lnSpc>
                <a:spcPct val="116000"/>
              </a:lnSpc>
              <a:spcBef>
                <a:spcPts val="0"/>
              </a:spcBef>
              <a:spcAft>
                <a:spcPts val="0"/>
              </a:spcAft>
            </a:pPr>
            <a:r>
              <a:rPr sz="1600" b="0" lang="ko-KR" spc="0">
                <a:solidFill>
                  <a:srgbClr val="202426"/>
                </a:solidFill>
                <a:latin typeface="맑은 고딕"/>
                <a:ea typeface="맑은 고딕"/>
              </a:rPr>
              <a:t>도움이 필요해도</a:t>
            </a:r>
          </a:p>
          <a:p>
            <a:pPr algn="l">
              <a:lnSpc>
                <a:spcPct val="116000"/>
              </a:lnSpc>
              <a:spcBef>
                <a:spcPts val="0"/>
              </a:spcBef>
              <a:spcAft>
                <a:spcPts val="0"/>
              </a:spcAft>
            </a:pPr>
            <a:r>
              <a:rPr sz="1600" b="0" lang="ko-KR" spc="0">
                <a:solidFill>
                  <a:srgbClr val="202426"/>
                </a:solidFill>
                <a:latin typeface="맑은 고딕"/>
                <a:ea typeface="맑은 고딕"/>
              </a:rPr>
              <a:t>연결을 시작하기 어렵다</a:t>
            </a:r>
          </a:p>
        </p:txBody>
      </p:sp>
      <p:sp>
        <p:nvSpPr>
          <p:cNvPr id="21" name="TextBox 20"/>
          <p:cNvSpPr txBox="1"/>
          <p:nvPr/>
        </p:nvSpPr>
        <p:spPr>
          <a:xfrm>
            <a:off x="8412480" y="3429000"/>
            <a:ext cx="2834640" cy="365760"/>
          </a:xfrm>
          <a:prstGeom prst="rect">
            <a:avLst/>
          </a:prstGeom>
          <a:noFill/>
        </p:spPr>
        <p:txBody>
          <a:bodyPr wrap="square" lIns="0" rIns="0" tIns="0" bIns="0" anchor="t">
            <a:spAutoFit/>
          </a:bodyPr>
          <a:lstStyle/>
          <a:p>
            <a:pPr algn="l">
              <a:lnSpc>
                <a:spcPct val="116000"/>
              </a:lnSpc>
              <a:spcBef>
                <a:spcPts val="0"/>
              </a:spcBef>
              <a:spcAft>
                <a:spcPts val="0"/>
              </a:spcAft>
            </a:pPr>
            <a:r>
              <a:rPr sz="2100" b="1" lang="ko-KR" spc="0">
                <a:solidFill>
                  <a:srgbClr val="087F75"/>
                </a:solidFill>
                <a:latin typeface="맑은 고딕"/>
                <a:ea typeface="맑은 고딕"/>
              </a:rPr>
              <a:t>관계 접근성</a:t>
            </a:r>
          </a:p>
        </p:txBody>
      </p:sp>
      <p:cxnSp>
        <p:nvCxnSpPr>
          <p:cNvPr id="22" name="Connector 21"/>
          <p:cNvCxnSpPr/>
          <p:nvPr/>
        </p:nvCxnSpPr>
        <p:spPr>
          <a:xfrm>
            <a:off x="594360" y="4041648"/>
            <a:ext cx="10972800"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713232" y="4233672"/>
            <a:ext cx="438912" cy="320040"/>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E5B62E"/>
                </a:solidFill>
                <a:latin typeface="맑은 고딕"/>
                <a:ea typeface="맑은 고딕"/>
              </a:rPr>
              <a:t>03</a:t>
            </a:r>
          </a:p>
        </p:txBody>
      </p:sp>
      <p:sp>
        <p:nvSpPr>
          <p:cNvPr id="24" name="TextBox 23"/>
          <p:cNvSpPr txBox="1"/>
          <p:nvPr/>
        </p:nvSpPr>
        <p:spPr>
          <a:xfrm>
            <a:off x="1234440" y="4233672"/>
            <a:ext cx="2395728" cy="411480"/>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202426"/>
                </a:solidFill>
                <a:latin typeface="맑은 고딕"/>
                <a:ea typeface="맑은 고딕"/>
              </a:rPr>
              <a:t>기후위기·폭염 불평등</a:t>
            </a:r>
          </a:p>
        </p:txBody>
      </p:sp>
      <p:sp>
        <p:nvSpPr>
          <p:cNvPr id="25" name="TextBox 24"/>
          <p:cNvSpPr txBox="1"/>
          <p:nvPr/>
        </p:nvSpPr>
        <p:spPr>
          <a:xfrm>
            <a:off x="3703320" y="4142232"/>
            <a:ext cx="4160520" cy="640080"/>
          </a:xfrm>
          <a:prstGeom prst="rect">
            <a:avLst/>
          </a:prstGeom>
          <a:noFill/>
        </p:spPr>
        <p:txBody>
          <a:bodyPr wrap="square" lIns="0" rIns="0" tIns="0" bIns="0" anchor="t">
            <a:spAutoFit/>
          </a:bodyPr>
          <a:lstStyle/>
          <a:p>
            <a:pPr algn="l">
              <a:lnSpc>
                <a:spcPct val="116000"/>
              </a:lnSpc>
              <a:spcBef>
                <a:spcPts val="0"/>
              </a:spcBef>
              <a:spcAft>
                <a:spcPts val="0"/>
              </a:spcAft>
            </a:pPr>
            <a:r>
              <a:rPr sz="1600" b="0" lang="ko-KR" spc="0">
                <a:solidFill>
                  <a:srgbClr val="202426"/>
                </a:solidFill>
                <a:latin typeface="맑은 고딕"/>
                <a:ea typeface="맑은 고딕"/>
              </a:rPr>
              <a:t>피할 곳과 도움을</a:t>
            </a:r>
          </a:p>
          <a:p>
            <a:pPr algn="l">
              <a:lnSpc>
                <a:spcPct val="116000"/>
              </a:lnSpc>
              <a:spcBef>
                <a:spcPts val="0"/>
              </a:spcBef>
              <a:spcAft>
                <a:spcPts val="0"/>
              </a:spcAft>
            </a:pPr>
            <a:r>
              <a:rPr sz="1600" b="0" lang="ko-KR" spc="0">
                <a:solidFill>
                  <a:srgbClr val="202426"/>
                </a:solidFill>
                <a:latin typeface="맑은 고딕"/>
                <a:ea typeface="맑은 고딕"/>
              </a:rPr>
              <a:t>제때 찾기 어렵다</a:t>
            </a:r>
          </a:p>
        </p:txBody>
      </p:sp>
      <p:sp>
        <p:nvSpPr>
          <p:cNvPr id="26" name="TextBox 25"/>
          <p:cNvSpPr txBox="1"/>
          <p:nvPr/>
        </p:nvSpPr>
        <p:spPr>
          <a:xfrm>
            <a:off x="8412480" y="4233672"/>
            <a:ext cx="2834640" cy="365760"/>
          </a:xfrm>
          <a:prstGeom prst="rect">
            <a:avLst/>
          </a:prstGeom>
          <a:noFill/>
        </p:spPr>
        <p:txBody>
          <a:bodyPr wrap="square" lIns="0" rIns="0" tIns="0" bIns="0" anchor="t">
            <a:spAutoFit/>
          </a:bodyPr>
          <a:lstStyle/>
          <a:p>
            <a:pPr algn="l">
              <a:lnSpc>
                <a:spcPct val="116000"/>
              </a:lnSpc>
              <a:spcBef>
                <a:spcPts val="0"/>
              </a:spcBef>
              <a:spcAft>
                <a:spcPts val="0"/>
              </a:spcAft>
            </a:pPr>
            <a:r>
              <a:rPr sz="2100" b="1" lang="ko-KR" spc="0">
                <a:solidFill>
                  <a:srgbClr val="202426"/>
                </a:solidFill>
                <a:latin typeface="맑은 고딕"/>
                <a:ea typeface="맑은 고딕"/>
              </a:rPr>
              <a:t>보호 접근성</a:t>
            </a:r>
          </a:p>
        </p:txBody>
      </p:sp>
      <p:sp>
        <p:nvSpPr>
          <p:cNvPr id="27" name="Rectangle 26"/>
          <p:cNvSpPr/>
          <p:nvPr/>
        </p:nvSpPr>
        <p:spPr>
          <a:xfrm>
            <a:off x="548640" y="5504688"/>
            <a:ext cx="11082528" cy="448056"/>
          </a:xfrm>
          <a:prstGeom prst="rect">
            <a:avLst/>
          </a:prstGeom>
          <a:solidFill>
            <a:srgbClr val="E8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48640" y="5504688"/>
            <a:ext cx="50292" cy="448056"/>
          </a:xfrm>
          <a:prstGeom prst="rect">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5586984"/>
            <a:ext cx="10680192" cy="292608"/>
          </a:xfrm>
          <a:prstGeom prst="rect">
            <a:avLst/>
          </a:prstGeom>
          <a:noFill/>
        </p:spPr>
        <p:txBody>
          <a:bodyPr wrap="square" lIns="0" rIns="0" tIns="0" bIns="0" anchor="t">
            <a:spAutoFit/>
          </a:bodyPr>
          <a:lstStyle/>
          <a:p>
            <a:pPr algn="l">
              <a:lnSpc>
                <a:spcPct val="116000"/>
              </a:lnSpc>
              <a:spcBef>
                <a:spcPts val="0"/>
              </a:spcBef>
              <a:spcAft>
                <a:spcPts val="0"/>
              </a:spcAft>
            </a:pPr>
            <a:r>
              <a:rPr sz="1600" b="1" lang="ko-KR" spc="0">
                <a:solidFill>
                  <a:srgbClr val="202426"/>
                </a:solidFill>
                <a:latin typeface="맑은 고딕"/>
                <a:ea typeface="맑은 고딕"/>
              </a:rPr>
              <a:t>필요한 지원이, 필요한 사람에게 제때 닿는가?</a:t>
            </a:r>
          </a:p>
        </p:txBody>
      </p:sp>
      <p:sp>
        <p:nvSpPr>
          <p:cNvPr id="30" name="TextBox 29"/>
          <p:cNvSpPr txBox="1"/>
          <p:nvPr/>
        </p:nvSpPr>
        <p:spPr>
          <a:xfrm>
            <a:off x="594360" y="6099048"/>
            <a:ext cx="10881360" cy="210312"/>
          </a:xfrm>
          <a:prstGeom prst="rect">
            <a:avLst/>
          </a:prstGeom>
          <a:noFill/>
        </p:spPr>
        <p:txBody>
          <a:bodyPr wrap="square" lIns="0" rIns="0" tIns="0" bIns="0" anchor="t">
            <a:spAutoFit/>
          </a:bodyPr>
          <a:lstStyle/>
          <a:p>
            <a:pPr algn="l">
              <a:lnSpc>
                <a:spcPct val="116000"/>
              </a:lnSpc>
              <a:spcBef>
                <a:spcPts val="0"/>
              </a:spcBef>
              <a:spcAft>
                <a:spcPts val="0"/>
              </a:spcAft>
            </a:pPr>
            <a:r>
              <a:rPr sz="1000" b="0" lang="ko-KR" spc="0">
                <a:solidFill>
                  <a:srgbClr val="60696D"/>
                </a:solidFill>
                <a:latin typeface="맑은 고딕"/>
                <a:ea typeface="맑은 고딕"/>
              </a:rPr>
              <a:t>리서치 → Pain point 도출 → 기술 로드맵 → 디자인 제안</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D4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0607040" cy="219456"/>
          </a:xfrm>
          <a:prstGeom prst="rect">
            <a:avLst/>
          </a:prstGeom>
          <a:noFill/>
        </p:spPr>
        <p:txBody>
          <a:bodyPr wrap="square" lIns="0" rIns="0" tIns="0" bIns="0" anchor="t">
            <a:spAutoFit/>
          </a:bodyPr>
          <a:lstStyle/>
          <a:p>
            <a:pPr algn="l">
              <a:lnSpc>
                <a:spcPct val="116000"/>
              </a:lnSpc>
              <a:spcBef>
                <a:spcPts val="0"/>
              </a:spcBef>
              <a:spcAft>
                <a:spcPts val="0"/>
              </a:spcAft>
            </a:pPr>
            <a:r>
              <a:rPr sz="1000" b="1" lang="ko-KR" spc="0">
                <a:solidFill>
                  <a:srgbClr val="D45165"/>
                </a:solidFill>
                <a:latin typeface="맑은 고딕"/>
                <a:ea typeface="맑은 고딕"/>
              </a:rPr>
              <a:t>01  청년 고용과 주거 불안</a:t>
            </a:r>
          </a:p>
        </p:txBody>
      </p:sp>
      <p:sp>
        <p:nvSpPr>
          <p:cNvPr id="4" name="TextBox 3"/>
          <p:cNvSpPr txBox="1"/>
          <p:nvPr/>
        </p:nvSpPr>
        <p:spPr>
          <a:xfrm>
            <a:off x="548640" y="795528"/>
            <a:ext cx="10972800" cy="585216"/>
          </a:xfrm>
          <a:prstGeom prst="rect">
            <a:avLst/>
          </a:prstGeom>
          <a:noFill/>
        </p:spPr>
        <p:txBody>
          <a:bodyPr wrap="square" lIns="0" rIns="0" tIns="0" bIns="0" anchor="t">
            <a:spAutoFit/>
          </a:bodyPr>
          <a:lstStyle/>
          <a:p>
            <a:pPr algn="l">
              <a:lnSpc>
                <a:spcPct val="116000"/>
              </a:lnSpc>
              <a:spcBef>
                <a:spcPts val="0"/>
              </a:spcBef>
              <a:spcAft>
                <a:spcPts val="0"/>
              </a:spcAft>
            </a:pPr>
            <a:r>
              <a:rPr sz="2900" b="1" lang="ko-KR" spc="0">
                <a:solidFill>
                  <a:srgbClr val="202426"/>
                </a:solidFill>
                <a:latin typeface="맑은 고딕"/>
                <a:ea typeface="맑은 고딕"/>
              </a:rPr>
              <a:t>청년 자립: 지원을 찾는 시간을 줄이다</a:t>
            </a:r>
          </a:p>
        </p:txBody>
      </p:sp>
      <p:cxnSp>
        <p:nvCxnSpPr>
          <p:cNvPr id="5" name="Connector 4"/>
          <p:cNvCxnSpPr/>
          <p:nvPr/>
        </p:nvCxnSpPr>
        <p:spPr>
          <a:xfrm>
            <a:off x="548640" y="6364224"/>
            <a:ext cx="11082528"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92240"/>
            <a:ext cx="5486400" cy="182880"/>
          </a:xfrm>
          <a:prstGeom prst="rect">
            <a:avLst/>
          </a:prstGeom>
          <a:noFill/>
        </p:spPr>
        <p:txBody>
          <a:bodyPr wrap="square" lIns="0" rIns="0" tIns="0" bIns="0" anchor="t">
            <a:spAutoFit/>
          </a:bodyPr>
          <a:lstStyle/>
          <a:p>
            <a:pPr algn="l">
              <a:lnSpc>
                <a:spcPct val="116000"/>
              </a:lnSpc>
              <a:spcBef>
                <a:spcPts val="0"/>
              </a:spcBef>
              <a:spcAft>
                <a:spcPts val="0"/>
              </a:spcAft>
            </a:pPr>
            <a:r>
              <a:rPr sz="900" b="0" lang="ko-KR" spc="0">
                <a:solidFill>
                  <a:srgbClr val="60696D"/>
                </a:solidFill>
                <a:latin typeface="맑은 고딕"/>
                <a:ea typeface="맑은 고딕"/>
              </a:rPr>
              <a:t>사회혁신 · 기술기반 디자인 제안</a:t>
            </a:r>
          </a:p>
        </p:txBody>
      </p:sp>
      <p:sp>
        <p:nvSpPr>
          <p:cNvPr id="7" name="TextBox 6"/>
          <p:cNvSpPr txBox="1"/>
          <p:nvPr/>
        </p:nvSpPr>
        <p:spPr>
          <a:xfrm>
            <a:off x="10515600" y="6464808"/>
            <a:ext cx="1115568" cy="228600"/>
          </a:xfrm>
          <a:prstGeom prst="rect">
            <a:avLst/>
          </a:prstGeom>
          <a:noFill/>
        </p:spPr>
        <p:txBody>
          <a:bodyPr wrap="square" lIns="0" rIns="0" tIns="0" bIns="0" anchor="t">
            <a:spAutoFit/>
          </a:bodyPr>
          <a:lstStyle/>
          <a:p>
            <a:pPr algn="r">
              <a:lnSpc>
                <a:spcPct val="116000"/>
              </a:lnSpc>
              <a:spcBef>
                <a:spcPts val="0"/>
              </a:spcBef>
              <a:spcAft>
                <a:spcPts val="0"/>
              </a:spcAft>
            </a:pPr>
            <a:r>
              <a:rPr sz="1000" b="0" lang="ko-KR" spc="0">
                <a:solidFill>
                  <a:srgbClr val="60696D"/>
                </a:solidFill>
                <a:latin typeface="맑은 고딕"/>
                <a:ea typeface="맑은 고딕"/>
              </a:rPr>
              <a:t>03 / 09</a:t>
            </a:r>
          </a:p>
        </p:txBody>
      </p:sp>
      <p:sp>
        <p:nvSpPr>
          <p:cNvPr id="8" name="TextBox 7"/>
          <p:cNvSpPr txBox="1"/>
          <p:nvPr/>
        </p:nvSpPr>
        <p:spPr>
          <a:xfrm>
            <a:off x="594360" y="1664208"/>
            <a:ext cx="3657600" cy="274320"/>
          </a:xfrm>
          <a:prstGeom prst="rect">
            <a:avLst/>
          </a:prstGeom>
          <a:noFill/>
        </p:spPr>
        <p:txBody>
          <a:bodyPr wrap="square" lIns="0" rIns="0" tIns="0" bIns="0" anchor="t">
            <a:spAutoFit/>
          </a:bodyPr>
          <a:lstStyle/>
          <a:p>
            <a:pPr algn="l">
              <a:lnSpc>
                <a:spcPct val="116000"/>
              </a:lnSpc>
              <a:spcBef>
                <a:spcPts val="0"/>
              </a:spcBef>
              <a:spcAft>
                <a:spcPts val="0"/>
              </a:spcAft>
            </a:pPr>
            <a:r>
              <a:rPr sz="1300" b="1" lang="ko-KR" spc="0">
                <a:solidFill>
                  <a:srgbClr val="60696D"/>
                </a:solidFill>
                <a:latin typeface="맑은 고딕"/>
                <a:ea typeface="맑은 고딕"/>
              </a:rPr>
              <a:t>자료에서 확인한 배경</a:t>
            </a:r>
          </a:p>
        </p:txBody>
      </p:sp>
      <p:sp>
        <p:nvSpPr>
          <p:cNvPr id="9" name="TextBox 8"/>
          <p:cNvSpPr txBox="1"/>
          <p:nvPr/>
        </p:nvSpPr>
        <p:spPr>
          <a:xfrm>
            <a:off x="594360" y="2066543"/>
            <a:ext cx="3383280" cy="731520"/>
          </a:xfrm>
          <a:prstGeom prst="rect">
            <a:avLst/>
          </a:prstGeom>
          <a:noFill/>
        </p:spPr>
        <p:txBody>
          <a:bodyPr wrap="square" lIns="0" rIns="0" tIns="0" bIns="0" anchor="t">
            <a:spAutoFit/>
          </a:bodyPr>
          <a:lstStyle/>
          <a:p>
            <a:pPr algn="l">
              <a:lnSpc>
                <a:spcPct val="116000"/>
              </a:lnSpc>
              <a:spcBef>
                <a:spcPts val="0"/>
              </a:spcBef>
              <a:spcAft>
                <a:spcPts val="0"/>
              </a:spcAft>
            </a:pPr>
            <a:r>
              <a:rPr sz="4500" b="1" lang="ko-KR" spc="0">
                <a:solidFill>
                  <a:srgbClr val="D45165"/>
                </a:solidFill>
                <a:latin typeface="맑은 고딕"/>
                <a:ea typeface="맑은 고딕"/>
              </a:rPr>
              <a:t>44.2%</a:t>
            </a:r>
          </a:p>
        </p:txBody>
      </p:sp>
      <p:sp>
        <p:nvSpPr>
          <p:cNvPr id="10" name="TextBox 9"/>
          <p:cNvSpPr txBox="1"/>
          <p:nvPr/>
        </p:nvSpPr>
        <p:spPr>
          <a:xfrm>
            <a:off x="630936" y="2825496"/>
            <a:ext cx="3291840" cy="292608"/>
          </a:xfrm>
          <a:prstGeom prst="rect">
            <a:avLst/>
          </a:prstGeom>
          <a:noFill/>
        </p:spPr>
        <p:txBody>
          <a:bodyPr wrap="square" lIns="0" rIns="0" tIns="0" bIns="0" anchor="t">
            <a:spAutoFit/>
          </a:bodyPr>
          <a:lstStyle/>
          <a:p>
            <a:pPr algn="l">
              <a:lnSpc>
                <a:spcPct val="116000"/>
              </a:lnSpc>
              <a:spcBef>
                <a:spcPts val="0"/>
              </a:spcBef>
              <a:spcAft>
                <a:spcPts val="0"/>
              </a:spcAft>
            </a:pPr>
            <a:r>
              <a:rPr sz="1400" b="0" lang="ko-KR" spc="0">
                <a:solidFill>
                  <a:srgbClr val="60696D"/>
                </a:solidFill>
                <a:latin typeface="맑은 고딕"/>
                <a:ea typeface="맑은 고딕"/>
              </a:rPr>
              <a:t>2026년 7월 청년층 고용률 [1]</a:t>
            </a:r>
          </a:p>
        </p:txBody>
      </p:sp>
      <p:sp>
        <p:nvSpPr>
          <p:cNvPr id="11" name="TextBox 10"/>
          <p:cNvSpPr txBox="1"/>
          <p:nvPr/>
        </p:nvSpPr>
        <p:spPr>
          <a:xfrm>
            <a:off x="630936" y="3209544"/>
            <a:ext cx="3474720" cy="301752"/>
          </a:xfrm>
          <a:prstGeom prst="rect">
            <a:avLst/>
          </a:prstGeom>
          <a:noFill/>
        </p:spPr>
        <p:txBody>
          <a:bodyPr wrap="square" lIns="0" rIns="0" tIns="0" bIns="0" anchor="t">
            <a:spAutoFit/>
          </a:bodyPr>
          <a:lstStyle/>
          <a:p>
            <a:pPr algn="l">
              <a:lnSpc>
                <a:spcPct val="116000"/>
              </a:lnSpc>
              <a:spcBef>
                <a:spcPts val="0"/>
              </a:spcBef>
              <a:spcAft>
                <a:spcPts val="0"/>
              </a:spcAft>
            </a:pPr>
            <a:r>
              <a:rPr sz="1600" b="0" lang="ko-KR" spc="0">
                <a:solidFill>
                  <a:srgbClr val="202426"/>
                </a:solidFill>
                <a:latin typeface="맑은 고딕"/>
                <a:ea typeface="맑은 고딕"/>
              </a:rPr>
              <a:t>전년 같은 달보다 1.6%p 하락</a:t>
            </a:r>
          </a:p>
        </p:txBody>
      </p:sp>
      <p:cxnSp>
        <p:nvCxnSpPr>
          <p:cNvPr id="12" name="Connector 11"/>
          <p:cNvCxnSpPr/>
          <p:nvPr/>
        </p:nvCxnSpPr>
        <p:spPr>
          <a:xfrm>
            <a:off x="594360" y="3776472"/>
            <a:ext cx="3355848"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94360" y="3995928"/>
            <a:ext cx="3383280" cy="256032"/>
          </a:xfrm>
          <a:prstGeom prst="rect">
            <a:avLst/>
          </a:prstGeom>
          <a:noFill/>
        </p:spPr>
        <p:txBody>
          <a:bodyPr wrap="square" lIns="0" rIns="0" tIns="0" bIns="0" anchor="t">
            <a:spAutoFit/>
          </a:bodyPr>
          <a:lstStyle/>
          <a:p>
            <a:pPr algn="l">
              <a:lnSpc>
                <a:spcPct val="116000"/>
              </a:lnSpc>
              <a:spcBef>
                <a:spcPts val="0"/>
              </a:spcBef>
              <a:spcAft>
                <a:spcPts val="0"/>
              </a:spcAft>
            </a:pPr>
            <a:r>
              <a:rPr sz="1100" b="1" lang="ko-KR" spc="0">
                <a:solidFill>
                  <a:srgbClr val="D45165"/>
                </a:solidFill>
                <a:latin typeface="맑은 고딕"/>
                <a:ea typeface="맑은 고딕"/>
              </a:rPr>
              <a:t>PAIN POINT · 가설</a:t>
            </a:r>
          </a:p>
        </p:txBody>
      </p:sp>
      <p:sp>
        <p:nvSpPr>
          <p:cNvPr id="14" name="TextBox 13"/>
          <p:cNvSpPr txBox="1"/>
          <p:nvPr/>
        </p:nvSpPr>
        <p:spPr>
          <a:xfrm>
            <a:off x="594360" y="4416552"/>
            <a:ext cx="3474720" cy="859536"/>
          </a:xfrm>
          <a:prstGeom prst="rect">
            <a:avLst/>
          </a:prstGeom>
          <a:noFill/>
        </p:spPr>
        <p:txBody>
          <a:bodyPr wrap="square" lIns="0" rIns="0" tIns="0" bIns="0" anchor="t">
            <a:spAutoFit/>
          </a:bodyPr>
          <a:lstStyle/>
          <a:p>
            <a:pPr algn="l">
              <a:lnSpc>
                <a:spcPct val="116000"/>
              </a:lnSpc>
              <a:spcBef>
                <a:spcPts val="0"/>
              </a:spcBef>
              <a:spcAft>
                <a:spcPts val="0"/>
              </a:spcAft>
            </a:pPr>
            <a:r>
              <a:rPr sz="2300" b="1" lang="ko-KR" spc="0">
                <a:solidFill>
                  <a:srgbClr val="202426"/>
                </a:solidFill>
                <a:latin typeface="맑은 고딕"/>
                <a:ea typeface="맑은 고딕"/>
              </a:rPr>
              <a:t>흩어진 지원 정보,</a:t>
            </a:r>
          </a:p>
          <a:p>
            <a:pPr algn="l">
              <a:lnSpc>
                <a:spcPct val="116000"/>
              </a:lnSpc>
              <a:spcBef>
                <a:spcPts val="0"/>
              </a:spcBef>
              <a:spcAft>
                <a:spcPts val="0"/>
              </a:spcAft>
            </a:pPr>
            <a:r>
              <a:rPr sz="2300" b="1" lang="ko-KR" spc="0">
                <a:solidFill>
                  <a:srgbClr val="202426"/>
                </a:solidFill>
                <a:latin typeface="맑은 고딕"/>
                <a:ea typeface="맑은 고딕"/>
              </a:rPr>
              <a:t>복잡한 신청 과정</a:t>
            </a:r>
          </a:p>
        </p:txBody>
      </p:sp>
      <p:sp>
        <p:nvSpPr>
          <p:cNvPr id="15" name="Rectangle 14"/>
          <p:cNvSpPr/>
          <p:nvPr/>
        </p:nvSpPr>
        <p:spPr>
          <a:xfrm>
            <a:off x="4407408" y="1737360"/>
            <a:ext cx="7223760" cy="3584448"/>
          </a:xfrm>
          <a:prstGeom prst="rect">
            <a:avLst/>
          </a:prstGeom>
          <a:solidFill>
            <a:srgbClr val="F7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1947672"/>
            <a:ext cx="6748272" cy="393192"/>
          </a:xfrm>
          <a:prstGeom prst="rect">
            <a:avLst/>
          </a:prstGeom>
          <a:noFill/>
        </p:spPr>
        <p:txBody>
          <a:bodyPr wrap="square" lIns="0" rIns="0" tIns="0" bIns="0" anchor="t">
            <a:spAutoFit/>
          </a:bodyPr>
          <a:lstStyle/>
          <a:p>
            <a:pPr algn="l">
              <a:lnSpc>
                <a:spcPct val="116000"/>
              </a:lnSpc>
              <a:spcBef>
                <a:spcPts val="0"/>
              </a:spcBef>
              <a:spcAft>
                <a:spcPts val="0"/>
              </a:spcAft>
            </a:pPr>
            <a:r>
              <a:rPr sz="2300" b="1" lang="ko-KR" spc="0">
                <a:solidFill>
                  <a:srgbClr val="202426"/>
                </a:solidFill>
                <a:latin typeface="맑은 고딕"/>
                <a:ea typeface="맑은 고딕"/>
              </a:rPr>
              <a:t>AI 기반 자립 경로 플랫폼</a:t>
            </a:r>
          </a:p>
        </p:txBody>
      </p:sp>
      <p:sp>
        <p:nvSpPr>
          <p:cNvPr id="17" name="TextBox 16"/>
          <p:cNvSpPr txBox="1"/>
          <p:nvPr/>
        </p:nvSpPr>
        <p:spPr>
          <a:xfrm>
            <a:off x="4663440" y="2487168"/>
            <a:ext cx="6309360" cy="274320"/>
          </a:xfrm>
          <a:prstGeom prst="rect">
            <a:avLst/>
          </a:prstGeom>
          <a:noFill/>
        </p:spPr>
        <p:txBody>
          <a:bodyPr wrap="square" lIns="0" rIns="0" tIns="0" bIns="0" anchor="t">
            <a:spAutoFit/>
          </a:bodyPr>
          <a:lstStyle/>
          <a:p>
            <a:pPr algn="l">
              <a:lnSpc>
                <a:spcPct val="116000"/>
              </a:lnSpc>
              <a:spcBef>
                <a:spcPts val="0"/>
              </a:spcBef>
              <a:spcAft>
                <a:spcPts val="0"/>
              </a:spcAft>
            </a:pPr>
            <a:r>
              <a:rPr sz="1200" b="1" lang="ko-KR" spc="0">
                <a:solidFill>
                  <a:srgbClr val="D45165"/>
                </a:solidFill>
                <a:latin typeface="맑은 고딕"/>
                <a:ea typeface="맑은 고딕"/>
              </a:rPr>
              <a:t>기술기반 디자인 제안</a:t>
            </a:r>
          </a:p>
        </p:txBody>
      </p:sp>
      <p:sp>
        <p:nvSpPr>
          <p:cNvPr id="18" name="Rectangle 17"/>
          <p:cNvSpPr/>
          <p:nvPr/>
        </p:nvSpPr>
        <p:spPr>
          <a:xfrm>
            <a:off x="4663440" y="3063240"/>
            <a:ext cx="1865376" cy="1344168"/>
          </a:xfrm>
          <a:prstGeom prst="rect">
            <a:avLst/>
          </a:prstGeom>
          <a:solidFill>
            <a:srgbClr val="FFFFFF"/>
          </a:solidFill>
          <a:ln w="10160">
            <a:solidFill>
              <a:srgbClr val="DCE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91455" y="3255264"/>
            <a:ext cx="1609344" cy="320040"/>
          </a:xfrm>
          <a:prstGeom prst="rect">
            <a:avLst/>
          </a:prstGeom>
          <a:noFill/>
        </p:spPr>
        <p:txBody>
          <a:bodyPr wrap="square" lIns="0" rIns="0" tIns="0" bIns="0" anchor="t">
            <a:spAutoFit/>
          </a:bodyPr>
          <a:lstStyle/>
          <a:p>
            <a:pPr algn="l">
              <a:lnSpc>
                <a:spcPct val="116000"/>
              </a:lnSpc>
              <a:spcBef>
                <a:spcPts val="0"/>
              </a:spcBef>
              <a:spcAft>
                <a:spcPts val="0"/>
              </a:spcAft>
            </a:pPr>
            <a:r>
              <a:rPr sz="2000" b="1" lang="ko-KR" spc="0">
                <a:solidFill>
                  <a:srgbClr val="D45165"/>
                </a:solidFill>
                <a:latin typeface="맑은 고딕"/>
                <a:ea typeface="맑은 고딕"/>
              </a:rPr>
              <a:t>내 조건</a:t>
            </a:r>
          </a:p>
        </p:txBody>
      </p:sp>
      <p:sp>
        <p:nvSpPr>
          <p:cNvPr id="20" name="TextBox 19"/>
          <p:cNvSpPr txBox="1"/>
          <p:nvPr/>
        </p:nvSpPr>
        <p:spPr>
          <a:xfrm>
            <a:off x="4791455" y="3767328"/>
            <a:ext cx="1664208" cy="512064"/>
          </a:xfrm>
          <a:prstGeom prst="rect">
            <a:avLst/>
          </a:prstGeom>
          <a:noFill/>
        </p:spPr>
        <p:txBody>
          <a:bodyPr wrap="square" lIns="0" rIns="0" tIns="0" bIns="0" anchor="t">
            <a:spAutoFit/>
          </a:bodyPr>
          <a:lstStyle/>
          <a:p>
            <a:pPr algn="l">
              <a:lnSpc>
                <a:spcPct val="116000"/>
              </a:lnSpc>
              <a:spcBef>
                <a:spcPts val="0"/>
              </a:spcBef>
              <a:spcAft>
                <a:spcPts val="0"/>
              </a:spcAft>
            </a:pPr>
            <a:r>
              <a:rPr sz="1300" b="0" lang="ko-KR" spc="0">
                <a:solidFill>
                  <a:srgbClr val="60696D"/>
                </a:solidFill>
                <a:latin typeface="맑은 고딕"/>
                <a:ea typeface="맑은 고딕"/>
              </a:rPr>
              <a:t>지역 · 소득</a:t>
            </a:r>
          </a:p>
          <a:p>
            <a:pPr algn="l">
              <a:lnSpc>
                <a:spcPct val="116000"/>
              </a:lnSpc>
              <a:spcBef>
                <a:spcPts val="0"/>
              </a:spcBef>
              <a:spcAft>
                <a:spcPts val="0"/>
              </a:spcAft>
            </a:pPr>
            <a:r>
              <a:rPr sz="1300" b="0" lang="ko-KR" spc="0">
                <a:solidFill>
                  <a:srgbClr val="60696D"/>
                </a:solidFill>
                <a:latin typeface="맑은 고딕"/>
                <a:ea typeface="맑은 고딕"/>
              </a:rPr>
              <a:t>구직 상태</a:t>
            </a:r>
          </a:p>
        </p:txBody>
      </p:sp>
      <p:sp>
        <p:nvSpPr>
          <p:cNvPr id="21" name="Right Arrow 20"/>
          <p:cNvSpPr/>
          <p:nvPr/>
        </p:nvSpPr>
        <p:spPr>
          <a:xfrm>
            <a:off x="6583679" y="3657600"/>
            <a:ext cx="237744" cy="155448"/>
          </a:xfrm>
          <a:prstGeom prst="rightArrow">
            <a:avLst/>
          </a:prstGeom>
          <a:solidFill>
            <a:srgbClr val="6069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885431" y="3063240"/>
            <a:ext cx="1865376" cy="1344168"/>
          </a:xfrm>
          <a:prstGeom prst="rect">
            <a:avLst/>
          </a:prstGeom>
          <a:solidFill>
            <a:srgbClr val="FFFFFF"/>
          </a:solidFill>
          <a:ln w="10160">
            <a:solidFill>
              <a:srgbClr val="DCE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013447" y="3255264"/>
            <a:ext cx="1609344" cy="320040"/>
          </a:xfrm>
          <a:prstGeom prst="rect">
            <a:avLst/>
          </a:prstGeom>
          <a:noFill/>
        </p:spPr>
        <p:txBody>
          <a:bodyPr wrap="square" lIns="0" rIns="0" tIns="0" bIns="0" anchor="t">
            <a:spAutoFit/>
          </a:bodyPr>
          <a:lstStyle/>
          <a:p>
            <a:pPr algn="l">
              <a:lnSpc>
                <a:spcPct val="116000"/>
              </a:lnSpc>
              <a:spcBef>
                <a:spcPts val="0"/>
              </a:spcBef>
              <a:spcAft>
                <a:spcPts val="0"/>
              </a:spcAft>
            </a:pPr>
            <a:r>
              <a:rPr sz="2000" b="1" lang="ko-KR" spc="0">
                <a:solidFill>
                  <a:srgbClr val="D45165"/>
                </a:solidFill>
                <a:latin typeface="맑은 고딕"/>
                <a:ea typeface="맑은 고딕"/>
              </a:rPr>
              <a:t>맞춤 지원</a:t>
            </a:r>
          </a:p>
        </p:txBody>
      </p:sp>
      <p:sp>
        <p:nvSpPr>
          <p:cNvPr id="24" name="TextBox 23"/>
          <p:cNvSpPr txBox="1"/>
          <p:nvPr/>
        </p:nvSpPr>
        <p:spPr>
          <a:xfrm>
            <a:off x="7013447" y="3767328"/>
            <a:ext cx="1664208" cy="512064"/>
          </a:xfrm>
          <a:prstGeom prst="rect">
            <a:avLst/>
          </a:prstGeom>
          <a:noFill/>
        </p:spPr>
        <p:txBody>
          <a:bodyPr wrap="square" lIns="0" rIns="0" tIns="0" bIns="0" anchor="t">
            <a:spAutoFit/>
          </a:bodyPr>
          <a:lstStyle/>
          <a:p>
            <a:pPr algn="l">
              <a:lnSpc>
                <a:spcPct val="116000"/>
              </a:lnSpc>
              <a:spcBef>
                <a:spcPts val="0"/>
              </a:spcBef>
              <a:spcAft>
                <a:spcPts val="0"/>
              </a:spcAft>
            </a:pPr>
            <a:r>
              <a:rPr sz="1300" b="0" lang="ko-KR" spc="0">
                <a:solidFill>
                  <a:srgbClr val="60696D"/>
                </a:solidFill>
                <a:latin typeface="맑은 고딕"/>
                <a:ea typeface="맑은 고딕"/>
              </a:rPr>
              <a:t>월세 · 일자리</a:t>
            </a:r>
          </a:p>
          <a:p>
            <a:pPr algn="l">
              <a:lnSpc>
                <a:spcPct val="116000"/>
              </a:lnSpc>
              <a:spcBef>
                <a:spcPts val="0"/>
              </a:spcBef>
              <a:spcAft>
                <a:spcPts val="0"/>
              </a:spcAft>
            </a:pPr>
            <a:r>
              <a:rPr sz="1300" b="0" lang="ko-KR" spc="0">
                <a:solidFill>
                  <a:srgbClr val="60696D"/>
                </a:solidFill>
                <a:latin typeface="맑은 고딕"/>
                <a:ea typeface="맑은 고딕"/>
              </a:rPr>
              <a:t>교육 · 상담</a:t>
            </a:r>
          </a:p>
        </p:txBody>
      </p:sp>
      <p:sp>
        <p:nvSpPr>
          <p:cNvPr id="25" name="Right Arrow 24"/>
          <p:cNvSpPr/>
          <p:nvPr/>
        </p:nvSpPr>
        <p:spPr>
          <a:xfrm>
            <a:off x="8805672" y="3657600"/>
            <a:ext cx="237744" cy="155448"/>
          </a:xfrm>
          <a:prstGeom prst="rightArrow">
            <a:avLst/>
          </a:prstGeom>
          <a:solidFill>
            <a:srgbClr val="6069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107424" y="3063240"/>
            <a:ext cx="1865376" cy="1344168"/>
          </a:xfrm>
          <a:prstGeom prst="rect">
            <a:avLst/>
          </a:prstGeom>
          <a:solidFill>
            <a:srgbClr val="FFFFFF"/>
          </a:solidFill>
          <a:ln w="10160">
            <a:solidFill>
              <a:srgbClr val="DCE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3255264"/>
            <a:ext cx="1609344" cy="320040"/>
          </a:xfrm>
          <a:prstGeom prst="rect">
            <a:avLst/>
          </a:prstGeom>
          <a:noFill/>
        </p:spPr>
        <p:txBody>
          <a:bodyPr wrap="square" lIns="0" rIns="0" tIns="0" bIns="0" anchor="t">
            <a:spAutoFit/>
          </a:bodyPr>
          <a:lstStyle/>
          <a:p>
            <a:pPr algn="l">
              <a:lnSpc>
                <a:spcPct val="116000"/>
              </a:lnSpc>
              <a:spcBef>
                <a:spcPts val="0"/>
              </a:spcBef>
              <a:spcAft>
                <a:spcPts val="0"/>
              </a:spcAft>
            </a:pPr>
            <a:r>
              <a:rPr sz="2000" b="1" lang="ko-KR" spc="0">
                <a:solidFill>
                  <a:srgbClr val="D45165"/>
                </a:solidFill>
                <a:latin typeface="맑은 고딕"/>
                <a:ea typeface="맑은 고딕"/>
              </a:rPr>
              <a:t>다음 행동</a:t>
            </a:r>
          </a:p>
        </p:txBody>
      </p:sp>
      <p:sp>
        <p:nvSpPr>
          <p:cNvPr id="28" name="TextBox 27"/>
          <p:cNvSpPr txBox="1"/>
          <p:nvPr/>
        </p:nvSpPr>
        <p:spPr>
          <a:xfrm>
            <a:off x="9235440" y="3767328"/>
            <a:ext cx="1664208" cy="512064"/>
          </a:xfrm>
          <a:prstGeom prst="rect">
            <a:avLst/>
          </a:prstGeom>
          <a:noFill/>
        </p:spPr>
        <p:txBody>
          <a:bodyPr wrap="square" lIns="0" rIns="0" tIns="0" bIns="0" anchor="t">
            <a:spAutoFit/>
          </a:bodyPr>
          <a:lstStyle/>
          <a:p>
            <a:pPr algn="l">
              <a:lnSpc>
                <a:spcPct val="116000"/>
              </a:lnSpc>
              <a:spcBef>
                <a:spcPts val="0"/>
              </a:spcBef>
              <a:spcAft>
                <a:spcPts val="0"/>
              </a:spcAft>
            </a:pPr>
            <a:r>
              <a:rPr sz="1300" b="0" lang="ko-KR" spc="0">
                <a:solidFill>
                  <a:srgbClr val="60696D"/>
                </a:solidFill>
                <a:latin typeface="맑은 고딕"/>
                <a:ea typeface="맑은 고딕"/>
              </a:rPr>
              <a:t>신청 페이지</a:t>
            </a:r>
          </a:p>
          <a:p>
            <a:pPr algn="l">
              <a:lnSpc>
                <a:spcPct val="116000"/>
              </a:lnSpc>
              <a:spcBef>
                <a:spcPts val="0"/>
              </a:spcBef>
              <a:spcAft>
                <a:spcPts val="0"/>
              </a:spcAft>
            </a:pPr>
            <a:r>
              <a:rPr sz="1300" b="0" lang="ko-KR" spc="0">
                <a:solidFill>
                  <a:srgbClr val="60696D"/>
                </a:solidFill>
                <a:latin typeface="맑은 고딕"/>
                <a:ea typeface="맑은 고딕"/>
              </a:rPr>
              <a:t>상담 예약</a:t>
            </a:r>
          </a:p>
        </p:txBody>
      </p:sp>
      <p:sp>
        <p:nvSpPr>
          <p:cNvPr id="29" name="TextBox 28"/>
          <p:cNvSpPr txBox="1"/>
          <p:nvPr/>
        </p:nvSpPr>
        <p:spPr>
          <a:xfrm>
            <a:off x="4672584" y="4745736"/>
            <a:ext cx="6601968" cy="292608"/>
          </a:xfrm>
          <a:prstGeom prst="rect">
            <a:avLst/>
          </a:prstGeom>
          <a:noFill/>
        </p:spPr>
        <p:txBody>
          <a:bodyPr wrap="square" lIns="0" rIns="0" tIns="0" bIns="0" anchor="t">
            <a:spAutoFit/>
          </a:bodyPr>
          <a:lstStyle/>
          <a:p>
            <a:pPr algn="l">
              <a:lnSpc>
                <a:spcPct val="116000"/>
              </a:lnSpc>
              <a:spcBef>
                <a:spcPts val="0"/>
              </a:spcBef>
              <a:spcAft>
                <a:spcPts val="0"/>
              </a:spcAft>
            </a:pPr>
            <a:r>
              <a:rPr sz="1500" b="0" lang="ko-KR" spc="0">
                <a:solidFill>
                  <a:srgbClr val="202426"/>
                </a:solidFill>
                <a:latin typeface="맑은 고딕"/>
                <a:ea typeface="맑은 고딕"/>
              </a:rPr>
              <a:t>조건 매칭 + AI 설명 + 공식 신청 경로 연결</a:t>
            </a:r>
          </a:p>
        </p:txBody>
      </p:sp>
      <p:sp>
        <p:nvSpPr>
          <p:cNvPr id="30" name="Rectangle 29"/>
          <p:cNvSpPr/>
          <p:nvPr/>
        </p:nvSpPr>
        <p:spPr>
          <a:xfrm>
            <a:off x="548640" y="5504688"/>
            <a:ext cx="11082528" cy="448056"/>
          </a:xfrm>
          <a:prstGeom prst="rect">
            <a:avLst/>
          </a:prstGeom>
          <a:solidFill>
            <a:srgbClr val="FBE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48640" y="5504688"/>
            <a:ext cx="50292" cy="448056"/>
          </a:xfrm>
          <a:prstGeom prst="rect">
            <a:avLst/>
          </a:prstGeom>
          <a:solidFill>
            <a:srgbClr val="D4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31520" y="5586984"/>
            <a:ext cx="10680192" cy="292608"/>
          </a:xfrm>
          <a:prstGeom prst="rect">
            <a:avLst/>
          </a:prstGeom>
          <a:noFill/>
        </p:spPr>
        <p:txBody>
          <a:bodyPr wrap="square" lIns="0" rIns="0" tIns="0" bIns="0" anchor="t">
            <a:spAutoFit/>
          </a:bodyPr>
          <a:lstStyle/>
          <a:p>
            <a:pPr algn="l">
              <a:lnSpc>
                <a:spcPct val="116000"/>
              </a:lnSpc>
              <a:spcBef>
                <a:spcPts val="0"/>
              </a:spcBef>
              <a:spcAft>
                <a:spcPts val="0"/>
              </a:spcAft>
            </a:pPr>
            <a:r>
              <a:rPr sz="1600" b="1" lang="ko-KR" spc="0">
                <a:solidFill>
                  <a:srgbClr val="202426"/>
                </a:solidFill>
                <a:latin typeface="맑은 고딕"/>
                <a:ea typeface="맑은 고딕"/>
              </a:rPr>
              <a:t>한마디로: 내 조건에 맞는 지원을 한곳에서 찾고, 신청까지 이어준다.</a:t>
            </a:r>
          </a:p>
        </p:txBody>
      </p:sp>
      <p:sp>
        <p:nvSpPr>
          <p:cNvPr id="33" name="TextBox 32"/>
          <p:cNvSpPr txBox="1"/>
          <p:nvPr/>
        </p:nvSpPr>
        <p:spPr>
          <a:xfrm>
            <a:off x="576072" y="6108192"/>
            <a:ext cx="3063240" cy="201168"/>
          </a:xfrm>
          <a:prstGeom prst="rect">
            <a:avLst/>
          </a:prstGeom>
          <a:noFill/>
        </p:spPr>
        <p:txBody>
          <a:bodyPr wrap="square" lIns="0" rIns="0" tIns="0" bIns="0" anchor="t">
            <a:spAutoFit/>
          </a:bodyPr>
          <a:lstStyle/>
          <a:p>
            <a:pPr algn="l">
              <a:lnSpc>
                <a:spcPct val="116000"/>
              </a:lnSpc>
              <a:spcBef>
                <a:spcPts val="0"/>
              </a:spcBef>
              <a:spcAft>
                <a:spcPts val="0"/>
              </a:spcAft>
            </a:pPr>
            <a:r>
              <a:rPr sz="900" b="0" lang="ko-KR" spc="0">
                <a:solidFill>
                  <a:srgbClr val="60696D"/>
                </a:solidFill>
                <a:latin typeface="맑은 고딕"/>
                <a:ea typeface="맑은 고딕"/>
                <a:hlinkClick r:id="rId2"/>
              </a:rPr>
              <a:t>[1] 국가데이터처, 2026.08.12</a:t>
            </a:r>
          </a:p>
        </p:txBody>
      </p:sp>
      <p:sp>
        <p:nvSpPr>
          <p:cNvPr id="34" name="TextBox 33"/>
          <p:cNvSpPr txBox="1"/>
          <p:nvPr/>
        </p:nvSpPr>
        <p:spPr>
          <a:xfrm>
            <a:off x="3639312" y="6108192"/>
            <a:ext cx="3063240" cy="201168"/>
          </a:xfrm>
          <a:prstGeom prst="rect">
            <a:avLst/>
          </a:prstGeom>
          <a:noFill/>
        </p:spPr>
        <p:txBody>
          <a:bodyPr wrap="square" lIns="0" rIns="0" tIns="0" bIns="0" anchor="t">
            <a:spAutoFit/>
          </a:bodyPr>
          <a:lstStyle/>
          <a:p>
            <a:pPr algn="l">
              <a:lnSpc>
                <a:spcPct val="116000"/>
              </a:lnSpc>
              <a:spcBef>
                <a:spcPts val="0"/>
              </a:spcBef>
              <a:spcAft>
                <a:spcPts val="0"/>
              </a:spcAft>
            </a:pPr>
            <a:r>
              <a:rPr sz="900" b="0" lang="ko-KR" spc="0">
                <a:solidFill>
                  <a:srgbClr val="60696D"/>
                </a:solidFill>
                <a:latin typeface="맑은 고딕"/>
                <a:ea typeface="맑은 고딕"/>
                <a:hlinkClick r:id="rId3"/>
              </a:rPr>
              <a:t>[2] 정책브리핑, 2026.01.29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0607040" cy="219456"/>
          </a:xfrm>
          <a:prstGeom prst="rect">
            <a:avLst/>
          </a:prstGeom>
          <a:noFill/>
        </p:spPr>
        <p:txBody>
          <a:bodyPr wrap="square" lIns="0" rIns="0" tIns="0" bIns="0" anchor="t">
            <a:spAutoFit/>
          </a:bodyPr>
          <a:lstStyle/>
          <a:p>
            <a:pPr algn="l">
              <a:lnSpc>
                <a:spcPct val="116000"/>
              </a:lnSpc>
              <a:spcBef>
                <a:spcPts val="0"/>
              </a:spcBef>
              <a:spcAft>
                <a:spcPts val="0"/>
              </a:spcAft>
            </a:pPr>
            <a:r>
              <a:rPr sz="1000" b="1" lang="ko-KR" spc="0">
                <a:solidFill>
                  <a:srgbClr val="087F75"/>
                </a:solidFill>
                <a:latin typeface="맑은 고딕"/>
                <a:ea typeface="맑은 고딕"/>
              </a:rPr>
              <a:t>02  사회적 고립과 고독사</a:t>
            </a:r>
          </a:p>
        </p:txBody>
      </p:sp>
      <p:sp>
        <p:nvSpPr>
          <p:cNvPr id="4" name="TextBox 3"/>
          <p:cNvSpPr txBox="1"/>
          <p:nvPr/>
        </p:nvSpPr>
        <p:spPr>
          <a:xfrm>
            <a:off x="548640" y="795528"/>
            <a:ext cx="10972800" cy="585216"/>
          </a:xfrm>
          <a:prstGeom prst="rect">
            <a:avLst/>
          </a:prstGeom>
          <a:noFill/>
        </p:spPr>
        <p:txBody>
          <a:bodyPr wrap="square" lIns="0" rIns="0" tIns="0" bIns="0" anchor="t">
            <a:spAutoFit/>
          </a:bodyPr>
          <a:lstStyle/>
          <a:p>
            <a:pPr algn="l">
              <a:lnSpc>
                <a:spcPct val="116000"/>
              </a:lnSpc>
              <a:spcBef>
                <a:spcPts val="0"/>
              </a:spcBef>
              <a:spcAft>
                <a:spcPts val="0"/>
              </a:spcAft>
            </a:pPr>
            <a:r>
              <a:rPr sz="2900" b="1" lang="ko-KR" spc="0">
                <a:solidFill>
                  <a:srgbClr val="202426"/>
                </a:solidFill>
                <a:latin typeface="맑은 고딕"/>
                <a:ea typeface="맑은 고딕"/>
              </a:rPr>
              <a:t>사회적 고립: 안부를 돌봄으로 연결하다</a:t>
            </a:r>
          </a:p>
        </p:txBody>
      </p:sp>
      <p:cxnSp>
        <p:nvCxnSpPr>
          <p:cNvPr id="5" name="Connector 4"/>
          <p:cNvCxnSpPr/>
          <p:nvPr/>
        </p:nvCxnSpPr>
        <p:spPr>
          <a:xfrm>
            <a:off x="548640" y="6364224"/>
            <a:ext cx="11082528"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92240"/>
            <a:ext cx="5486400" cy="182880"/>
          </a:xfrm>
          <a:prstGeom prst="rect">
            <a:avLst/>
          </a:prstGeom>
          <a:noFill/>
        </p:spPr>
        <p:txBody>
          <a:bodyPr wrap="square" lIns="0" rIns="0" tIns="0" bIns="0" anchor="t">
            <a:spAutoFit/>
          </a:bodyPr>
          <a:lstStyle/>
          <a:p>
            <a:pPr algn="l">
              <a:lnSpc>
                <a:spcPct val="116000"/>
              </a:lnSpc>
              <a:spcBef>
                <a:spcPts val="0"/>
              </a:spcBef>
              <a:spcAft>
                <a:spcPts val="0"/>
              </a:spcAft>
            </a:pPr>
            <a:r>
              <a:rPr sz="900" b="0" lang="ko-KR" spc="0">
                <a:solidFill>
                  <a:srgbClr val="60696D"/>
                </a:solidFill>
                <a:latin typeface="맑은 고딕"/>
                <a:ea typeface="맑은 고딕"/>
              </a:rPr>
              <a:t>사회혁신 · 기술기반 디자인 제안</a:t>
            </a:r>
          </a:p>
        </p:txBody>
      </p:sp>
      <p:sp>
        <p:nvSpPr>
          <p:cNvPr id="7" name="TextBox 6"/>
          <p:cNvSpPr txBox="1"/>
          <p:nvPr/>
        </p:nvSpPr>
        <p:spPr>
          <a:xfrm>
            <a:off x="10515600" y="6464808"/>
            <a:ext cx="1115568" cy="228600"/>
          </a:xfrm>
          <a:prstGeom prst="rect">
            <a:avLst/>
          </a:prstGeom>
          <a:noFill/>
        </p:spPr>
        <p:txBody>
          <a:bodyPr wrap="square" lIns="0" rIns="0" tIns="0" bIns="0" anchor="t">
            <a:spAutoFit/>
          </a:bodyPr>
          <a:lstStyle/>
          <a:p>
            <a:pPr algn="r">
              <a:lnSpc>
                <a:spcPct val="116000"/>
              </a:lnSpc>
              <a:spcBef>
                <a:spcPts val="0"/>
              </a:spcBef>
              <a:spcAft>
                <a:spcPts val="0"/>
              </a:spcAft>
            </a:pPr>
            <a:r>
              <a:rPr sz="1000" b="0" lang="ko-KR" spc="0">
                <a:solidFill>
                  <a:srgbClr val="60696D"/>
                </a:solidFill>
                <a:latin typeface="맑은 고딕"/>
                <a:ea typeface="맑은 고딕"/>
              </a:rPr>
              <a:t>04 / 09</a:t>
            </a:r>
          </a:p>
        </p:txBody>
      </p:sp>
      <p:sp>
        <p:nvSpPr>
          <p:cNvPr id="8" name="TextBox 7"/>
          <p:cNvSpPr txBox="1"/>
          <p:nvPr/>
        </p:nvSpPr>
        <p:spPr>
          <a:xfrm>
            <a:off x="594360" y="1728216"/>
            <a:ext cx="3566160" cy="274320"/>
          </a:xfrm>
          <a:prstGeom prst="rect">
            <a:avLst/>
          </a:prstGeom>
          <a:noFill/>
        </p:spPr>
        <p:txBody>
          <a:bodyPr wrap="square" lIns="0" rIns="0" tIns="0" bIns="0" anchor="t">
            <a:spAutoFit/>
          </a:bodyPr>
          <a:lstStyle/>
          <a:p>
            <a:pPr algn="l">
              <a:lnSpc>
                <a:spcPct val="116000"/>
              </a:lnSpc>
              <a:spcBef>
                <a:spcPts val="0"/>
              </a:spcBef>
              <a:spcAft>
                <a:spcPts val="0"/>
              </a:spcAft>
            </a:pPr>
            <a:r>
              <a:rPr sz="1300" b="1" lang="ko-KR" spc="0">
                <a:solidFill>
                  <a:srgbClr val="60696D"/>
                </a:solidFill>
                <a:latin typeface="맑은 고딕"/>
                <a:ea typeface="맑은 고딕"/>
              </a:rPr>
              <a:t>자료에서 확인한 방향</a:t>
            </a:r>
          </a:p>
        </p:txBody>
      </p:sp>
      <p:sp>
        <p:nvSpPr>
          <p:cNvPr id="9" name="TextBox 8"/>
          <p:cNvSpPr txBox="1"/>
          <p:nvPr/>
        </p:nvSpPr>
        <p:spPr>
          <a:xfrm>
            <a:off x="594360" y="2203704"/>
            <a:ext cx="3602736" cy="960120"/>
          </a:xfrm>
          <a:prstGeom prst="rect">
            <a:avLst/>
          </a:prstGeom>
          <a:noFill/>
        </p:spPr>
        <p:txBody>
          <a:bodyPr wrap="square" lIns="0" rIns="0" tIns="0" bIns="0" anchor="t">
            <a:spAutoFit/>
          </a:bodyPr>
          <a:lstStyle/>
          <a:p>
            <a:pPr algn="l">
              <a:lnSpc>
                <a:spcPct val="116000"/>
              </a:lnSpc>
              <a:spcBef>
                <a:spcPts val="0"/>
              </a:spcBef>
              <a:spcAft>
                <a:spcPts val="0"/>
              </a:spcAft>
            </a:pPr>
            <a:r>
              <a:rPr sz="2900" b="1" lang="ko-KR" spc="0">
                <a:solidFill>
                  <a:srgbClr val="087F75"/>
                </a:solidFill>
                <a:latin typeface="맑은 고딕"/>
                <a:ea typeface="맑은 고딕"/>
              </a:rPr>
              <a:t>사후 대응에서</a:t>
            </a:r>
          </a:p>
          <a:p>
            <a:pPr algn="l">
              <a:lnSpc>
                <a:spcPct val="116000"/>
              </a:lnSpc>
              <a:spcBef>
                <a:spcPts val="0"/>
              </a:spcBef>
              <a:spcAft>
                <a:spcPts val="0"/>
              </a:spcAft>
            </a:pPr>
            <a:r>
              <a:rPr sz="2900" b="1" lang="ko-KR" spc="0">
                <a:solidFill>
                  <a:srgbClr val="087F75"/>
                </a:solidFill>
                <a:latin typeface="맑은 고딕"/>
                <a:ea typeface="맑은 고딕"/>
              </a:rPr>
              <a:t>고립 예방으로</a:t>
            </a:r>
          </a:p>
        </p:txBody>
      </p:sp>
      <p:sp>
        <p:nvSpPr>
          <p:cNvPr id="10" name="TextBox 9"/>
          <p:cNvSpPr txBox="1"/>
          <p:nvPr/>
        </p:nvSpPr>
        <p:spPr>
          <a:xfrm>
            <a:off x="612648" y="3364992"/>
            <a:ext cx="3566160" cy="301752"/>
          </a:xfrm>
          <a:prstGeom prst="rect">
            <a:avLst/>
          </a:prstGeom>
          <a:noFill/>
        </p:spPr>
        <p:txBody>
          <a:bodyPr wrap="square" lIns="0" rIns="0" tIns="0" bIns="0" anchor="t">
            <a:spAutoFit/>
          </a:bodyPr>
          <a:lstStyle/>
          <a:p>
            <a:pPr algn="l">
              <a:lnSpc>
                <a:spcPct val="116000"/>
              </a:lnSpc>
              <a:spcBef>
                <a:spcPts val="0"/>
              </a:spcBef>
              <a:spcAft>
                <a:spcPts val="0"/>
              </a:spcAft>
            </a:pPr>
            <a:r>
              <a:rPr sz="1400" b="0" lang="ko-KR" spc="0">
                <a:solidFill>
                  <a:srgbClr val="60696D"/>
                </a:solidFill>
                <a:latin typeface="맑은 고딕"/>
                <a:ea typeface="맑은 고딕"/>
              </a:rPr>
              <a:t>정부의 예방 중심 대응 논의 [3]</a:t>
            </a:r>
          </a:p>
        </p:txBody>
      </p:sp>
      <p:cxnSp>
        <p:nvCxnSpPr>
          <p:cNvPr id="11" name="Connector 10"/>
          <p:cNvCxnSpPr/>
          <p:nvPr/>
        </p:nvCxnSpPr>
        <p:spPr>
          <a:xfrm>
            <a:off x="594360" y="3822191"/>
            <a:ext cx="3392424"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4023360"/>
            <a:ext cx="338328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lang="ko-KR" spc="0">
                <a:solidFill>
                  <a:srgbClr val="087F75"/>
                </a:solidFill>
                <a:latin typeface="맑은 고딕"/>
                <a:ea typeface="맑은 고딕"/>
              </a:rPr>
              <a:t>PAIN POINT · 가설</a:t>
            </a:r>
          </a:p>
        </p:txBody>
      </p:sp>
      <p:sp>
        <p:nvSpPr>
          <p:cNvPr id="13" name="TextBox 12"/>
          <p:cNvSpPr txBox="1"/>
          <p:nvPr/>
        </p:nvSpPr>
        <p:spPr>
          <a:xfrm>
            <a:off x="594360" y="4425696"/>
            <a:ext cx="3675887" cy="731520"/>
          </a:xfrm>
          <a:prstGeom prst="rect">
            <a:avLst/>
          </a:prstGeom>
          <a:noFill/>
        </p:spPr>
        <p:txBody>
          <a:bodyPr wrap="square" lIns="0" rIns="0" tIns="0" bIns="0" anchor="t">
            <a:spAutoFit/>
          </a:bodyPr>
          <a:lstStyle/>
          <a:p>
            <a:pPr algn="l">
              <a:lnSpc>
                <a:spcPct val="116000"/>
              </a:lnSpc>
              <a:spcBef>
                <a:spcPts val="0"/>
              </a:spcBef>
              <a:spcAft>
                <a:spcPts val="0"/>
              </a:spcAft>
            </a:pPr>
            <a:r>
              <a:rPr sz="2200" b="1" lang="ko-KR" spc="0">
                <a:solidFill>
                  <a:srgbClr val="202426"/>
                </a:solidFill>
                <a:latin typeface="맑은 고딕"/>
                <a:ea typeface="맑은 고딕"/>
              </a:rPr>
              <a:t>도움을 요청하기 전,</a:t>
            </a:r>
          </a:p>
          <a:p>
            <a:pPr algn="l">
              <a:lnSpc>
                <a:spcPct val="116000"/>
              </a:lnSpc>
              <a:spcBef>
                <a:spcPts val="0"/>
              </a:spcBef>
              <a:spcAft>
                <a:spcPts val="0"/>
              </a:spcAft>
            </a:pPr>
            <a:r>
              <a:rPr sz="2200" b="1" lang="ko-KR" spc="0">
                <a:solidFill>
                  <a:srgbClr val="202426"/>
                </a:solidFill>
                <a:latin typeface="맑은 고딕"/>
                <a:ea typeface="맑은 고딕"/>
              </a:rPr>
              <a:t>관계가 끊길 수 있다</a:t>
            </a:r>
          </a:p>
        </p:txBody>
      </p:sp>
      <p:sp>
        <p:nvSpPr>
          <p:cNvPr id="14" name="Rectangle 13"/>
          <p:cNvSpPr/>
          <p:nvPr/>
        </p:nvSpPr>
        <p:spPr>
          <a:xfrm>
            <a:off x="4407408" y="1737360"/>
            <a:ext cx="7223760" cy="3584448"/>
          </a:xfrm>
          <a:prstGeom prst="rect">
            <a:avLst/>
          </a:prstGeom>
          <a:solidFill>
            <a:srgbClr val="F7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45152" y="1947672"/>
            <a:ext cx="6739128" cy="393192"/>
          </a:xfrm>
          <a:prstGeom prst="rect">
            <a:avLst/>
          </a:prstGeom>
          <a:noFill/>
        </p:spPr>
        <p:txBody>
          <a:bodyPr wrap="square" lIns="0" rIns="0" tIns="0" bIns="0" anchor="t">
            <a:spAutoFit/>
          </a:bodyPr>
          <a:lstStyle/>
          <a:p>
            <a:pPr algn="l">
              <a:lnSpc>
                <a:spcPct val="116000"/>
              </a:lnSpc>
              <a:spcBef>
                <a:spcPts val="0"/>
              </a:spcBef>
              <a:spcAft>
                <a:spcPts val="0"/>
              </a:spcAft>
            </a:pPr>
            <a:r>
              <a:rPr sz="2300" b="1" lang="ko-KR" spc="0">
                <a:solidFill>
                  <a:srgbClr val="202426"/>
                </a:solidFill>
                <a:latin typeface="맑은 고딕"/>
                <a:ea typeface="맑은 고딕"/>
              </a:rPr>
              <a:t>지역 기반 안부 연결 시스템</a:t>
            </a:r>
          </a:p>
        </p:txBody>
      </p:sp>
      <p:sp>
        <p:nvSpPr>
          <p:cNvPr id="16" name="TextBox 15"/>
          <p:cNvSpPr txBox="1"/>
          <p:nvPr/>
        </p:nvSpPr>
        <p:spPr>
          <a:xfrm>
            <a:off x="4663440" y="2514600"/>
            <a:ext cx="6519672" cy="301752"/>
          </a:xfrm>
          <a:prstGeom prst="rect">
            <a:avLst/>
          </a:prstGeom>
          <a:noFill/>
        </p:spPr>
        <p:txBody>
          <a:bodyPr wrap="square" lIns="0" rIns="0" tIns="0" bIns="0" anchor="t">
            <a:spAutoFit/>
          </a:bodyPr>
          <a:lstStyle/>
          <a:p>
            <a:pPr algn="l">
              <a:lnSpc>
                <a:spcPct val="116000"/>
              </a:lnSpc>
              <a:spcBef>
                <a:spcPts val="0"/>
              </a:spcBef>
              <a:spcAft>
                <a:spcPts val="0"/>
              </a:spcAft>
            </a:pPr>
            <a:r>
              <a:rPr sz="1300" b="0" lang="ko-KR" spc="0">
                <a:solidFill>
                  <a:srgbClr val="60696D"/>
                </a:solidFill>
                <a:latin typeface="맑은 고딕"/>
                <a:ea typeface="맑은 고딕"/>
              </a:rPr>
              <a:t>편의점 · 약국 · 주민센터와 협력하는 설계 제안</a:t>
            </a:r>
          </a:p>
        </p:txBody>
      </p:sp>
      <p:sp>
        <p:nvSpPr>
          <p:cNvPr id="17" name="Rectangle 16"/>
          <p:cNvSpPr/>
          <p:nvPr/>
        </p:nvSpPr>
        <p:spPr>
          <a:xfrm>
            <a:off x="4663440" y="3191256"/>
            <a:ext cx="1463040" cy="1133856"/>
          </a:xfrm>
          <a:prstGeom prst="rect">
            <a:avLst/>
          </a:prstGeom>
          <a:solidFill>
            <a:srgbClr val="FFFFFF"/>
          </a:solidFill>
          <a:ln w="10160">
            <a:solidFill>
              <a:srgbClr val="DCE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79" y="3383280"/>
            <a:ext cx="1280160" cy="320040"/>
          </a:xfrm>
          <a:prstGeom prst="rect">
            <a:avLst/>
          </a:prstGeom>
          <a:noFill/>
        </p:spPr>
        <p:txBody>
          <a:bodyPr wrap="square" lIns="0" rIns="0" tIns="0" bIns="0" anchor="t">
            <a:spAutoFit/>
          </a:bodyPr>
          <a:lstStyle/>
          <a:p>
            <a:pPr algn="ctr">
              <a:lnSpc>
                <a:spcPct val="116000"/>
              </a:lnSpc>
              <a:spcBef>
                <a:spcPts val="0"/>
              </a:spcBef>
              <a:spcAft>
                <a:spcPts val="0"/>
              </a:spcAft>
            </a:pPr>
            <a:r>
              <a:rPr sz="1600" b="1" lang="ko-KR" spc="0">
                <a:solidFill>
                  <a:srgbClr val="087F75"/>
                </a:solidFill>
                <a:latin typeface="맑은 고딕"/>
                <a:ea typeface="맑은 고딕"/>
              </a:rPr>
              <a:t>참여 동의</a:t>
            </a:r>
          </a:p>
        </p:txBody>
      </p:sp>
      <p:sp>
        <p:nvSpPr>
          <p:cNvPr id="19" name="TextBox 18"/>
          <p:cNvSpPr txBox="1"/>
          <p:nvPr/>
        </p:nvSpPr>
        <p:spPr>
          <a:xfrm>
            <a:off x="4727448" y="3831336"/>
            <a:ext cx="1335024" cy="301752"/>
          </a:xfrm>
          <a:prstGeom prst="rect">
            <a:avLst/>
          </a:prstGeom>
          <a:noFill/>
        </p:spPr>
        <p:txBody>
          <a:bodyPr wrap="square" lIns="0" rIns="0" tIns="0" bIns="0" anchor="t">
            <a:spAutoFit/>
          </a:bodyPr>
          <a:lstStyle/>
          <a:p>
            <a:pPr algn="ctr">
              <a:lnSpc>
                <a:spcPct val="116000"/>
              </a:lnSpc>
              <a:spcBef>
                <a:spcPts val="0"/>
              </a:spcBef>
              <a:spcAft>
                <a:spcPts val="0"/>
              </a:spcAft>
            </a:pPr>
            <a:r>
              <a:rPr sz="1100" b="0" lang="ko-KR" spc="0">
                <a:solidFill>
                  <a:srgbClr val="60696D"/>
                </a:solidFill>
                <a:latin typeface="맑은 고딕"/>
                <a:ea typeface="맑은 고딕"/>
              </a:rPr>
              <a:t>당사자 선택</a:t>
            </a:r>
          </a:p>
        </p:txBody>
      </p:sp>
      <p:sp>
        <p:nvSpPr>
          <p:cNvPr id="20" name="Right Arrow 19"/>
          <p:cNvSpPr/>
          <p:nvPr/>
        </p:nvSpPr>
        <p:spPr>
          <a:xfrm>
            <a:off x="6163055" y="3666744"/>
            <a:ext cx="155448" cy="118872"/>
          </a:xfrm>
          <a:prstGeom prst="rightArrow">
            <a:avLst/>
          </a:prstGeom>
          <a:solidFill>
            <a:srgbClr val="6069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64224" y="3191256"/>
            <a:ext cx="1463040" cy="1133856"/>
          </a:xfrm>
          <a:prstGeom prst="rect">
            <a:avLst/>
          </a:prstGeom>
          <a:solidFill>
            <a:srgbClr val="FFFFFF"/>
          </a:solidFill>
          <a:ln w="10160">
            <a:solidFill>
              <a:srgbClr val="DCE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5664" y="3383280"/>
            <a:ext cx="1280160" cy="320040"/>
          </a:xfrm>
          <a:prstGeom prst="rect">
            <a:avLst/>
          </a:prstGeom>
          <a:noFill/>
        </p:spPr>
        <p:txBody>
          <a:bodyPr wrap="square" lIns="0" rIns="0" tIns="0" bIns="0" anchor="t">
            <a:spAutoFit/>
          </a:bodyPr>
          <a:lstStyle/>
          <a:p>
            <a:pPr algn="ctr">
              <a:lnSpc>
                <a:spcPct val="116000"/>
              </a:lnSpc>
              <a:spcBef>
                <a:spcPts val="0"/>
              </a:spcBef>
              <a:spcAft>
                <a:spcPts val="0"/>
              </a:spcAft>
            </a:pPr>
            <a:r>
              <a:rPr sz="1600" b="1" lang="ko-KR" spc="0">
                <a:solidFill>
                  <a:srgbClr val="087F75"/>
                </a:solidFill>
                <a:latin typeface="맑은 고딕"/>
                <a:ea typeface="맑은 고딕"/>
              </a:rPr>
              <a:t>안부 확인</a:t>
            </a:r>
          </a:p>
        </p:txBody>
      </p:sp>
      <p:sp>
        <p:nvSpPr>
          <p:cNvPr id="23" name="TextBox 22"/>
          <p:cNvSpPr txBox="1"/>
          <p:nvPr/>
        </p:nvSpPr>
        <p:spPr>
          <a:xfrm>
            <a:off x="6428232" y="3831336"/>
            <a:ext cx="1335024" cy="301752"/>
          </a:xfrm>
          <a:prstGeom prst="rect">
            <a:avLst/>
          </a:prstGeom>
          <a:noFill/>
        </p:spPr>
        <p:txBody>
          <a:bodyPr wrap="square" lIns="0" rIns="0" tIns="0" bIns="0" anchor="t">
            <a:spAutoFit/>
          </a:bodyPr>
          <a:lstStyle/>
          <a:p>
            <a:pPr algn="ctr">
              <a:lnSpc>
                <a:spcPct val="116000"/>
              </a:lnSpc>
              <a:spcBef>
                <a:spcPts val="0"/>
              </a:spcBef>
              <a:spcAft>
                <a:spcPts val="0"/>
              </a:spcAft>
            </a:pPr>
            <a:r>
              <a:rPr sz="1100" b="0" lang="ko-KR" spc="0">
                <a:solidFill>
                  <a:srgbClr val="60696D"/>
                </a:solidFill>
                <a:latin typeface="맑은 고딕"/>
                <a:ea typeface="맑은 고딕"/>
              </a:rPr>
              <a:t>문자 · 전화</a:t>
            </a:r>
          </a:p>
        </p:txBody>
      </p:sp>
      <p:sp>
        <p:nvSpPr>
          <p:cNvPr id="24" name="Right Arrow 23"/>
          <p:cNvSpPr/>
          <p:nvPr/>
        </p:nvSpPr>
        <p:spPr>
          <a:xfrm>
            <a:off x="7863840" y="3666744"/>
            <a:ext cx="155448" cy="118872"/>
          </a:xfrm>
          <a:prstGeom prst="rightArrow">
            <a:avLst/>
          </a:prstGeom>
          <a:solidFill>
            <a:srgbClr val="6069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065008" y="3191256"/>
            <a:ext cx="1463040" cy="1133856"/>
          </a:xfrm>
          <a:prstGeom prst="rect">
            <a:avLst/>
          </a:prstGeom>
          <a:solidFill>
            <a:srgbClr val="FFFFFF"/>
          </a:solidFill>
          <a:ln w="10160">
            <a:solidFill>
              <a:srgbClr val="DCE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56448" y="3383280"/>
            <a:ext cx="1280160" cy="320040"/>
          </a:xfrm>
          <a:prstGeom prst="rect">
            <a:avLst/>
          </a:prstGeom>
          <a:noFill/>
        </p:spPr>
        <p:txBody>
          <a:bodyPr wrap="square" lIns="0" rIns="0" tIns="0" bIns="0" anchor="t">
            <a:spAutoFit/>
          </a:bodyPr>
          <a:lstStyle/>
          <a:p>
            <a:pPr algn="ctr">
              <a:lnSpc>
                <a:spcPct val="116000"/>
              </a:lnSpc>
              <a:spcBef>
                <a:spcPts val="0"/>
              </a:spcBef>
              <a:spcAft>
                <a:spcPts val="0"/>
              </a:spcAft>
            </a:pPr>
            <a:r>
              <a:rPr sz="1600" b="1" lang="ko-KR" spc="0">
                <a:solidFill>
                  <a:srgbClr val="087F75"/>
                </a:solidFill>
                <a:latin typeface="맑은 고딕"/>
                <a:ea typeface="맑은 고딕"/>
              </a:rPr>
              <a:t>담당자 확인</a:t>
            </a:r>
          </a:p>
        </p:txBody>
      </p:sp>
      <p:sp>
        <p:nvSpPr>
          <p:cNvPr id="27" name="TextBox 26"/>
          <p:cNvSpPr txBox="1"/>
          <p:nvPr/>
        </p:nvSpPr>
        <p:spPr>
          <a:xfrm>
            <a:off x="8129016" y="3831336"/>
            <a:ext cx="1335024" cy="301752"/>
          </a:xfrm>
          <a:prstGeom prst="rect">
            <a:avLst/>
          </a:prstGeom>
          <a:noFill/>
        </p:spPr>
        <p:txBody>
          <a:bodyPr wrap="square" lIns="0" rIns="0" tIns="0" bIns="0" anchor="t">
            <a:spAutoFit/>
          </a:bodyPr>
          <a:lstStyle/>
          <a:p>
            <a:pPr algn="ctr">
              <a:lnSpc>
                <a:spcPct val="116000"/>
              </a:lnSpc>
              <a:spcBef>
                <a:spcPts val="0"/>
              </a:spcBef>
              <a:spcAft>
                <a:spcPts val="0"/>
              </a:spcAft>
            </a:pPr>
            <a:r>
              <a:rPr sz="1100" b="0" lang="ko-KR" spc="0">
                <a:solidFill>
                  <a:srgbClr val="60696D"/>
                </a:solidFill>
                <a:latin typeface="맑은 고딕"/>
                <a:ea typeface="맑은 고딕"/>
              </a:rPr>
              <a:t>미응답 확인</a:t>
            </a:r>
          </a:p>
        </p:txBody>
      </p:sp>
      <p:sp>
        <p:nvSpPr>
          <p:cNvPr id="28" name="Right Arrow 27"/>
          <p:cNvSpPr/>
          <p:nvPr/>
        </p:nvSpPr>
        <p:spPr>
          <a:xfrm>
            <a:off x="9564624" y="3666744"/>
            <a:ext cx="155448" cy="118872"/>
          </a:xfrm>
          <a:prstGeom prst="rightArrow">
            <a:avLst/>
          </a:prstGeom>
          <a:solidFill>
            <a:srgbClr val="60696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765792" y="3191256"/>
            <a:ext cx="1463040" cy="1133856"/>
          </a:xfrm>
          <a:prstGeom prst="rect">
            <a:avLst/>
          </a:prstGeom>
          <a:solidFill>
            <a:srgbClr val="FFFFFF"/>
          </a:solidFill>
          <a:ln w="10160">
            <a:solidFill>
              <a:srgbClr val="DCE2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857232" y="3383280"/>
            <a:ext cx="1280160" cy="320040"/>
          </a:xfrm>
          <a:prstGeom prst="rect">
            <a:avLst/>
          </a:prstGeom>
          <a:noFill/>
        </p:spPr>
        <p:txBody>
          <a:bodyPr wrap="square" lIns="0" rIns="0" tIns="0" bIns="0" anchor="t">
            <a:spAutoFit/>
          </a:bodyPr>
          <a:lstStyle/>
          <a:p>
            <a:pPr algn="ctr">
              <a:lnSpc>
                <a:spcPct val="116000"/>
              </a:lnSpc>
              <a:spcBef>
                <a:spcPts val="0"/>
              </a:spcBef>
              <a:spcAft>
                <a:spcPts val="0"/>
              </a:spcAft>
            </a:pPr>
            <a:r>
              <a:rPr sz="1600" b="1" lang="ko-KR" spc="0">
                <a:solidFill>
                  <a:srgbClr val="087F75"/>
                </a:solidFill>
                <a:latin typeface="맑은 고딕"/>
                <a:ea typeface="맑은 고딕"/>
              </a:rPr>
              <a:t>돌봄 연결</a:t>
            </a:r>
          </a:p>
        </p:txBody>
      </p:sp>
      <p:sp>
        <p:nvSpPr>
          <p:cNvPr id="31" name="TextBox 30"/>
          <p:cNvSpPr txBox="1"/>
          <p:nvPr/>
        </p:nvSpPr>
        <p:spPr>
          <a:xfrm>
            <a:off x="9829800" y="3831336"/>
            <a:ext cx="1335024" cy="301752"/>
          </a:xfrm>
          <a:prstGeom prst="rect">
            <a:avLst/>
          </a:prstGeom>
          <a:noFill/>
        </p:spPr>
        <p:txBody>
          <a:bodyPr wrap="square" lIns="0" rIns="0" tIns="0" bIns="0" anchor="t">
            <a:spAutoFit/>
          </a:bodyPr>
          <a:lstStyle/>
          <a:p>
            <a:pPr algn="ctr">
              <a:lnSpc>
                <a:spcPct val="116000"/>
              </a:lnSpc>
              <a:spcBef>
                <a:spcPts val="0"/>
              </a:spcBef>
              <a:spcAft>
                <a:spcPts val="0"/>
              </a:spcAft>
            </a:pPr>
            <a:r>
              <a:rPr sz="1100" b="0" lang="ko-KR" spc="0">
                <a:solidFill>
                  <a:srgbClr val="60696D"/>
                </a:solidFill>
                <a:latin typeface="맑은 고딕"/>
                <a:ea typeface="맑은 고딕"/>
              </a:rPr>
              <a:t>상담 · 방문</a:t>
            </a:r>
          </a:p>
        </p:txBody>
      </p:sp>
      <p:sp>
        <p:nvSpPr>
          <p:cNvPr id="32" name="TextBox 31"/>
          <p:cNvSpPr txBox="1"/>
          <p:nvPr/>
        </p:nvSpPr>
        <p:spPr>
          <a:xfrm>
            <a:off x="4672584" y="4736592"/>
            <a:ext cx="6519672" cy="338328"/>
          </a:xfrm>
          <a:prstGeom prst="rect">
            <a:avLst/>
          </a:prstGeom>
          <a:noFill/>
        </p:spPr>
        <p:txBody>
          <a:bodyPr wrap="square" lIns="0" rIns="0" tIns="0" bIns="0" anchor="t">
            <a:spAutoFit/>
          </a:bodyPr>
          <a:lstStyle/>
          <a:p>
            <a:pPr algn="l">
              <a:lnSpc>
                <a:spcPct val="116000"/>
              </a:lnSpc>
              <a:spcBef>
                <a:spcPts val="0"/>
              </a:spcBef>
              <a:spcAft>
                <a:spcPts val="0"/>
              </a:spcAft>
            </a:pPr>
            <a:r>
              <a:rPr sz="1600" b="1" lang="ko-KR" spc="0">
                <a:solidFill>
                  <a:srgbClr val="202426"/>
                </a:solidFill>
                <a:latin typeface="맑은 고딕"/>
                <a:ea typeface="맑은 고딕"/>
              </a:rPr>
              <a:t>알림은 기술이, 상황 확인과 연결은 사람이</a:t>
            </a:r>
          </a:p>
        </p:txBody>
      </p:sp>
      <p:sp>
        <p:nvSpPr>
          <p:cNvPr id="33" name="Rectangle 32"/>
          <p:cNvSpPr/>
          <p:nvPr/>
        </p:nvSpPr>
        <p:spPr>
          <a:xfrm>
            <a:off x="548640" y="5504688"/>
            <a:ext cx="11082528" cy="448056"/>
          </a:xfrm>
          <a:prstGeom prst="rect">
            <a:avLst/>
          </a:prstGeom>
          <a:solidFill>
            <a:srgbClr val="E8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48640" y="5504688"/>
            <a:ext cx="50292" cy="448056"/>
          </a:xfrm>
          <a:prstGeom prst="rect">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31520" y="5586984"/>
            <a:ext cx="10680192" cy="292608"/>
          </a:xfrm>
          <a:prstGeom prst="rect">
            <a:avLst/>
          </a:prstGeom>
          <a:noFill/>
        </p:spPr>
        <p:txBody>
          <a:bodyPr wrap="square" lIns="0" rIns="0" tIns="0" bIns="0" anchor="t">
            <a:spAutoFit/>
          </a:bodyPr>
          <a:lstStyle/>
          <a:p>
            <a:pPr algn="l">
              <a:lnSpc>
                <a:spcPct val="116000"/>
              </a:lnSpc>
              <a:spcBef>
                <a:spcPts val="0"/>
              </a:spcBef>
              <a:spcAft>
                <a:spcPts val="0"/>
              </a:spcAft>
            </a:pPr>
            <a:r>
              <a:rPr sz="1600" b="1" lang="ko-KR" spc="0">
                <a:solidFill>
                  <a:srgbClr val="202426"/>
                </a:solidFill>
                <a:latin typeface="맑은 고딕"/>
                <a:ea typeface="맑은 고딕"/>
              </a:rPr>
              <a:t>한마디로: 작은 안부 신호를 지역의 상담과 돌봄으로 이어준다.</a:t>
            </a:r>
          </a:p>
        </p:txBody>
      </p:sp>
      <p:sp>
        <p:nvSpPr>
          <p:cNvPr id="36" name="TextBox 35"/>
          <p:cNvSpPr txBox="1"/>
          <p:nvPr/>
        </p:nvSpPr>
        <p:spPr>
          <a:xfrm>
            <a:off x="576072" y="6108192"/>
            <a:ext cx="4663440" cy="201168"/>
          </a:xfrm>
          <a:prstGeom prst="rect">
            <a:avLst/>
          </a:prstGeom>
          <a:noFill/>
        </p:spPr>
        <p:txBody>
          <a:bodyPr wrap="square" lIns="0" rIns="0" tIns="0" bIns="0" anchor="t">
            <a:spAutoFit/>
          </a:bodyPr>
          <a:lstStyle/>
          <a:p>
            <a:pPr algn="l">
              <a:lnSpc>
                <a:spcPct val="116000"/>
              </a:lnSpc>
              <a:spcBef>
                <a:spcPts val="0"/>
              </a:spcBef>
              <a:spcAft>
                <a:spcPts val="0"/>
              </a:spcAft>
            </a:pPr>
            <a:r>
              <a:rPr sz="900" b="0" lang="ko-KR" spc="0">
                <a:solidFill>
                  <a:srgbClr val="60696D"/>
                </a:solidFill>
                <a:latin typeface="맑은 고딕"/>
                <a:ea typeface="맑은 고딕"/>
                <a:hlinkClick r:id="rId2"/>
              </a:rPr>
              <a:t>[3] 보건복지부·정책브리핑, 2026.05.13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E5B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0607040" cy="219456"/>
          </a:xfrm>
          <a:prstGeom prst="rect">
            <a:avLst/>
          </a:prstGeom>
          <a:noFill/>
        </p:spPr>
        <p:txBody>
          <a:bodyPr wrap="square" lIns="0" rIns="0" tIns="0" bIns="0" anchor="t">
            <a:spAutoFit/>
          </a:bodyPr>
          <a:lstStyle/>
          <a:p>
            <a:pPr algn="l">
              <a:lnSpc>
                <a:spcPct val="116000"/>
              </a:lnSpc>
              <a:spcBef>
                <a:spcPts val="0"/>
              </a:spcBef>
              <a:spcAft>
                <a:spcPts val="0"/>
              </a:spcAft>
            </a:pPr>
            <a:r>
              <a:rPr sz="1000" b="1" lang="ko-KR" spc="0">
                <a:solidFill>
                  <a:srgbClr val="E5B62E"/>
                </a:solidFill>
                <a:latin typeface="맑은 고딕"/>
                <a:ea typeface="맑은 고딕"/>
              </a:rPr>
              <a:t>03  기후위기와 폭염 불평등</a:t>
            </a:r>
          </a:p>
        </p:txBody>
      </p:sp>
      <p:sp>
        <p:nvSpPr>
          <p:cNvPr id="4" name="TextBox 3"/>
          <p:cNvSpPr txBox="1"/>
          <p:nvPr/>
        </p:nvSpPr>
        <p:spPr>
          <a:xfrm>
            <a:off x="548640" y="795528"/>
            <a:ext cx="10972800" cy="585216"/>
          </a:xfrm>
          <a:prstGeom prst="rect">
            <a:avLst/>
          </a:prstGeom>
          <a:noFill/>
        </p:spPr>
        <p:txBody>
          <a:bodyPr wrap="square" lIns="0" rIns="0" tIns="0" bIns="0" anchor="t">
            <a:spAutoFit/>
          </a:bodyPr>
          <a:lstStyle/>
          <a:p>
            <a:pPr algn="l">
              <a:lnSpc>
                <a:spcPct val="116000"/>
              </a:lnSpc>
              <a:spcBef>
                <a:spcPts val="0"/>
              </a:spcBef>
              <a:spcAft>
                <a:spcPts val="0"/>
              </a:spcAft>
            </a:pPr>
            <a:r>
              <a:rPr sz="2900" b="1" lang="ko-KR" spc="0">
                <a:solidFill>
                  <a:srgbClr val="202426"/>
                </a:solidFill>
                <a:latin typeface="맑은 고딕"/>
                <a:ea typeface="맑은 고딕"/>
              </a:rPr>
              <a:t>폭염 불평등: 위험한 곳에 보호를 연결하다</a:t>
            </a:r>
          </a:p>
        </p:txBody>
      </p:sp>
      <p:cxnSp>
        <p:nvCxnSpPr>
          <p:cNvPr id="5" name="Connector 4"/>
          <p:cNvCxnSpPr/>
          <p:nvPr/>
        </p:nvCxnSpPr>
        <p:spPr>
          <a:xfrm>
            <a:off x="548640" y="6364224"/>
            <a:ext cx="11082528"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92240"/>
            <a:ext cx="5486400" cy="182880"/>
          </a:xfrm>
          <a:prstGeom prst="rect">
            <a:avLst/>
          </a:prstGeom>
          <a:noFill/>
        </p:spPr>
        <p:txBody>
          <a:bodyPr wrap="square" lIns="0" rIns="0" tIns="0" bIns="0" anchor="t">
            <a:spAutoFit/>
          </a:bodyPr>
          <a:lstStyle/>
          <a:p>
            <a:pPr algn="l">
              <a:lnSpc>
                <a:spcPct val="116000"/>
              </a:lnSpc>
              <a:spcBef>
                <a:spcPts val="0"/>
              </a:spcBef>
              <a:spcAft>
                <a:spcPts val="0"/>
              </a:spcAft>
            </a:pPr>
            <a:r>
              <a:rPr sz="900" b="0" lang="ko-KR" spc="0">
                <a:solidFill>
                  <a:srgbClr val="60696D"/>
                </a:solidFill>
                <a:latin typeface="맑은 고딕"/>
                <a:ea typeface="맑은 고딕"/>
              </a:rPr>
              <a:t>사회혁신 · 기술기반 디자인 제안</a:t>
            </a:r>
          </a:p>
        </p:txBody>
      </p:sp>
      <p:sp>
        <p:nvSpPr>
          <p:cNvPr id="7" name="TextBox 6"/>
          <p:cNvSpPr txBox="1"/>
          <p:nvPr/>
        </p:nvSpPr>
        <p:spPr>
          <a:xfrm>
            <a:off x="10515600" y="6464808"/>
            <a:ext cx="1115568" cy="228600"/>
          </a:xfrm>
          <a:prstGeom prst="rect">
            <a:avLst/>
          </a:prstGeom>
          <a:noFill/>
        </p:spPr>
        <p:txBody>
          <a:bodyPr wrap="square" lIns="0" rIns="0" tIns="0" bIns="0" anchor="t">
            <a:spAutoFit/>
          </a:bodyPr>
          <a:lstStyle/>
          <a:p>
            <a:pPr algn="r">
              <a:lnSpc>
                <a:spcPct val="116000"/>
              </a:lnSpc>
              <a:spcBef>
                <a:spcPts val="0"/>
              </a:spcBef>
              <a:spcAft>
                <a:spcPts val="0"/>
              </a:spcAft>
            </a:pPr>
            <a:r>
              <a:rPr sz="1000" b="0" lang="ko-KR" spc="0">
                <a:solidFill>
                  <a:srgbClr val="60696D"/>
                </a:solidFill>
                <a:latin typeface="맑은 고딕"/>
                <a:ea typeface="맑은 고딕"/>
              </a:rPr>
              <a:t>05 / 09</a:t>
            </a:r>
          </a:p>
        </p:txBody>
      </p:sp>
      <p:sp>
        <p:nvSpPr>
          <p:cNvPr id="8" name="TextBox 7"/>
          <p:cNvSpPr txBox="1"/>
          <p:nvPr/>
        </p:nvSpPr>
        <p:spPr>
          <a:xfrm>
            <a:off x="594360" y="1728216"/>
            <a:ext cx="3657600" cy="274320"/>
          </a:xfrm>
          <a:prstGeom prst="rect">
            <a:avLst/>
          </a:prstGeom>
          <a:noFill/>
        </p:spPr>
        <p:txBody>
          <a:bodyPr wrap="square" lIns="0" rIns="0" tIns="0" bIns="0" anchor="t">
            <a:spAutoFit/>
          </a:bodyPr>
          <a:lstStyle/>
          <a:p>
            <a:pPr algn="l">
              <a:lnSpc>
                <a:spcPct val="116000"/>
              </a:lnSpc>
              <a:spcBef>
                <a:spcPts val="0"/>
              </a:spcBef>
              <a:spcAft>
                <a:spcPts val="0"/>
              </a:spcAft>
            </a:pPr>
            <a:r>
              <a:rPr sz="1300" b="1" lang="ko-KR" spc="0">
                <a:solidFill>
                  <a:srgbClr val="60696D"/>
                </a:solidFill>
                <a:latin typeface="맑은 고딕"/>
                <a:ea typeface="맑은 고딕"/>
              </a:rPr>
              <a:t>자료에서 확인한 배경</a:t>
            </a:r>
          </a:p>
        </p:txBody>
      </p:sp>
      <p:sp>
        <p:nvSpPr>
          <p:cNvPr id="9" name="TextBox 8"/>
          <p:cNvSpPr txBox="1"/>
          <p:nvPr/>
        </p:nvSpPr>
        <p:spPr>
          <a:xfrm>
            <a:off x="594360" y="2203704"/>
            <a:ext cx="3657600" cy="960120"/>
          </a:xfrm>
          <a:prstGeom prst="rect">
            <a:avLst/>
          </a:prstGeom>
          <a:noFill/>
        </p:spPr>
        <p:txBody>
          <a:bodyPr wrap="square" lIns="0" rIns="0" tIns="0" bIns="0" anchor="t">
            <a:spAutoFit/>
          </a:bodyPr>
          <a:lstStyle/>
          <a:p>
            <a:pPr algn="l">
              <a:lnSpc>
                <a:spcPct val="116000"/>
              </a:lnSpc>
              <a:spcBef>
                <a:spcPts val="0"/>
              </a:spcBef>
              <a:spcAft>
                <a:spcPts val="0"/>
              </a:spcAft>
            </a:pPr>
            <a:r>
              <a:rPr sz="2900" b="1" lang="ko-KR" spc="0">
                <a:solidFill>
                  <a:srgbClr val="202426"/>
                </a:solidFill>
                <a:latin typeface="맑은 고딕"/>
                <a:ea typeface="맑은 고딕"/>
              </a:rPr>
              <a:t>같은 더위,</a:t>
            </a:r>
          </a:p>
          <a:p>
            <a:pPr algn="l">
              <a:lnSpc>
                <a:spcPct val="116000"/>
              </a:lnSpc>
              <a:spcBef>
                <a:spcPts val="0"/>
              </a:spcBef>
              <a:spcAft>
                <a:spcPts val="0"/>
              </a:spcAft>
            </a:pPr>
            <a:r>
              <a:rPr sz="2900" b="1" lang="ko-KR" spc="0">
                <a:solidFill>
                  <a:srgbClr val="202426"/>
                </a:solidFill>
                <a:latin typeface="맑은 고딕"/>
                <a:ea typeface="맑은 고딕"/>
              </a:rPr>
              <a:t>다른 건강 위험</a:t>
            </a:r>
          </a:p>
        </p:txBody>
      </p:sp>
      <p:sp>
        <p:nvSpPr>
          <p:cNvPr id="10" name="TextBox 9"/>
          <p:cNvSpPr txBox="1"/>
          <p:nvPr/>
        </p:nvSpPr>
        <p:spPr>
          <a:xfrm>
            <a:off x="612648" y="3364992"/>
            <a:ext cx="3703320" cy="301752"/>
          </a:xfrm>
          <a:prstGeom prst="rect">
            <a:avLst/>
          </a:prstGeom>
          <a:noFill/>
        </p:spPr>
        <p:txBody>
          <a:bodyPr wrap="square" lIns="0" rIns="0" tIns="0" bIns="0" anchor="t">
            <a:spAutoFit/>
          </a:bodyPr>
          <a:lstStyle/>
          <a:p>
            <a:pPr algn="l">
              <a:lnSpc>
                <a:spcPct val="116000"/>
              </a:lnSpc>
              <a:spcBef>
                <a:spcPts val="0"/>
              </a:spcBef>
              <a:spcAft>
                <a:spcPts val="0"/>
              </a:spcAft>
            </a:pPr>
            <a:r>
              <a:rPr sz="1400" b="0" lang="ko-KR" spc="0">
                <a:solidFill>
                  <a:srgbClr val="60696D"/>
                </a:solidFill>
                <a:latin typeface="맑은 고딕"/>
                <a:ea typeface="맑은 고딕"/>
              </a:rPr>
              <a:t>고령층 등 취약집단의 보호 필요 [4]</a:t>
            </a:r>
          </a:p>
        </p:txBody>
      </p:sp>
      <p:cxnSp>
        <p:nvCxnSpPr>
          <p:cNvPr id="11" name="Connector 10"/>
          <p:cNvCxnSpPr/>
          <p:nvPr/>
        </p:nvCxnSpPr>
        <p:spPr>
          <a:xfrm>
            <a:off x="594360" y="3822191"/>
            <a:ext cx="3392424"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4023360"/>
            <a:ext cx="356616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1" lang="ko-KR" spc="0">
                <a:solidFill>
                  <a:srgbClr val="60696D"/>
                </a:solidFill>
                <a:latin typeface="맑은 고딕"/>
                <a:ea typeface="맑은 고딕"/>
              </a:rPr>
              <a:t>PAIN POINT · 가설</a:t>
            </a:r>
          </a:p>
        </p:txBody>
      </p:sp>
      <p:sp>
        <p:nvSpPr>
          <p:cNvPr id="13" name="TextBox 12"/>
          <p:cNvSpPr txBox="1"/>
          <p:nvPr/>
        </p:nvSpPr>
        <p:spPr>
          <a:xfrm>
            <a:off x="594360" y="4425696"/>
            <a:ext cx="3657600" cy="731520"/>
          </a:xfrm>
          <a:prstGeom prst="rect">
            <a:avLst/>
          </a:prstGeom>
          <a:noFill/>
        </p:spPr>
        <p:txBody>
          <a:bodyPr wrap="square" lIns="0" rIns="0" tIns="0" bIns="0" anchor="t">
            <a:spAutoFit/>
          </a:bodyPr>
          <a:lstStyle/>
          <a:p>
            <a:pPr algn="l">
              <a:lnSpc>
                <a:spcPct val="116000"/>
              </a:lnSpc>
              <a:spcBef>
                <a:spcPts val="0"/>
              </a:spcBef>
              <a:spcAft>
                <a:spcPts val="0"/>
              </a:spcAft>
            </a:pPr>
            <a:r>
              <a:rPr sz="2200" b="1" lang="ko-KR" spc="0">
                <a:solidFill>
                  <a:srgbClr val="202426"/>
                </a:solidFill>
                <a:latin typeface="맑은 고딕"/>
                <a:ea typeface="맑은 고딕"/>
              </a:rPr>
              <a:t>피할 곳과 도움을</a:t>
            </a:r>
          </a:p>
          <a:p>
            <a:pPr algn="l">
              <a:lnSpc>
                <a:spcPct val="116000"/>
              </a:lnSpc>
              <a:spcBef>
                <a:spcPts val="0"/>
              </a:spcBef>
              <a:spcAft>
                <a:spcPts val="0"/>
              </a:spcAft>
            </a:pPr>
            <a:r>
              <a:rPr sz="2200" b="1" lang="ko-KR" spc="0">
                <a:solidFill>
                  <a:srgbClr val="202426"/>
                </a:solidFill>
                <a:latin typeface="맑은 고딕"/>
                <a:ea typeface="맑은 고딕"/>
              </a:rPr>
              <a:t>제때 찾기 어렵다</a:t>
            </a:r>
          </a:p>
        </p:txBody>
      </p:sp>
      <p:sp>
        <p:nvSpPr>
          <p:cNvPr id="14" name="TextBox 13"/>
          <p:cNvSpPr txBox="1"/>
          <p:nvPr/>
        </p:nvSpPr>
        <p:spPr>
          <a:xfrm>
            <a:off x="4544568" y="1746504"/>
            <a:ext cx="6894576" cy="402336"/>
          </a:xfrm>
          <a:prstGeom prst="rect">
            <a:avLst/>
          </a:prstGeom>
          <a:noFill/>
        </p:spPr>
        <p:txBody>
          <a:bodyPr wrap="square" lIns="0" rIns="0" tIns="0" bIns="0" anchor="t">
            <a:spAutoFit/>
          </a:bodyPr>
          <a:lstStyle/>
          <a:p>
            <a:pPr algn="l">
              <a:lnSpc>
                <a:spcPct val="116000"/>
              </a:lnSpc>
              <a:spcBef>
                <a:spcPts val="0"/>
              </a:spcBef>
              <a:spcAft>
                <a:spcPts val="0"/>
              </a:spcAft>
            </a:pPr>
            <a:r>
              <a:rPr sz="2300" b="1" lang="ko-KR" spc="0">
                <a:solidFill>
                  <a:srgbClr val="202426"/>
                </a:solidFill>
                <a:latin typeface="맑은 고딕"/>
                <a:ea typeface="맑은 고딕"/>
              </a:rPr>
              <a:t>폭염 취약지역 보호 지도</a:t>
            </a:r>
          </a:p>
        </p:txBody>
      </p:sp>
      <p:sp>
        <p:nvSpPr>
          <p:cNvPr id="15" name="TextBox 14"/>
          <p:cNvSpPr txBox="1"/>
          <p:nvPr/>
        </p:nvSpPr>
        <p:spPr>
          <a:xfrm>
            <a:off x="4562856" y="2276856"/>
            <a:ext cx="6858000" cy="274320"/>
          </a:xfrm>
          <a:prstGeom prst="rect">
            <a:avLst/>
          </a:prstGeom>
          <a:noFill/>
        </p:spPr>
        <p:txBody>
          <a:bodyPr wrap="square" lIns="0" rIns="0" tIns="0" bIns="0" anchor="t">
            <a:spAutoFit/>
          </a:bodyPr>
          <a:lstStyle/>
          <a:p>
            <a:pPr algn="l">
              <a:lnSpc>
                <a:spcPct val="116000"/>
              </a:lnSpc>
              <a:spcBef>
                <a:spcPts val="0"/>
              </a:spcBef>
              <a:spcAft>
                <a:spcPts val="0"/>
              </a:spcAft>
            </a:pPr>
            <a:r>
              <a:rPr sz="1100" b="0" lang="ko-KR" spc="0">
                <a:solidFill>
                  <a:srgbClr val="60696D"/>
                </a:solidFill>
                <a:latin typeface="맑은 고딕"/>
                <a:ea typeface="맑은 고딕"/>
              </a:rPr>
              <a:t>개념도 · 실제 지리·위험도 자료 아님</a:t>
            </a:r>
          </a:p>
        </p:txBody>
      </p:sp>
      <p:sp>
        <p:nvSpPr>
          <p:cNvPr id="16" name="Rectangle 15"/>
          <p:cNvSpPr/>
          <p:nvPr/>
        </p:nvSpPr>
        <p:spPr>
          <a:xfrm>
            <a:off x="4562856" y="2761488"/>
            <a:ext cx="612647" cy="484632"/>
          </a:xfrm>
          <a:prstGeom prst="rect">
            <a:avLst/>
          </a:prstGeom>
          <a:solidFill>
            <a:srgbClr val="E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239512" y="2761488"/>
            <a:ext cx="612647" cy="484632"/>
          </a:xfrm>
          <a:prstGeom prst="rect">
            <a:avLst/>
          </a:prstGeom>
          <a:solidFill>
            <a:srgbClr val="E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916168" y="2761488"/>
            <a:ext cx="612647" cy="484632"/>
          </a:xfrm>
          <a:prstGeom prst="rect">
            <a:avLst/>
          </a:prstGeom>
          <a:solidFill>
            <a:srgbClr val="F4D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92824" y="2761488"/>
            <a:ext cx="612647" cy="484632"/>
          </a:xfrm>
          <a:prstGeom prst="rect">
            <a:avLst/>
          </a:prstGeom>
          <a:solidFill>
            <a:srgbClr val="F4D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69480" y="2761488"/>
            <a:ext cx="612647" cy="484632"/>
          </a:xfrm>
          <a:prstGeom prst="rect">
            <a:avLst/>
          </a:prstGeom>
          <a:solidFill>
            <a:srgbClr val="E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62856" y="3300984"/>
            <a:ext cx="612647" cy="484632"/>
          </a:xfrm>
          <a:prstGeom prst="rect">
            <a:avLst/>
          </a:prstGeom>
          <a:solidFill>
            <a:srgbClr val="E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239512" y="3300984"/>
            <a:ext cx="612647" cy="484632"/>
          </a:xfrm>
          <a:prstGeom prst="rect">
            <a:avLst/>
          </a:prstGeom>
          <a:solidFill>
            <a:srgbClr val="F4D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16168" y="3300984"/>
            <a:ext cx="612647" cy="484632"/>
          </a:xfrm>
          <a:prstGeom prst="rect">
            <a:avLst/>
          </a:prstGeom>
          <a:solidFill>
            <a:srgbClr val="DE9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92824" y="3300984"/>
            <a:ext cx="612647" cy="484632"/>
          </a:xfrm>
          <a:prstGeom prst="rect">
            <a:avLst/>
          </a:prstGeom>
          <a:solidFill>
            <a:srgbClr val="DE9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269480" y="3300984"/>
            <a:ext cx="612647" cy="484632"/>
          </a:xfrm>
          <a:prstGeom prst="rect">
            <a:avLst/>
          </a:prstGeom>
          <a:solidFill>
            <a:srgbClr val="F4D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62856" y="3840480"/>
            <a:ext cx="612647" cy="484632"/>
          </a:xfrm>
          <a:prstGeom prst="rect">
            <a:avLst/>
          </a:prstGeom>
          <a:solidFill>
            <a:srgbClr val="E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39512" y="3840480"/>
            <a:ext cx="612647" cy="484632"/>
          </a:xfrm>
          <a:prstGeom prst="rect">
            <a:avLst/>
          </a:prstGeom>
          <a:solidFill>
            <a:srgbClr val="F4D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916168" y="3840480"/>
            <a:ext cx="612647" cy="484632"/>
          </a:xfrm>
          <a:prstGeom prst="rect">
            <a:avLst/>
          </a:prstGeom>
          <a:solidFill>
            <a:srgbClr val="DE9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592824" y="3840480"/>
            <a:ext cx="612647" cy="484632"/>
          </a:xfrm>
          <a:prstGeom prst="rect">
            <a:avLst/>
          </a:prstGeom>
          <a:solidFill>
            <a:srgbClr val="F4D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269480" y="3840480"/>
            <a:ext cx="612647" cy="484632"/>
          </a:xfrm>
          <a:prstGeom prst="rect">
            <a:avLst/>
          </a:prstGeom>
          <a:solidFill>
            <a:srgbClr val="E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62856" y="4379976"/>
            <a:ext cx="612647" cy="484632"/>
          </a:xfrm>
          <a:prstGeom prst="rect">
            <a:avLst/>
          </a:prstGeom>
          <a:solidFill>
            <a:srgbClr val="E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239512" y="4379976"/>
            <a:ext cx="612647" cy="484632"/>
          </a:xfrm>
          <a:prstGeom prst="rect">
            <a:avLst/>
          </a:prstGeom>
          <a:solidFill>
            <a:srgbClr val="E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916168" y="4379976"/>
            <a:ext cx="612647" cy="484632"/>
          </a:xfrm>
          <a:prstGeom prst="rect">
            <a:avLst/>
          </a:prstGeom>
          <a:solidFill>
            <a:srgbClr val="F4D9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592824" y="4379976"/>
            <a:ext cx="612647" cy="484632"/>
          </a:xfrm>
          <a:prstGeom prst="rect">
            <a:avLst/>
          </a:prstGeom>
          <a:solidFill>
            <a:srgbClr val="E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269480" y="4379976"/>
            <a:ext cx="612647" cy="484632"/>
          </a:xfrm>
          <a:prstGeom prst="rect">
            <a:avLst/>
          </a:prstGeom>
          <a:solidFill>
            <a:srgbClr val="EDF0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4745736" y="3931920"/>
            <a:ext cx="274320" cy="274320"/>
          </a:xfrm>
          <a:prstGeom prst="ellipse">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45736" y="3922776"/>
            <a:ext cx="274320" cy="274320"/>
          </a:xfrm>
          <a:prstGeom prst="rect">
            <a:avLst/>
          </a:prstGeom>
          <a:noFill/>
        </p:spPr>
        <p:txBody>
          <a:bodyPr wrap="square" lIns="0" rIns="0" tIns="0" bIns="0" anchor="t">
            <a:spAutoFit/>
          </a:bodyPr>
          <a:lstStyle/>
          <a:p>
            <a:pPr algn="ctr">
              <a:lnSpc>
                <a:spcPct val="116000"/>
              </a:lnSpc>
              <a:spcBef>
                <a:spcPts val="0"/>
              </a:spcBef>
              <a:spcAft>
                <a:spcPts val="0"/>
              </a:spcAft>
            </a:pPr>
            <a:r>
              <a:rPr sz="1300" b="1" lang="ko-KR" spc="0">
                <a:solidFill>
                  <a:srgbClr val="FFFFFF"/>
                </a:solidFill>
                <a:latin typeface="맑은 고딕"/>
                <a:ea typeface="맑은 고딕"/>
              </a:rPr>
              <a:t>+</a:t>
            </a:r>
          </a:p>
        </p:txBody>
      </p:sp>
      <p:sp>
        <p:nvSpPr>
          <p:cNvPr id="38" name="Oval 37"/>
          <p:cNvSpPr/>
          <p:nvPr/>
        </p:nvSpPr>
        <p:spPr>
          <a:xfrm>
            <a:off x="7452360" y="3392424"/>
            <a:ext cx="274320" cy="274320"/>
          </a:xfrm>
          <a:prstGeom prst="ellipse">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452360" y="3383280"/>
            <a:ext cx="274320" cy="274320"/>
          </a:xfrm>
          <a:prstGeom prst="rect">
            <a:avLst/>
          </a:prstGeom>
          <a:noFill/>
        </p:spPr>
        <p:txBody>
          <a:bodyPr wrap="square" lIns="0" rIns="0" tIns="0" bIns="0" anchor="t">
            <a:spAutoFit/>
          </a:bodyPr>
          <a:lstStyle/>
          <a:p>
            <a:pPr algn="ctr">
              <a:lnSpc>
                <a:spcPct val="116000"/>
              </a:lnSpc>
              <a:spcBef>
                <a:spcPts val="0"/>
              </a:spcBef>
              <a:spcAft>
                <a:spcPts val="0"/>
              </a:spcAft>
            </a:pPr>
            <a:r>
              <a:rPr sz="1300" b="1" lang="ko-KR" spc="0">
                <a:solidFill>
                  <a:srgbClr val="FFFFFF"/>
                </a:solidFill>
                <a:latin typeface="맑은 고딕"/>
                <a:ea typeface="맑은 고딕"/>
              </a:rPr>
              <a:t>+</a:t>
            </a:r>
          </a:p>
        </p:txBody>
      </p:sp>
      <p:sp>
        <p:nvSpPr>
          <p:cNvPr id="40" name="Oval 39"/>
          <p:cNvSpPr/>
          <p:nvPr/>
        </p:nvSpPr>
        <p:spPr>
          <a:xfrm>
            <a:off x="4572000" y="5056632"/>
            <a:ext cx="128016" cy="128016"/>
          </a:xfrm>
          <a:prstGeom prst="ellipse">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764024" y="5020056"/>
            <a:ext cx="621792" cy="237744"/>
          </a:xfrm>
          <a:prstGeom prst="rect">
            <a:avLst/>
          </a:prstGeom>
          <a:noFill/>
        </p:spPr>
        <p:txBody>
          <a:bodyPr wrap="square" lIns="0" rIns="0" tIns="0" bIns="0" anchor="t">
            <a:spAutoFit/>
          </a:bodyPr>
          <a:lstStyle/>
          <a:p>
            <a:pPr algn="l">
              <a:lnSpc>
                <a:spcPct val="116000"/>
              </a:lnSpc>
              <a:spcBef>
                <a:spcPts val="0"/>
              </a:spcBef>
              <a:spcAft>
                <a:spcPts val="0"/>
              </a:spcAft>
            </a:pPr>
            <a:r>
              <a:rPr sz="1000" b="0" lang="ko-KR" spc="0">
                <a:solidFill>
                  <a:srgbClr val="60696D"/>
                </a:solidFill>
                <a:latin typeface="맑은 고딕"/>
                <a:ea typeface="맑은 고딕"/>
              </a:rPr>
              <a:t>쉼터</a:t>
            </a:r>
          </a:p>
        </p:txBody>
      </p:sp>
      <p:sp>
        <p:nvSpPr>
          <p:cNvPr id="42" name="Rectangle 41"/>
          <p:cNvSpPr/>
          <p:nvPr/>
        </p:nvSpPr>
        <p:spPr>
          <a:xfrm>
            <a:off x="5541264" y="5065776"/>
            <a:ext cx="137160" cy="118872"/>
          </a:xfrm>
          <a:prstGeom prst="rect">
            <a:avLst/>
          </a:prstGeom>
          <a:solidFill>
            <a:srgbClr val="DE93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815584" y="5020056"/>
            <a:ext cx="2194560" cy="237744"/>
          </a:xfrm>
          <a:prstGeom prst="rect">
            <a:avLst/>
          </a:prstGeom>
          <a:noFill/>
        </p:spPr>
        <p:txBody>
          <a:bodyPr wrap="square" lIns="0" rIns="0" tIns="0" bIns="0" anchor="t">
            <a:spAutoFit/>
          </a:bodyPr>
          <a:lstStyle/>
          <a:p>
            <a:pPr algn="l">
              <a:lnSpc>
                <a:spcPct val="116000"/>
              </a:lnSpc>
              <a:spcBef>
                <a:spcPts val="0"/>
              </a:spcBef>
              <a:spcAft>
                <a:spcPts val="0"/>
              </a:spcAft>
            </a:pPr>
            <a:r>
              <a:rPr sz="1000" b="0" lang="ko-KR" spc="0">
                <a:solidFill>
                  <a:srgbClr val="60696D"/>
                </a:solidFill>
                <a:latin typeface="맑은 고딕"/>
                <a:ea typeface="맑은 고딕"/>
              </a:rPr>
              <a:t>보호 우선 검토 구역</a:t>
            </a:r>
          </a:p>
        </p:txBody>
      </p:sp>
      <p:cxnSp>
        <p:nvCxnSpPr>
          <p:cNvPr id="44" name="Connector 43"/>
          <p:cNvCxnSpPr/>
          <p:nvPr/>
        </p:nvCxnSpPr>
        <p:spPr>
          <a:xfrm>
            <a:off x="8211312" y="2743200"/>
            <a:ext cx="0" cy="2523744"/>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8485632" y="2816352"/>
            <a:ext cx="457200" cy="274320"/>
          </a:xfrm>
          <a:prstGeom prst="rect">
            <a:avLst/>
          </a:prstGeom>
          <a:noFill/>
        </p:spPr>
        <p:txBody>
          <a:bodyPr wrap="square" lIns="0" rIns="0" tIns="0" bIns="0" anchor="t">
            <a:spAutoFit/>
          </a:bodyPr>
          <a:lstStyle/>
          <a:p>
            <a:pPr algn="l">
              <a:lnSpc>
                <a:spcPct val="116000"/>
              </a:lnSpc>
              <a:spcBef>
                <a:spcPts val="0"/>
              </a:spcBef>
              <a:spcAft>
                <a:spcPts val="0"/>
              </a:spcAft>
            </a:pPr>
            <a:r>
              <a:rPr sz="1300" b="1" lang="ko-KR" spc="0">
                <a:solidFill>
                  <a:srgbClr val="087F75"/>
                </a:solidFill>
                <a:latin typeface="맑은 고딕"/>
                <a:ea typeface="맑은 고딕"/>
              </a:rPr>
              <a:t>01</a:t>
            </a:r>
          </a:p>
        </p:txBody>
      </p:sp>
      <p:sp>
        <p:nvSpPr>
          <p:cNvPr id="46" name="TextBox 45"/>
          <p:cNvSpPr txBox="1"/>
          <p:nvPr/>
        </p:nvSpPr>
        <p:spPr>
          <a:xfrm>
            <a:off x="9052560" y="2779776"/>
            <a:ext cx="2286000" cy="320040"/>
          </a:xfrm>
          <a:prstGeom prst="rect">
            <a:avLst/>
          </a:prstGeom>
          <a:noFill/>
        </p:spPr>
        <p:txBody>
          <a:bodyPr wrap="square" lIns="0" rIns="0" tIns="0" bIns="0" anchor="t">
            <a:spAutoFit/>
          </a:bodyPr>
          <a:lstStyle/>
          <a:p>
            <a:pPr algn="l">
              <a:lnSpc>
                <a:spcPct val="116000"/>
              </a:lnSpc>
              <a:spcBef>
                <a:spcPts val="0"/>
              </a:spcBef>
              <a:spcAft>
                <a:spcPts val="0"/>
              </a:spcAft>
            </a:pPr>
            <a:r>
              <a:rPr sz="1800" b="1" lang="ko-KR" spc="0">
                <a:solidFill>
                  <a:srgbClr val="202426"/>
                </a:solidFill>
                <a:latin typeface="맑은 고딕"/>
                <a:ea typeface="맑은 고딕"/>
              </a:rPr>
              <a:t>위험 파악</a:t>
            </a:r>
          </a:p>
        </p:txBody>
      </p:sp>
      <p:sp>
        <p:nvSpPr>
          <p:cNvPr id="47" name="TextBox 46"/>
          <p:cNvSpPr txBox="1"/>
          <p:nvPr/>
        </p:nvSpPr>
        <p:spPr>
          <a:xfrm>
            <a:off x="9052560" y="3163824"/>
            <a:ext cx="2350008" cy="274320"/>
          </a:xfrm>
          <a:prstGeom prst="rect">
            <a:avLst/>
          </a:prstGeom>
          <a:noFill/>
        </p:spPr>
        <p:txBody>
          <a:bodyPr wrap="square" lIns="0" rIns="0" tIns="0" bIns="0" anchor="t">
            <a:spAutoFit/>
          </a:bodyPr>
          <a:lstStyle/>
          <a:p>
            <a:pPr algn="l">
              <a:lnSpc>
                <a:spcPct val="116000"/>
              </a:lnSpc>
              <a:spcBef>
                <a:spcPts val="0"/>
              </a:spcBef>
              <a:spcAft>
                <a:spcPts val="0"/>
              </a:spcAft>
            </a:pPr>
            <a:r>
              <a:rPr sz="1200" b="0" lang="ko-KR" spc="0">
                <a:solidFill>
                  <a:srgbClr val="60696D"/>
                </a:solidFill>
                <a:latin typeface="맑은 고딕"/>
                <a:ea typeface="맑은 고딕"/>
              </a:rPr>
              <a:t>기상 + 지역 집계 정보</a:t>
            </a:r>
          </a:p>
        </p:txBody>
      </p:sp>
      <p:sp>
        <p:nvSpPr>
          <p:cNvPr id="48" name="TextBox 47"/>
          <p:cNvSpPr txBox="1"/>
          <p:nvPr/>
        </p:nvSpPr>
        <p:spPr>
          <a:xfrm>
            <a:off x="8485632" y="3639312"/>
            <a:ext cx="457200" cy="274320"/>
          </a:xfrm>
          <a:prstGeom prst="rect">
            <a:avLst/>
          </a:prstGeom>
          <a:noFill/>
        </p:spPr>
        <p:txBody>
          <a:bodyPr wrap="square" lIns="0" rIns="0" tIns="0" bIns="0" anchor="t">
            <a:spAutoFit/>
          </a:bodyPr>
          <a:lstStyle/>
          <a:p>
            <a:pPr algn="l">
              <a:lnSpc>
                <a:spcPct val="116000"/>
              </a:lnSpc>
              <a:spcBef>
                <a:spcPts val="0"/>
              </a:spcBef>
              <a:spcAft>
                <a:spcPts val="0"/>
              </a:spcAft>
            </a:pPr>
            <a:r>
              <a:rPr sz="1300" b="1" lang="ko-KR" spc="0">
                <a:solidFill>
                  <a:srgbClr val="087F75"/>
                </a:solidFill>
                <a:latin typeface="맑은 고딕"/>
                <a:ea typeface="맑은 고딕"/>
              </a:rPr>
              <a:t>02</a:t>
            </a:r>
          </a:p>
        </p:txBody>
      </p:sp>
      <p:sp>
        <p:nvSpPr>
          <p:cNvPr id="49" name="TextBox 48"/>
          <p:cNvSpPr txBox="1"/>
          <p:nvPr/>
        </p:nvSpPr>
        <p:spPr>
          <a:xfrm>
            <a:off x="9052560" y="3602736"/>
            <a:ext cx="2286000" cy="320040"/>
          </a:xfrm>
          <a:prstGeom prst="rect">
            <a:avLst/>
          </a:prstGeom>
          <a:noFill/>
        </p:spPr>
        <p:txBody>
          <a:bodyPr wrap="square" lIns="0" rIns="0" tIns="0" bIns="0" anchor="t">
            <a:spAutoFit/>
          </a:bodyPr>
          <a:lstStyle/>
          <a:p>
            <a:pPr algn="l">
              <a:lnSpc>
                <a:spcPct val="116000"/>
              </a:lnSpc>
              <a:spcBef>
                <a:spcPts val="0"/>
              </a:spcBef>
              <a:spcAft>
                <a:spcPts val="0"/>
              </a:spcAft>
            </a:pPr>
            <a:r>
              <a:rPr sz="1800" b="1" lang="ko-KR" spc="0">
                <a:solidFill>
                  <a:srgbClr val="202426"/>
                </a:solidFill>
                <a:latin typeface="맑은 고딕"/>
                <a:ea typeface="맑은 고딕"/>
              </a:rPr>
              <a:t>보호 안내</a:t>
            </a:r>
          </a:p>
        </p:txBody>
      </p:sp>
      <p:sp>
        <p:nvSpPr>
          <p:cNvPr id="50" name="TextBox 49"/>
          <p:cNvSpPr txBox="1"/>
          <p:nvPr/>
        </p:nvSpPr>
        <p:spPr>
          <a:xfrm>
            <a:off x="9052560" y="3986784"/>
            <a:ext cx="2350008" cy="274320"/>
          </a:xfrm>
          <a:prstGeom prst="rect">
            <a:avLst/>
          </a:prstGeom>
          <a:noFill/>
        </p:spPr>
        <p:txBody>
          <a:bodyPr wrap="square" lIns="0" rIns="0" tIns="0" bIns="0" anchor="t">
            <a:spAutoFit/>
          </a:bodyPr>
          <a:lstStyle/>
          <a:p>
            <a:pPr algn="l">
              <a:lnSpc>
                <a:spcPct val="116000"/>
              </a:lnSpc>
              <a:spcBef>
                <a:spcPts val="0"/>
              </a:spcBef>
              <a:spcAft>
                <a:spcPts val="0"/>
              </a:spcAft>
            </a:pPr>
            <a:r>
              <a:rPr sz="1200" b="0" lang="ko-KR" spc="0">
                <a:solidFill>
                  <a:srgbClr val="60696D"/>
                </a:solidFill>
                <a:latin typeface="맑은 고딕"/>
                <a:ea typeface="맑은 고딕"/>
              </a:rPr>
              <a:t>쉼터 · 냉방 지원 정보</a:t>
            </a:r>
          </a:p>
        </p:txBody>
      </p:sp>
      <p:sp>
        <p:nvSpPr>
          <p:cNvPr id="51" name="TextBox 50"/>
          <p:cNvSpPr txBox="1"/>
          <p:nvPr/>
        </p:nvSpPr>
        <p:spPr>
          <a:xfrm>
            <a:off x="8485632" y="4462272"/>
            <a:ext cx="457200" cy="274320"/>
          </a:xfrm>
          <a:prstGeom prst="rect">
            <a:avLst/>
          </a:prstGeom>
          <a:noFill/>
        </p:spPr>
        <p:txBody>
          <a:bodyPr wrap="square" lIns="0" rIns="0" tIns="0" bIns="0" anchor="t">
            <a:spAutoFit/>
          </a:bodyPr>
          <a:lstStyle/>
          <a:p>
            <a:pPr algn="l">
              <a:lnSpc>
                <a:spcPct val="116000"/>
              </a:lnSpc>
              <a:spcBef>
                <a:spcPts val="0"/>
              </a:spcBef>
              <a:spcAft>
                <a:spcPts val="0"/>
              </a:spcAft>
            </a:pPr>
            <a:r>
              <a:rPr sz="1300" b="1" lang="ko-KR" spc="0">
                <a:solidFill>
                  <a:srgbClr val="087F75"/>
                </a:solidFill>
                <a:latin typeface="맑은 고딕"/>
                <a:ea typeface="맑은 고딕"/>
              </a:rPr>
              <a:t>03</a:t>
            </a:r>
          </a:p>
        </p:txBody>
      </p:sp>
      <p:sp>
        <p:nvSpPr>
          <p:cNvPr id="52" name="TextBox 51"/>
          <p:cNvSpPr txBox="1"/>
          <p:nvPr/>
        </p:nvSpPr>
        <p:spPr>
          <a:xfrm>
            <a:off x="9052560" y="4425696"/>
            <a:ext cx="2286000" cy="320040"/>
          </a:xfrm>
          <a:prstGeom prst="rect">
            <a:avLst/>
          </a:prstGeom>
          <a:noFill/>
        </p:spPr>
        <p:txBody>
          <a:bodyPr wrap="square" lIns="0" rIns="0" tIns="0" bIns="0" anchor="t">
            <a:spAutoFit/>
          </a:bodyPr>
          <a:lstStyle/>
          <a:p>
            <a:pPr algn="l">
              <a:lnSpc>
                <a:spcPct val="116000"/>
              </a:lnSpc>
              <a:spcBef>
                <a:spcPts val="0"/>
              </a:spcBef>
              <a:spcAft>
                <a:spcPts val="0"/>
              </a:spcAft>
            </a:pPr>
            <a:r>
              <a:rPr sz="1800" b="1" lang="ko-KR" spc="0">
                <a:solidFill>
                  <a:srgbClr val="202426"/>
                </a:solidFill>
                <a:latin typeface="맑은 고딕"/>
                <a:ea typeface="맑은 고딕"/>
              </a:rPr>
              <a:t>현장 연결</a:t>
            </a:r>
          </a:p>
        </p:txBody>
      </p:sp>
      <p:sp>
        <p:nvSpPr>
          <p:cNvPr id="53" name="TextBox 52"/>
          <p:cNvSpPr txBox="1"/>
          <p:nvPr/>
        </p:nvSpPr>
        <p:spPr>
          <a:xfrm>
            <a:off x="9052560" y="4809744"/>
            <a:ext cx="2350008" cy="274320"/>
          </a:xfrm>
          <a:prstGeom prst="rect">
            <a:avLst/>
          </a:prstGeom>
          <a:noFill/>
        </p:spPr>
        <p:txBody>
          <a:bodyPr wrap="square" lIns="0" rIns="0" tIns="0" bIns="0" anchor="t">
            <a:spAutoFit/>
          </a:bodyPr>
          <a:lstStyle/>
          <a:p>
            <a:pPr algn="l">
              <a:lnSpc>
                <a:spcPct val="116000"/>
              </a:lnSpc>
              <a:spcBef>
                <a:spcPts val="0"/>
              </a:spcBef>
              <a:spcAft>
                <a:spcPts val="0"/>
              </a:spcAft>
            </a:pPr>
            <a:r>
              <a:rPr sz="1200" b="0" lang="ko-KR" spc="0">
                <a:solidFill>
                  <a:srgbClr val="60696D"/>
                </a:solidFill>
                <a:latin typeface="맑은 고딕"/>
                <a:ea typeface="맑은 고딕"/>
              </a:rPr>
              <a:t>방문 확인 · 지역 지원</a:t>
            </a:r>
          </a:p>
        </p:txBody>
      </p:sp>
      <p:sp>
        <p:nvSpPr>
          <p:cNvPr id="54" name="Rectangle 53"/>
          <p:cNvSpPr/>
          <p:nvPr/>
        </p:nvSpPr>
        <p:spPr>
          <a:xfrm>
            <a:off x="548640" y="5504688"/>
            <a:ext cx="11082528" cy="448056"/>
          </a:xfrm>
          <a:prstGeom prst="rect">
            <a:avLst/>
          </a:prstGeom>
          <a:solidFill>
            <a:srgbClr val="FBF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48640" y="5504688"/>
            <a:ext cx="50292" cy="448056"/>
          </a:xfrm>
          <a:prstGeom prst="rect">
            <a:avLst/>
          </a:prstGeom>
          <a:solidFill>
            <a:srgbClr val="E5B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31520" y="5586984"/>
            <a:ext cx="10680192" cy="292608"/>
          </a:xfrm>
          <a:prstGeom prst="rect">
            <a:avLst/>
          </a:prstGeom>
          <a:noFill/>
        </p:spPr>
        <p:txBody>
          <a:bodyPr wrap="square" lIns="0" rIns="0" tIns="0" bIns="0" anchor="t">
            <a:spAutoFit/>
          </a:bodyPr>
          <a:lstStyle/>
          <a:p>
            <a:pPr algn="l">
              <a:lnSpc>
                <a:spcPct val="116000"/>
              </a:lnSpc>
              <a:spcBef>
                <a:spcPts val="0"/>
              </a:spcBef>
              <a:spcAft>
                <a:spcPts val="0"/>
              </a:spcAft>
            </a:pPr>
            <a:r>
              <a:rPr sz="1600" b="1" lang="ko-KR" spc="0">
                <a:solidFill>
                  <a:srgbClr val="202426"/>
                </a:solidFill>
                <a:latin typeface="맑은 고딕"/>
                <a:ea typeface="맑은 고딕"/>
              </a:rPr>
              <a:t>한마디로: 더 위험한 지역을 파악하고, 쉼터와 현장 지원을 연결한다.</a:t>
            </a:r>
          </a:p>
        </p:txBody>
      </p:sp>
      <p:sp>
        <p:nvSpPr>
          <p:cNvPr id="57" name="TextBox 56"/>
          <p:cNvSpPr txBox="1"/>
          <p:nvPr/>
        </p:nvSpPr>
        <p:spPr>
          <a:xfrm>
            <a:off x="576072" y="6108192"/>
            <a:ext cx="4663440" cy="201168"/>
          </a:xfrm>
          <a:prstGeom prst="rect">
            <a:avLst/>
          </a:prstGeom>
          <a:noFill/>
        </p:spPr>
        <p:txBody>
          <a:bodyPr wrap="square" lIns="0" rIns="0" tIns="0" bIns="0" anchor="t">
            <a:spAutoFit/>
          </a:bodyPr>
          <a:lstStyle/>
          <a:p>
            <a:pPr algn="l">
              <a:lnSpc>
                <a:spcPct val="116000"/>
              </a:lnSpc>
              <a:spcBef>
                <a:spcPts val="0"/>
              </a:spcBef>
              <a:spcAft>
                <a:spcPts val="0"/>
              </a:spcAft>
            </a:pPr>
            <a:r>
              <a:rPr sz="900" b="0" lang="ko-KR" spc="0">
                <a:solidFill>
                  <a:srgbClr val="60696D"/>
                </a:solidFill>
                <a:latin typeface="맑은 고딕"/>
                <a:ea typeface="맑은 고딕"/>
                <a:hlinkClick r:id="rId2"/>
              </a:rPr>
              <a:t>[4] 질병관리청, 2026.07.12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0607040" cy="219456"/>
          </a:xfrm>
          <a:prstGeom prst="rect">
            <a:avLst/>
          </a:prstGeom>
          <a:noFill/>
        </p:spPr>
        <p:txBody>
          <a:bodyPr wrap="square" lIns="0" rIns="0" tIns="0" bIns="0" anchor="t">
            <a:spAutoFit/>
          </a:bodyPr>
          <a:lstStyle/>
          <a:p>
            <a:pPr algn="l">
              <a:lnSpc>
                <a:spcPct val="116000"/>
              </a:lnSpc>
              <a:spcBef>
                <a:spcPts val="0"/>
              </a:spcBef>
              <a:spcAft>
                <a:spcPts val="0"/>
              </a:spcAft>
            </a:pPr>
            <a:r>
              <a:rPr sz="1000" b="1" lang="ko-KR" spc="0">
                <a:solidFill>
                  <a:srgbClr val="087F75"/>
                </a:solidFill>
                <a:latin typeface="맑은 고딕"/>
                <a:ea typeface="맑은 고딕"/>
              </a:rPr>
              <a:t>실행 계획  /  기술 로드맵</a:t>
            </a:r>
          </a:p>
        </p:txBody>
      </p:sp>
      <p:sp>
        <p:nvSpPr>
          <p:cNvPr id="4" name="TextBox 3"/>
          <p:cNvSpPr txBox="1"/>
          <p:nvPr/>
        </p:nvSpPr>
        <p:spPr>
          <a:xfrm>
            <a:off x="548640" y="795528"/>
            <a:ext cx="10972800" cy="585216"/>
          </a:xfrm>
          <a:prstGeom prst="rect">
            <a:avLst/>
          </a:prstGeom>
          <a:noFill/>
        </p:spPr>
        <p:txBody>
          <a:bodyPr wrap="square" lIns="0" rIns="0" tIns="0" bIns="0" anchor="t">
            <a:spAutoFit/>
          </a:bodyPr>
          <a:lstStyle/>
          <a:p>
            <a:pPr algn="l">
              <a:lnSpc>
                <a:spcPct val="116000"/>
              </a:lnSpc>
              <a:spcBef>
                <a:spcPts val="0"/>
              </a:spcBef>
              <a:spcAft>
                <a:spcPts val="0"/>
              </a:spcAft>
            </a:pPr>
            <a:r>
              <a:rPr sz="2900" b="1" lang="ko-KR" spc="0">
                <a:solidFill>
                  <a:srgbClr val="202426"/>
                </a:solidFill>
                <a:latin typeface="맑은 고딕"/>
                <a:ea typeface="맑은 고딕"/>
              </a:rPr>
              <a:t>작은 실험에서 시작하는 8주 로드맵</a:t>
            </a:r>
          </a:p>
        </p:txBody>
      </p:sp>
      <p:sp>
        <p:nvSpPr>
          <p:cNvPr id="5" name="TextBox 4"/>
          <p:cNvSpPr txBox="1"/>
          <p:nvPr/>
        </p:nvSpPr>
        <p:spPr>
          <a:xfrm>
            <a:off x="576072" y="1444752"/>
            <a:ext cx="10881360" cy="365760"/>
          </a:xfrm>
          <a:prstGeom prst="rect">
            <a:avLst/>
          </a:prstGeom>
          <a:noFill/>
        </p:spPr>
        <p:txBody>
          <a:bodyPr wrap="square" lIns="0" rIns="0" tIns="0" bIns="0" anchor="t">
            <a:spAutoFit/>
          </a:bodyPr>
          <a:lstStyle/>
          <a:p>
            <a:pPr algn="l">
              <a:lnSpc>
                <a:spcPct val="116000"/>
              </a:lnSpc>
              <a:spcBef>
                <a:spcPts val="0"/>
              </a:spcBef>
              <a:spcAft>
                <a:spcPts val="0"/>
              </a:spcAft>
            </a:pPr>
            <a:r>
              <a:rPr sz="1400" b="0" lang="ko-KR" spc="0">
                <a:solidFill>
                  <a:srgbClr val="60696D"/>
                </a:solidFill>
                <a:latin typeface="맑은 고딕"/>
                <a:ea typeface="맑은 고딕"/>
              </a:rPr>
              <a:t>일정과 단계는 설계 제안이며, 인터뷰를 거쳐 세 주제 중 하나를 선택한다.</a:t>
            </a:r>
          </a:p>
        </p:txBody>
      </p:sp>
      <p:cxnSp>
        <p:nvCxnSpPr>
          <p:cNvPr id="6" name="Connector 5"/>
          <p:cNvCxnSpPr/>
          <p:nvPr/>
        </p:nvCxnSpPr>
        <p:spPr>
          <a:xfrm>
            <a:off x="548640" y="6364224"/>
            <a:ext cx="11082528"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5486400" cy="182880"/>
          </a:xfrm>
          <a:prstGeom prst="rect">
            <a:avLst/>
          </a:prstGeom>
          <a:noFill/>
        </p:spPr>
        <p:txBody>
          <a:bodyPr wrap="square" lIns="0" rIns="0" tIns="0" bIns="0" anchor="t">
            <a:spAutoFit/>
          </a:bodyPr>
          <a:lstStyle/>
          <a:p>
            <a:pPr algn="l">
              <a:lnSpc>
                <a:spcPct val="116000"/>
              </a:lnSpc>
              <a:spcBef>
                <a:spcPts val="0"/>
              </a:spcBef>
              <a:spcAft>
                <a:spcPts val="0"/>
              </a:spcAft>
            </a:pPr>
            <a:r>
              <a:rPr sz="900" b="0" lang="ko-KR" spc="0">
                <a:solidFill>
                  <a:srgbClr val="60696D"/>
                </a:solidFill>
                <a:latin typeface="맑은 고딕"/>
                <a:ea typeface="맑은 고딕"/>
              </a:rPr>
              <a:t>사회혁신 · 기술기반 디자인 제안</a:t>
            </a:r>
          </a:p>
        </p:txBody>
      </p:sp>
      <p:sp>
        <p:nvSpPr>
          <p:cNvPr id="8" name="TextBox 7"/>
          <p:cNvSpPr txBox="1"/>
          <p:nvPr/>
        </p:nvSpPr>
        <p:spPr>
          <a:xfrm>
            <a:off x="10515600" y="6464808"/>
            <a:ext cx="1115568" cy="228600"/>
          </a:xfrm>
          <a:prstGeom prst="rect">
            <a:avLst/>
          </a:prstGeom>
          <a:noFill/>
        </p:spPr>
        <p:txBody>
          <a:bodyPr wrap="square" lIns="0" rIns="0" tIns="0" bIns="0" anchor="t">
            <a:spAutoFit/>
          </a:bodyPr>
          <a:lstStyle/>
          <a:p>
            <a:pPr algn="r">
              <a:lnSpc>
                <a:spcPct val="116000"/>
              </a:lnSpc>
              <a:spcBef>
                <a:spcPts val="0"/>
              </a:spcBef>
              <a:spcAft>
                <a:spcPts val="0"/>
              </a:spcAft>
            </a:pPr>
            <a:r>
              <a:rPr sz="1000" b="0" lang="ko-KR" spc="0">
                <a:solidFill>
                  <a:srgbClr val="60696D"/>
                </a:solidFill>
                <a:latin typeface="맑은 고딕"/>
                <a:ea typeface="맑은 고딕"/>
              </a:rPr>
              <a:t>06 / 09</a:t>
            </a:r>
          </a:p>
        </p:txBody>
      </p:sp>
      <p:cxnSp>
        <p:nvCxnSpPr>
          <p:cNvPr id="9" name="Connector 8"/>
          <p:cNvCxnSpPr/>
          <p:nvPr/>
        </p:nvCxnSpPr>
        <p:spPr>
          <a:xfrm>
            <a:off x="841248" y="2423160"/>
            <a:ext cx="10314432" cy="0"/>
          </a:xfrm>
          <a:prstGeom prst="line">
            <a:avLst/>
          </a:prstGeom>
          <a:ln w="38100">
            <a:solidFill>
              <a:srgbClr val="DCE2E3"/>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694944" y="2276856"/>
            <a:ext cx="283464" cy="283464"/>
          </a:xfrm>
          <a:prstGeom prst="ellipse">
            <a:avLst/>
          </a:prstGeom>
          <a:solidFill>
            <a:srgbClr val="D4516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837943"/>
            <a:ext cx="2487168" cy="329184"/>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60696D"/>
                </a:solidFill>
                <a:latin typeface="맑은 고딕"/>
                <a:ea typeface="맑은 고딕"/>
              </a:rPr>
              <a:t>1–2주</a:t>
            </a:r>
          </a:p>
        </p:txBody>
      </p:sp>
      <p:sp>
        <p:nvSpPr>
          <p:cNvPr id="12" name="TextBox 11"/>
          <p:cNvSpPr txBox="1"/>
          <p:nvPr/>
        </p:nvSpPr>
        <p:spPr>
          <a:xfrm>
            <a:off x="658368" y="2834640"/>
            <a:ext cx="2551176" cy="393192"/>
          </a:xfrm>
          <a:prstGeom prst="rect">
            <a:avLst/>
          </a:prstGeom>
          <a:noFill/>
        </p:spPr>
        <p:txBody>
          <a:bodyPr wrap="square" lIns="0" rIns="0" tIns="0" bIns="0" anchor="t">
            <a:spAutoFit/>
          </a:bodyPr>
          <a:lstStyle/>
          <a:p>
            <a:pPr algn="l">
              <a:lnSpc>
                <a:spcPct val="116000"/>
              </a:lnSpc>
              <a:spcBef>
                <a:spcPts val="0"/>
              </a:spcBef>
              <a:spcAft>
                <a:spcPts val="0"/>
              </a:spcAft>
            </a:pPr>
            <a:r>
              <a:rPr sz="2400" b="1" lang="ko-KR" spc="0">
                <a:solidFill>
                  <a:srgbClr val="202426"/>
                </a:solidFill>
                <a:latin typeface="맑은 고딕"/>
                <a:ea typeface="맑은 고딕"/>
              </a:rPr>
              <a:t>문제 확인</a:t>
            </a:r>
          </a:p>
        </p:txBody>
      </p:sp>
      <p:sp>
        <p:nvSpPr>
          <p:cNvPr id="13" name="TextBox 12"/>
          <p:cNvSpPr txBox="1"/>
          <p:nvPr/>
        </p:nvSpPr>
        <p:spPr>
          <a:xfrm>
            <a:off x="658368" y="3538728"/>
            <a:ext cx="2633472" cy="841248"/>
          </a:xfrm>
          <a:prstGeom prst="rect">
            <a:avLst/>
          </a:prstGeom>
          <a:noFill/>
        </p:spPr>
        <p:txBody>
          <a:bodyPr wrap="square" lIns="0" rIns="0" tIns="0" bIns="0" anchor="t">
            <a:spAutoFit/>
          </a:bodyPr>
          <a:lstStyle/>
          <a:p>
            <a:pPr algn="l">
              <a:lnSpc>
                <a:spcPct val="116000"/>
              </a:lnSpc>
              <a:spcBef>
                <a:spcPts val="0"/>
              </a:spcBef>
              <a:spcAft>
                <a:spcPts val="0"/>
              </a:spcAft>
            </a:pPr>
            <a:r>
              <a:rPr sz="1500" b="0" lang="ko-KR" spc="0">
                <a:solidFill>
                  <a:srgbClr val="60696D"/>
                </a:solidFill>
                <a:latin typeface="맑은 고딕"/>
                <a:ea typeface="맑은 고딕"/>
              </a:rPr>
              <a:t>인터뷰 · 현장 관찰</a:t>
            </a:r>
          </a:p>
          <a:p>
            <a:pPr algn="l">
              <a:lnSpc>
                <a:spcPct val="116000"/>
              </a:lnSpc>
              <a:spcBef>
                <a:spcPts val="0"/>
              </a:spcBef>
              <a:spcAft>
                <a:spcPts val="0"/>
              </a:spcAft>
            </a:pPr>
            <a:r>
              <a:rPr sz="1500" b="0" lang="ko-KR" spc="0">
                <a:solidFill>
                  <a:srgbClr val="60696D"/>
                </a:solidFill>
                <a:latin typeface="맑은 고딕"/>
                <a:ea typeface="맑은 고딕"/>
              </a:rPr>
              <a:t>정책·서비스 동향 조사</a:t>
            </a:r>
          </a:p>
        </p:txBody>
      </p:sp>
      <p:sp>
        <p:nvSpPr>
          <p:cNvPr id="14" name="Rectangle 13"/>
          <p:cNvSpPr/>
          <p:nvPr/>
        </p:nvSpPr>
        <p:spPr>
          <a:xfrm>
            <a:off x="658368" y="4590288"/>
            <a:ext cx="2542032" cy="539496"/>
          </a:xfrm>
          <a:prstGeom prst="rect">
            <a:avLst/>
          </a:prstGeom>
          <a:solidFill>
            <a:srgbClr val="F7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4736592"/>
            <a:ext cx="2331720" cy="283464"/>
          </a:xfrm>
          <a:prstGeom prst="rect">
            <a:avLst/>
          </a:prstGeom>
          <a:noFill/>
        </p:spPr>
        <p:txBody>
          <a:bodyPr wrap="square" lIns="0" rIns="0" tIns="0" bIns="0" anchor="t">
            <a:spAutoFit/>
          </a:bodyPr>
          <a:lstStyle/>
          <a:p>
            <a:pPr algn="l">
              <a:lnSpc>
                <a:spcPct val="116000"/>
              </a:lnSpc>
              <a:spcBef>
                <a:spcPts val="0"/>
              </a:spcBef>
              <a:spcAft>
                <a:spcPts val="0"/>
              </a:spcAft>
            </a:pPr>
            <a:r>
              <a:rPr sz="1200" b="1" lang="ko-KR" spc="0">
                <a:solidFill>
                  <a:srgbClr val="202426"/>
                </a:solidFill>
                <a:latin typeface="맑은 고딕"/>
                <a:ea typeface="맑은 고딕"/>
              </a:rPr>
              <a:t>산출물: 핵심 불편 1개</a:t>
            </a:r>
          </a:p>
        </p:txBody>
      </p:sp>
      <p:sp>
        <p:nvSpPr>
          <p:cNvPr id="16" name="Oval 15"/>
          <p:cNvSpPr/>
          <p:nvPr/>
        </p:nvSpPr>
        <p:spPr>
          <a:xfrm>
            <a:off x="3575304" y="2276856"/>
            <a:ext cx="283464" cy="283464"/>
          </a:xfrm>
          <a:prstGeom prst="ellipse">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38728" y="1837943"/>
            <a:ext cx="2487168" cy="329184"/>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60696D"/>
                </a:solidFill>
                <a:latin typeface="맑은 고딕"/>
                <a:ea typeface="맑은 고딕"/>
              </a:rPr>
              <a:t>3–4주</a:t>
            </a:r>
          </a:p>
        </p:txBody>
      </p:sp>
      <p:sp>
        <p:nvSpPr>
          <p:cNvPr id="18" name="TextBox 17"/>
          <p:cNvSpPr txBox="1"/>
          <p:nvPr/>
        </p:nvSpPr>
        <p:spPr>
          <a:xfrm>
            <a:off x="3538728" y="2834640"/>
            <a:ext cx="2551176" cy="393192"/>
          </a:xfrm>
          <a:prstGeom prst="rect">
            <a:avLst/>
          </a:prstGeom>
          <a:noFill/>
        </p:spPr>
        <p:txBody>
          <a:bodyPr wrap="square" lIns="0" rIns="0" tIns="0" bIns="0" anchor="t">
            <a:spAutoFit/>
          </a:bodyPr>
          <a:lstStyle/>
          <a:p>
            <a:pPr algn="l">
              <a:lnSpc>
                <a:spcPct val="116000"/>
              </a:lnSpc>
              <a:spcBef>
                <a:spcPts val="0"/>
              </a:spcBef>
              <a:spcAft>
                <a:spcPts val="0"/>
              </a:spcAft>
            </a:pPr>
            <a:r>
              <a:rPr sz="2400" b="1" lang="ko-KR" spc="0">
                <a:solidFill>
                  <a:srgbClr val="202426"/>
                </a:solidFill>
                <a:latin typeface="맑은 고딕"/>
                <a:ea typeface="맑은 고딕"/>
              </a:rPr>
              <a:t>서비스 설계</a:t>
            </a:r>
          </a:p>
        </p:txBody>
      </p:sp>
      <p:sp>
        <p:nvSpPr>
          <p:cNvPr id="19" name="TextBox 18"/>
          <p:cNvSpPr txBox="1"/>
          <p:nvPr/>
        </p:nvSpPr>
        <p:spPr>
          <a:xfrm>
            <a:off x="3538728" y="3538728"/>
            <a:ext cx="2633472" cy="841248"/>
          </a:xfrm>
          <a:prstGeom prst="rect">
            <a:avLst/>
          </a:prstGeom>
          <a:noFill/>
        </p:spPr>
        <p:txBody>
          <a:bodyPr wrap="square" lIns="0" rIns="0" tIns="0" bIns="0" anchor="t">
            <a:spAutoFit/>
          </a:bodyPr>
          <a:lstStyle/>
          <a:p>
            <a:pPr algn="l">
              <a:lnSpc>
                <a:spcPct val="116000"/>
              </a:lnSpc>
              <a:spcBef>
                <a:spcPts val="0"/>
              </a:spcBef>
              <a:spcAft>
                <a:spcPts val="0"/>
              </a:spcAft>
            </a:pPr>
            <a:r>
              <a:rPr sz="1500" b="0" lang="ko-KR" spc="0">
                <a:solidFill>
                  <a:srgbClr val="60696D"/>
                </a:solidFill>
                <a:latin typeface="맑은 고딕"/>
                <a:ea typeface="맑은 고딕"/>
              </a:rPr>
              <a:t>사용자 여정 · 역할 정의</a:t>
            </a:r>
          </a:p>
          <a:p>
            <a:pPr algn="l">
              <a:lnSpc>
                <a:spcPct val="116000"/>
              </a:lnSpc>
              <a:spcBef>
                <a:spcPts val="0"/>
              </a:spcBef>
              <a:spcAft>
                <a:spcPts val="0"/>
              </a:spcAft>
            </a:pPr>
            <a:r>
              <a:rPr sz="1500" b="0" lang="ko-KR" spc="0">
                <a:solidFill>
                  <a:srgbClr val="60696D"/>
                </a:solidFill>
                <a:latin typeface="맑은 고딕"/>
                <a:ea typeface="맑은 고딕"/>
              </a:rPr>
              <a:t>데이터 확보 가능성 점검</a:t>
            </a:r>
          </a:p>
        </p:txBody>
      </p:sp>
      <p:sp>
        <p:nvSpPr>
          <p:cNvPr id="20" name="Rectangle 19"/>
          <p:cNvSpPr/>
          <p:nvPr/>
        </p:nvSpPr>
        <p:spPr>
          <a:xfrm>
            <a:off x="3538728" y="4590288"/>
            <a:ext cx="2542032" cy="539496"/>
          </a:xfrm>
          <a:prstGeom prst="rect">
            <a:avLst/>
          </a:prstGeom>
          <a:solidFill>
            <a:srgbClr val="F7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48456" y="4736592"/>
            <a:ext cx="2331720" cy="283464"/>
          </a:xfrm>
          <a:prstGeom prst="rect">
            <a:avLst/>
          </a:prstGeom>
          <a:noFill/>
        </p:spPr>
        <p:txBody>
          <a:bodyPr wrap="square" lIns="0" rIns="0" tIns="0" bIns="0" anchor="t">
            <a:spAutoFit/>
          </a:bodyPr>
          <a:lstStyle/>
          <a:p>
            <a:pPr algn="l">
              <a:lnSpc>
                <a:spcPct val="116000"/>
              </a:lnSpc>
              <a:spcBef>
                <a:spcPts val="0"/>
              </a:spcBef>
              <a:spcAft>
                <a:spcPts val="0"/>
              </a:spcAft>
            </a:pPr>
            <a:r>
              <a:rPr sz="1200" b="1" lang="ko-KR" spc="0">
                <a:solidFill>
                  <a:srgbClr val="202426"/>
                </a:solidFill>
                <a:latin typeface="맑은 고딕"/>
                <a:ea typeface="맑은 고딕"/>
              </a:rPr>
              <a:t>산출물: 흐름도·화면 초안</a:t>
            </a:r>
          </a:p>
        </p:txBody>
      </p:sp>
      <p:sp>
        <p:nvSpPr>
          <p:cNvPr id="22" name="Oval 21"/>
          <p:cNvSpPr/>
          <p:nvPr/>
        </p:nvSpPr>
        <p:spPr>
          <a:xfrm>
            <a:off x="6455664" y="2276856"/>
            <a:ext cx="283464" cy="283464"/>
          </a:xfrm>
          <a:prstGeom prst="ellipse">
            <a:avLst/>
          </a:prstGeom>
          <a:solidFill>
            <a:srgbClr val="328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19088" y="1837943"/>
            <a:ext cx="2487168" cy="329184"/>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60696D"/>
                </a:solidFill>
                <a:latin typeface="맑은 고딕"/>
                <a:ea typeface="맑은 고딕"/>
              </a:rPr>
              <a:t>5–6주</a:t>
            </a:r>
          </a:p>
        </p:txBody>
      </p:sp>
      <p:sp>
        <p:nvSpPr>
          <p:cNvPr id="24" name="TextBox 23"/>
          <p:cNvSpPr txBox="1"/>
          <p:nvPr/>
        </p:nvSpPr>
        <p:spPr>
          <a:xfrm>
            <a:off x="6419088" y="2834640"/>
            <a:ext cx="2551176" cy="393192"/>
          </a:xfrm>
          <a:prstGeom prst="rect">
            <a:avLst/>
          </a:prstGeom>
          <a:noFill/>
        </p:spPr>
        <p:txBody>
          <a:bodyPr wrap="square" lIns="0" rIns="0" tIns="0" bIns="0" anchor="t">
            <a:spAutoFit/>
          </a:bodyPr>
          <a:lstStyle/>
          <a:p>
            <a:pPr algn="l">
              <a:lnSpc>
                <a:spcPct val="116000"/>
              </a:lnSpc>
              <a:spcBef>
                <a:spcPts val="0"/>
              </a:spcBef>
              <a:spcAft>
                <a:spcPts val="0"/>
              </a:spcAft>
            </a:pPr>
            <a:r>
              <a:rPr sz="2400" b="1" lang="ko-KR" spc="0">
                <a:solidFill>
                  <a:srgbClr val="202426"/>
                </a:solidFill>
                <a:latin typeface="맑은 고딕"/>
                <a:ea typeface="맑은 고딕"/>
              </a:rPr>
              <a:t>기술 시제품</a:t>
            </a:r>
          </a:p>
        </p:txBody>
      </p:sp>
      <p:sp>
        <p:nvSpPr>
          <p:cNvPr id="25" name="TextBox 24"/>
          <p:cNvSpPr txBox="1"/>
          <p:nvPr/>
        </p:nvSpPr>
        <p:spPr>
          <a:xfrm>
            <a:off x="6419088" y="3538728"/>
            <a:ext cx="2633472" cy="841248"/>
          </a:xfrm>
          <a:prstGeom prst="rect">
            <a:avLst/>
          </a:prstGeom>
          <a:noFill/>
        </p:spPr>
        <p:txBody>
          <a:bodyPr wrap="square" lIns="0" rIns="0" tIns="0" bIns="0" anchor="t">
            <a:spAutoFit/>
          </a:bodyPr>
          <a:lstStyle/>
          <a:p>
            <a:pPr algn="l">
              <a:lnSpc>
                <a:spcPct val="116000"/>
              </a:lnSpc>
              <a:spcBef>
                <a:spcPts val="0"/>
              </a:spcBef>
              <a:spcAft>
                <a:spcPts val="0"/>
              </a:spcAft>
            </a:pPr>
            <a:r>
              <a:rPr sz="1500" b="0" lang="ko-KR" spc="0">
                <a:solidFill>
                  <a:srgbClr val="60696D"/>
                </a:solidFill>
                <a:latin typeface="맑은 고딕"/>
                <a:ea typeface="맑은 고딕"/>
              </a:rPr>
              <a:t>조건 매칭·알림·지도 중</a:t>
            </a:r>
          </a:p>
          <a:p>
            <a:pPr algn="l">
              <a:lnSpc>
                <a:spcPct val="116000"/>
              </a:lnSpc>
              <a:spcBef>
                <a:spcPts val="0"/>
              </a:spcBef>
              <a:spcAft>
                <a:spcPts val="0"/>
              </a:spcAft>
            </a:pPr>
            <a:r>
              <a:rPr sz="1500" b="0" lang="ko-KR" spc="0">
                <a:solidFill>
                  <a:srgbClr val="60696D"/>
                </a:solidFill>
                <a:latin typeface="맑은 고딕"/>
                <a:ea typeface="맑은 고딕"/>
              </a:rPr>
              <a:t>선정 주제의 핵심 기능 구현</a:t>
            </a:r>
          </a:p>
        </p:txBody>
      </p:sp>
      <p:sp>
        <p:nvSpPr>
          <p:cNvPr id="26" name="Rectangle 25"/>
          <p:cNvSpPr/>
          <p:nvPr/>
        </p:nvSpPr>
        <p:spPr>
          <a:xfrm>
            <a:off x="6419088" y="4590288"/>
            <a:ext cx="2542032" cy="539496"/>
          </a:xfrm>
          <a:prstGeom prst="rect">
            <a:avLst/>
          </a:prstGeom>
          <a:solidFill>
            <a:srgbClr val="F7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528816" y="4736592"/>
            <a:ext cx="2331720" cy="283464"/>
          </a:xfrm>
          <a:prstGeom prst="rect">
            <a:avLst/>
          </a:prstGeom>
          <a:noFill/>
        </p:spPr>
        <p:txBody>
          <a:bodyPr wrap="square" lIns="0" rIns="0" tIns="0" bIns="0" anchor="t">
            <a:spAutoFit/>
          </a:bodyPr>
          <a:lstStyle/>
          <a:p>
            <a:pPr algn="l">
              <a:lnSpc>
                <a:spcPct val="116000"/>
              </a:lnSpc>
              <a:spcBef>
                <a:spcPts val="0"/>
              </a:spcBef>
              <a:spcAft>
                <a:spcPts val="0"/>
              </a:spcAft>
            </a:pPr>
            <a:r>
              <a:rPr sz="1200" b="1" lang="ko-KR" spc="0">
                <a:solidFill>
                  <a:srgbClr val="202426"/>
                </a:solidFill>
                <a:latin typeface="맑은 고딕"/>
                <a:ea typeface="맑은 고딕"/>
              </a:rPr>
              <a:t>산출물: 작동하는 시제품</a:t>
            </a:r>
          </a:p>
        </p:txBody>
      </p:sp>
      <p:sp>
        <p:nvSpPr>
          <p:cNvPr id="28" name="Oval 27"/>
          <p:cNvSpPr/>
          <p:nvPr/>
        </p:nvSpPr>
        <p:spPr>
          <a:xfrm>
            <a:off x="9336024" y="2276856"/>
            <a:ext cx="283464" cy="283464"/>
          </a:xfrm>
          <a:prstGeom prst="ellipse">
            <a:avLst/>
          </a:prstGeom>
          <a:solidFill>
            <a:srgbClr val="E5B6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99448" y="1837943"/>
            <a:ext cx="2487168" cy="329184"/>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60696D"/>
                </a:solidFill>
                <a:latin typeface="맑은 고딕"/>
                <a:ea typeface="맑은 고딕"/>
              </a:rPr>
              <a:t>7–8주</a:t>
            </a:r>
          </a:p>
        </p:txBody>
      </p:sp>
      <p:sp>
        <p:nvSpPr>
          <p:cNvPr id="30" name="TextBox 29"/>
          <p:cNvSpPr txBox="1"/>
          <p:nvPr/>
        </p:nvSpPr>
        <p:spPr>
          <a:xfrm>
            <a:off x="9299448" y="2834640"/>
            <a:ext cx="2551176" cy="393192"/>
          </a:xfrm>
          <a:prstGeom prst="rect">
            <a:avLst/>
          </a:prstGeom>
          <a:noFill/>
        </p:spPr>
        <p:txBody>
          <a:bodyPr wrap="square" lIns="0" rIns="0" tIns="0" bIns="0" anchor="t">
            <a:spAutoFit/>
          </a:bodyPr>
          <a:lstStyle/>
          <a:p>
            <a:pPr algn="l">
              <a:lnSpc>
                <a:spcPct val="116000"/>
              </a:lnSpc>
              <a:spcBef>
                <a:spcPts val="0"/>
              </a:spcBef>
              <a:spcAft>
                <a:spcPts val="0"/>
              </a:spcAft>
            </a:pPr>
            <a:r>
              <a:rPr sz="2400" b="1" lang="ko-KR" spc="0">
                <a:solidFill>
                  <a:srgbClr val="202426"/>
                </a:solidFill>
                <a:latin typeface="맑은 고딕"/>
                <a:ea typeface="맑은 고딕"/>
              </a:rPr>
              <a:t>현장 검증</a:t>
            </a:r>
          </a:p>
        </p:txBody>
      </p:sp>
      <p:sp>
        <p:nvSpPr>
          <p:cNvPr id="31" name="TextBox 30"/>
          <p:cNvSpPr txBox="1"/>
          <p:nvPr/>
        </p:nvSpPr>
        <p:spPr>
          <a:xfrm>
            <a:off x="9299448" y="3538728"/>
            <a:ext cx="2633472" cy="841248"/>
          </a:xfrm>
          <a:prstGeom prst="rect">
            <a:avLst/>
          </a:prstGeom>
          <a:noFill/>
        </p:spPr>
        <p:txBody>
          <a:bodyPr wrap="square" lIns="0" rIns="0" tIns="0" bIns="0" anchor="t">
            <a:spAutoFit/>
          </a:bodyPr>
          <a:lstStyle/>
          <a:p>
            <a:pPr algn="l">
              <a:lnSpc>
                <a:spcPct val="116000"/>
              </a:lnSpc>
              <a:spcBef>
                <a:spcPts val="0"/>
              </a:spcBef>
              <a:spcAft>
                <a:spcPts val="0"/>
              </a:spcAft>
            </a:pPr>
            <a:r>
              <a:rPr sz="1500" b="0" lang="ko-KR" spc="0">
                <a:solidFill>
                  <a:srgbClr val="60696D"/>
                </a:solidFill>
                <a:latin typeface="맑은 고딕"/>
                <a:ea typeface="맑은 고딕"/>
              </a:rPr>
              <a:t>소규모 사용성 평가</a:t>
            </a:r>
          </a:p>
          <a:p>
            <a:pPr algn="l">
              <a:lnSpc>
                <a:spcPct val="116000"/>
              </a:lnSpc>
              <a:spcBef>
                <a:spcPts val="0"/>
              </a:spcBef>
              <a:spcAft>
                <a:spcPts val="0"/>
              </a:spcAft>
            </a:pPr>
            <a:r>
              <a:rPr sz="1500" b="0" lang="ko-KR" spc="0">
                <a:solidFill>
                  <a:srgbClr val="60696D"/>
                </a:solidFill>
                <a:latin typeface="맑은 고딕"/>
                <a:ea typeface="맑은 고딕"/>
              </a:rPr>
              <a:t>운영 담당자 피드백 반영</a:t>
            </a:r>
          </a:p>
        </p:txBody>
      </p:sp>
      <p:sp>
        <p:nvSpPr>
          <p:cNvPr id="32" name="Rectangle 31"/>
          <p:cNvSpPr/>
          <p:nvPr/>
        </p:nvSpPr>
        <p:spPr>
          <a:xfrm>
            <a:off x="9299448" y="4590288"/>
            <a:ext cx="2542032" cy="539496"/>
          </a:xfrm>
          <a:prstGeom prst="rect">
            <a:avLst/>
          </a:prstGeom>
          <a:solidFill>
            <a:srgbClr val="F7F9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09176" y="4736592"/>
            <a:ext cx="2331720" cy="283464"/>
          </a:xfrm>
          <a:prstGeom prst="rect">
            <a:avLst/>
          </a:prstGeom>
          <a:noFill/>
        </p:spPr>
        <p:txBody>
          <a:bodyPr wrap="square" lIns="0" rIns="0" tIns="0" bIns="0" anchor="t">
            <a:spAutoFit/>
          </a:bodyPr>
          <a:lstStyle/>
          <a:p>
            <a:pPr algn="l">
              <a:lnSpc>
                <a:spcPct val="116000"/>
              </a:lnSpc>
              <a:spcBef>
                <a:spcPts val="0"/>
              </a:spcBef>
              <a:spcAft>
                <a:spcPts val="0"/>
              </a:spcAft>
            </a:pPr>
            <a:r>
              <a:rPr sz="1200" b="1" lang="ko-KR" spc="0">
                <a:solidFill>
                  <a:srgbClr val="202426"/>
                </a:solidFill>
                <a:latin typeface="맑은 고딕"/>
                <a:ea typeface="맑은 고딕"/>
              </a:rPr>
              <a:t>산출물: 개선안·평가 기록</a:t>
            </a:r>
          </a:p>
        </p:txBody>
      </p:sp>
      <p:sp>
        <p:nvSpPr>
          <p:cNvPr id="34" name="Rectangle 33"/>
          <p:cNvSpPr/>
          <p:nvPr/>
        </p:nvSpPr>
        <p:spPr>
          <a:xfrm>
            <a:off x="548640" y="5504688"/>
            <a:ext cx="11082528" cy="448056"/>
          </a:xfrm>
          <a:prstGeom prst="rect">
            <a:avLst/>
          </a:prstGeom>
          <a:solidFill>
            <a:srgbClr val="E8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48640" y="5504688"/>
            <a:ext cx="50292" cy="448056"/>
          </a:xfrm>
          <a:prstGeom prst="rect">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5586984"/>
            <a:ext cx="10680192" cy="292608"/>
          </a:xfrm>
          <a:prstGeom prst="rect">
            <a:avLst/>
          </a:prstGeom>
          <a:noFill/>
        </p:spPr>
        <p:txBody>
          <a:bodyPr wrap="square" lIns="0" rIns="0" tIns="0" bIns="0" anchor="t">
            <a:spAutoFit/>
          </a:bodyPr>
          <a:lstStyle/>
          <a:p>
            <a:pPr algn="l">
              <a:lnSpc>
                <a:spcPct val="116000"/>
              </a:lnSpc>
              <a:spcBef>
                <a:spcPts val="0"/>
              </a:spcBef>
              <a:spcAft>
                <a:spcPts val="0"/>
              </a:spcAft>
            </a:pPr>
            <a:r>
              <a:rPr sz="1600" b="1" lang="ko-KR" spc="0">
                <a:solidFill>
                  <a:srgbClr val="202426"/>
                </a:solidFill>
                <a:latin typeface="맑은 고딕"/>
                <a:ea typeface="맑은 고딕"/>
              </a:rPr>
              <a:t>기술은 문제를 확인한 뒤 선택하고, 작은 시제품으로 개선 가능성을 검증한다.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0607040" cy="219456"/>
          </a:xfrm>
          <a:prstGeom prst="rect">
            <a:avLst/>
          </a:prstGeom>
          <a:noFill/>
        </p:spPr>
        <p:txBody>
          <a:bodyPr wrap="square" lIns="0" rIns="0" tIns="0" bIns="0" anchor="t">
            <a:spAutoFit/>
          </a:bodyPr>
          <a:lstStyle/>
          <a:p>
            <a:pPr algn="l">
              <a:lnSpc>
                <a:spcPct val="116000"/>
              </a:lnSpc>
              <a:spcBef>
                <a:spcPts val="0"/>
              </a:spcBef>
              <a:spcAft>
                <a:spcPts val="0"/>
              </a:spcAft>
            </a:pPr>
            <a:r>
              <a:rPr sz="1000" b="1" lang="ko-KR" spc="0">
                <a:solidFill>
                  <a:srgbClr val="087F75"/>
                </a:solidFill>
                <a:latin typeface="맑은 고딕"/>
                <a:ea typeface="맑은 고딕"/>
              </a:rPr>
              <a:t>검증 계획</a:t>
            </a:r>
          </a:p>
        </p:txBody>
      </p:sp>
      <p:sp>
        <p:nvSpPr>
          <p:cNvPr id="4" name="TextBox 3"/>
          <p:cNvSpPr txBox="1"/>
          <p:nvPr/>
        </p:nvSpPr>
        <p:spPr>
          <a:xfrm>
            <a:off x="548640" y="795528"/>
            <a:ext cx="10972800" cy="585216"/>
          </a:xfrm>
          <a:prstGeom prst="rect">
            <a:avLst/>
          </a:prstGeom>
          <a:noFill/>
        </p:spPr>
        <p:txBody>
          <a:bodyPr wrap="square" lIns="0" rIns="0" tIns="0" bIns="0" anchor="t">
            <a:spAutoFit/>
          </a:bodyPr>
          <a:lstStyle/>
          <a:p>
            <a:pPr algn="l">
              <a:lnSpc>
                <a:spcPct val="116000"/>
              </a:lnSpc>
              <a:spcBef>
                <a:spcPts val="0"/>
              </a:spcBef>
              <a:spcAft>
                <a:spcPts val="0"/>
              </a:spcAft>
            </a:pPr>
            <a:r>
              <a:rPr sz="2900" b="1" lang="ko-KR" spc="0">
                <a:solidFill>
                  <a:srgbClr val="202426"/>
                </a:solidFill>
                <a:latin typeface="맑은 고딕"/>
                <a:ea typeface="맑은 고딕"/>
              </a:rPr>
              <a:t>효과는 무엇으로 확인할까?</a:t>
            </a:r>
          </a:p>
        </p:txBody>
      </p:sp>
      <p:sp>
        <p:nvSpPr>
          <p:cNvPr id="5" name="TextBox 4"/>
          <p:cNvSpPr txBox="1"/>
          <p:nvPr/>
        </p:nvSpPr>
        <p:spPr>
          <a:xfrm>
            <a:off x="576072" y="1444752"/>
            <a:ext cx="10881360" cy="365760"/>
          </a:xfrm>
          <a:prstGeom prst="rect">
            <a:avLst/>
          </a:prstGeom>
          <a:noFill/>
        </p:spPr>
        <p:txBody>
          <a:bodyPr wrap="square" lIns="0" rIns="0" tIns="0" bIns="0" anchor="t">
            <a:spAutoFit/>
          </a:bodyPr>
          <a:lstStyle/>
          <a:p>
            <a:pPr algn="l">
              <a:lnSpc>
                <a:spcPct val="116000"/>
              </a:lnSpc>
              <a:spcBef>
                <a:spcPts val="0"/>
              </a:spcBef>
              <a:spcAft>
                <a:spcPts val="0"/>
              </a:spcAft>
            </a:pPr>
            <a:r>
              <a:rPr sz="1400" b="0" lang="ko-KR" spc="0">
                <a:solidFill>
                  <a:srgbClr val="60696D"/>
                </a:solidFill>
                <a:latin typeface="맑은 고딕"/>
                <a:ea typeface="맑은 고딕"/>
              </a:rPr>
              <a:t>기대효과를 단정하지 않고, 사용 전후의 변화로 확인한다.</a:t>
            </a:r>
          </a:p>
        </p:txBody>
      </p:sp>
      <p:cxnSp>
        <p:nvCxnSpPr>
          <p:cNvPr id="6" name="Connector 5"/>
          <p:cNvCxnSpPr/>
          <p:nvPr/>
        </p:nvCxnSpPr>
        <p:spPr>
          <a:xfrm>
            <a:off x="548640" y="6364224"/>
            <a:ext cx="11082528"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5486400" cy="182880"/>
          </a:xfrm>
          <a:prstGeom prst="rect">
            <a:avLst/>
          </a:prstGeom>
          <a:noFill/>
        </p:spPr>
        <p:txBody>
          <a:bodyPr wrap="square" lIns="0" rIns="0" tIns="0" bIns="0" anchor="t">
            <a:spAutoFit/>
          </a:bodyPr>
          <a:lstStyle/>
          <a:p>
            <a:pPr algn="l">
              <a:lnSpc>
                <a:spcPct val="116000"/>
              </a:lnSpc>
              <a:spcBef>
                <a:spcPts val="0"/>
              </a:spcBef>
              <a:spcAft>
                <a:spcPts val="0"/>
              </a:spcAft>
            </a:pPr>
            <a:r>
              <a:rPr sz="900" b="0" lang="ko-KR" spc="0">
                <a:solidFill>
                  <a:srgbClr val="60696D"/>
                </a:solidFill>
                <a:latin typeface="맑은 고딕"/>
                <a:ea typeface="맑은 고딕"/>
              </a:rPr>
              <a:t>사회혁신 · 기술기반 디자인 제안</a:t>
            </a:r>
          </a:p>
        </p:txBody>
      </p:sp>
      <p:sp>
        <p:nvSpPr>
          <p:cNvPr id="8" name="TextBox 7"/>
          <p:cNvSpPr txBox="1"/>
          <p:nvPr/>
        </p:nvSpPr>
        <p:spPr>
          <a:xfrm>
            <a:off x="10515600" y="6464808"/>
            <a:ext cx="1115568" cy="228600"/>
          </a:xfrm>
          <a:prstGeom prst="rect">
            <a:avLst/>
          </a:prstGeom>
          <a:noFill/>
        </p:spPr>
        <p:txBody>
          <a:bodyPr wrap="square" lIns="0" rIns="0" tIns="0" bIns="0" anchor="t">
            <a:spAutoFit/>
          </a:bodyPr>
          <a:lstStyle/>
          <a:p>
            <a:pPr algn="r">
              <a:lnSpc>
                <a:spcPct val="116000"/>
              </a:lnSpc>
              <a:spcBef>
                <a:spcPts val="0"/>
              </a:spcBef>
              <a:spcAft>
                <a:spcPts val="0"/>
              </a:spcAft>
            </a:pPr>
            <a:r>
              <a:rPr sz="1000" b="0" lang="ko-KR" spc="0">
                <a:solidFill>
                  <a:srgbClr val="60696D"/>
                </a:solidFill>
                <a:latin typeface="맑은 고딕"/>
                <a:ea typeface="맑은 고딕"/>
              </a:rPr>
              <a:t>07 / 09</a:t>
            </a:r>
          </a:p>
        </p:txBody>
      </p:sp>
      <p:sp>
        <p:nvSpPr>
          <p:cNvPr id="9" name="TextBox 8"/>
          <p:cNvSpPr txBox="1"/>
          <p:nvPr/>
        </p:nvSpPr>
        <p:spPr>
          <a:xfrm>
            <a:off x="758952" y="2039112"/>
            <a:ext cx="2103120" cy="301752"/>
          </a:xfrm>
          <a:prstGeom prst="rect">
            <a:avLst/>
          </a:prstGeom>
          <a:noFill/>
        </p:spPr>
        <p:txBody>
          <a:bodyPr wrap="square" lIns="0" rIns="0" tIns="0" bIns="0" anchor="t">
            <a:spAutoFit/>
          </a:bodyPr>
          <a:lstStyle/>
          <a:p>
            <a:pPr algn="l">
              <a:lnSpc>
                <a:spcPct val="116000"/>
              </a:lnSpc>
              <a:spcBef>
                <a:spcPts val="0"/>
              </a:spcBef>
              <a:spcAft>
                <a:spcPts val="0"/>
              </a:spcAft>
            </a:pPr>
            <a:r>
              <a:rPr sz="1300" b="1" lang="ko-KR" spc="0">
                <a:solidFill>
                  <a:srgbClr val="60696D"/>
                </a:solidFill>
                <a:latin typeface="맑은 고딕"/>
                <a:ea typeface="맑은 고딕"/>
              </a:rPr>
              <a:t>주제</a:t>
            </a:r>
          </a:p>
        </p:txBody>
      </p:sp>
      <p:sp>
        <p:nvSpPr>
          <p:cNvPr id="10" name="TextBox 9"/>
          <p:cNvSpPr txBox="1"/>
          <p:nvPr/>
        </p:nvSpPr>
        <p:spPr>
          <a:xfrm>
            <a:off x="3291840" y="2039112"/>
            <a:ext cx="3749039" cy="301752"/>
          </a:xfrm>
          <a:prstGeom prst="rect">
            <a:avLst/>
          </a:prstGeom>
          <a:noFill/>
        </p:spPr>
        <p:txBody>
          <a:bodyPr wrap="square" lIns="0" rIns="0" tIns="0" bIns="0" anchor="t">
            <a:spAutoFit/>
          </a:bodyPr>
          <a:lstStyle/>
          <a:p>
            <a:pPr algn="l">
              <a:lnSpc>
                <a:spcPct val="116000"/>
              </a:lnSpc>
              <a:spcBef>
                <a:spcPts val="0"/>
              </a:spcBef>
              <a:spcAft>
                <a:spcPts val="0"/>
              </a:spcAft>
            </a:pPr>
            <a:r>
              <a:rPr sz="1300" b="1" lang="ko-KR" spc="0">
                <a:solidFill>
                  <a:srgbClr val="60696D"/>
                </a:solidFill>
                <a:latin typeface="맑은 고딕"/>
                <a:ea typeface="맑은 고딕"/>
              </a:rPr>
              <a:t>기대하는 변화</a:t>
            </a:r>
          </a:p>
        </p:txBody>
      </p:sp>
      <p:sp>
        <p:nvSpPr>
          <p:cNvPr id="11" name="TextBox 10"/>
          <p:cNvSpPr txBox="1"/>
          <p:nvPr/>
        </p:nvSpPr>
        <p:spPr>
          <a:xfrm>
            <a:off x="7735824" y="2039112"/>
            <a:ext cx="3657600" cy="301752"/>
          </a:xfrm>
          <a:prstGeom prst="rect">
            <a:avLst/>
          </a:prstGeom>
          <a:noFill/>
        </p:spPr>
        <p:txBody>
          <a:bodyPr wrap="square" lIns="0" rIns="0" tIns="0" bIns="0" anchor="t">
            <a:spAutoFit/>
          </a:bodyPr>
          <a:lstStyle/>
          <a:p>
            <a:pPr algn="l">
              <a:lnSpc>
                <a:spcPct val="116000"/>
              </a:lnSpc>
              <a:spcBef>
                <a:spcPts val="0"/>
              </a:spcBef>
              <a:spcAft>
                <a:spcPts val="0"/>
              </a:spcAft>
            </a:pPr>
            <a:r>
              <a:rPr sz="1300" b="1" lang="ko-KR" spc="0">
                <a:solidFill>
                  <a:srgbClr val="60696D"/>
                </a:solidFill>
                <a:latin typeface="맑은 고딕"/>
                <a:ea typeface="맑은 고딕"/>
              </a:rPr>
              <a:t>확인할 지표 · 제안</a:t>
            </a:r>
          </a:p>
        </p:txBody>
      </p:sp>
      <p:cxnSp>
        <p:nvCxnSpPr>
          <p:cNvPr id="12" name="Connector 11"/>
          <p:cNvCxnSpPr/>
          <p:nvPr/>
        </p:nvCxnSpPr>
        <p:spPr>
          <a:xfrm>
            <a:off x="594360" y="2487168"/>
            <a:ext cx="10991088"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58952" y="2724912"/>
            <a:ext cx="2221992" cy="365760"/>
          </a:xfrm>
          <a:prstGeom prst="rect">
            <a:avLst/>
          </a:prstGeom>
          <a:noFill/>
        </p:spPr>
        <p:txBody>
          <a:bodyPr wrap="square" lIns="0" rIns="0" tIns="0" bIns="0" anchor="t">
            <a:spAutoFit/>
          </a:bodyPr>
          <a:lstStyle/>
          <a:p>
            <a:pPr algn="l">
              <a:lnSpc>
                <a:spcPct val="116000"/>
              </a:lnSpc>
              <a:spcBef>
                <a:spcPts val="0"/>
              </a:spcBef>
              <a:spcAft>
                <a:spcPts val="0"/>
              </a:spcAft>
            </a:pPr>
            <a:r>
              <a:rPr sz="2100" b="1" lang="ko-KR" spc="0">
                <a:solidFill>
                  <a:srgbClr val="D45165"/>
                </a:solidFill>
                <a:latin typeface="맑은 고딕"/>
                <a:ea typeface="맑은 고딕"/>
              </a:rPr>
              <a:t>청년 자립</a:t>
            </a:r>
          </a:p>
        </p:txBody>
      </p:sp>
      <p:sp>
        <p:nvSpPr>
          <p:cNvPr id="14" name="TextBox 13"/>
          <p:cNvSpPr txBox="1"/>
          <p:nvPr/>
        </p:nvSpPr>
        <p:spPr>
          <a:xfrm>
            <a:off x="3291840" y="2734056"/>
            <a:ext cx="4251960" cy="356616"/>
          </a:xfrm>
          <a:prstGeom prst="rect">
            <a:avLst/>
          </a:prstGeom>
          <a:noFill/>
        </p:spPr>
        <p:txBody>
          <a:bodyPr wrap="square" lIns="0" rIns="0" tIns="0" bIns="0" anchor="t">
            <a:spAutoFit/>
          </a:bodyPr>
          <a:lstStyle/>
          <a:p>
            <a:pPr algn="l">
              <a:lnSpc>
                <a:spcPct val="116000"/>
              </a:lnSpc>
              <a:spcBef>
                <a:spcPts val="0"/>
              </a:spcBef>
              <a:spcAft>
                <a:spcPts val="0"/>
              </a:spcAft>
            </a:pPr>
            <a:r>
              <a:rPr sz="1800" b="0" lang="ko-KR" spc="0">
                <a:solidFill>
                  <a:srgbClr val="202426"/>
                </a:solidFill>
                <a:latin typeface="맑은 고딕"/>
                <a:ea typeface="맑은 고딕"/>
              </a:rPr>
              <a:t>지원 탐색·신청 부담 감소</a:t>
            </a:r>
          </a:p>
        </p:txBody>
      </p:sp>
      <p:sp>
        <p:nvSpPr>
          <p:cNvPr id="15" name="TextBox 14"/>
          <p:cNvSpPr txBox="1"/>
          <p:nvPr/>
        </p:nvSpPr>
        <p:spPr>
          <a:xfrm>
            <a:off x="7735824" y="2642616"/>
            <a:ext cx="3703320" cy="640080"/>
          </a:xfrm>
          <a:prstGeom prst="rect">
            <a:avLst/>
          </a:prstGeom>
          <a:noFill/>
        </p:spPr>
        <p:txBody>
          <a:bodyPr wrap="square" lIns="0" rIns="0" tIns="0" bIns="0" anchor="t">
            <a:spAutoFit/>
          </a:bodyPr>
          <a:lstStyle/>
          <a:p>
            <a:pPr algn="l">
              <a:lnSpc>
                <a:spcPct val="116000"/>
              </a:lnSpc>
              <a:spcBef>
                <a:spcPts val="0"/>
              </a:spcBef>
              <a:spcAft>
                <a:spcPts val="0"/>
              </a:spcAft>
            </a:pPr>
            <a:r>
              <a:rPr sz="1600" b="0" lang="ko-KR" spc="0">
                <a:solidFill>
                  <a:srgbClr val="60696D"/>
                </a:solidFill>
                <a:latin typeface="맑은 고딕"/>
                <a:ea typeface="맑은 고딕"/>
              </a:rPr>
              <a:t>지원 탐색 시간</a:t>
            </a:r>
          </a:p>
          <a:p>
            <a:pPr algn="l">
              <a:lnSpc>
                <a:spcPct val="116000"/>
              </a:lnSpc>
              <a:spcBef>
                <a:spcPts val="0"/>
              </a:spcBef>
              <a:spcAft>
                <a:spcPts val="0"/>
              </a:spcAft>
            </a:pPr>
            <a:r>
              <a:rPr sz="1600" b="0" lang="ko-KR" spc="0">
                <a:solidFill>
                  <a:srgbClr val="60696D"/>
                </a:solidFill>
                <a:latin typeface="맑은 고딕"/>
                <a:ea typeface="맑은 고딕"/>
              </a:rPr>
              <a:t>신청 경로 도달률</a:t>
            </a:r>
          </a:p>
        </p:txBody>
      </p:sp>
      <p:cxnSp>
        <p:nvCxnSpPr>
          <p:cNvPr id="16" name="Connector 15"/>
          <p:cNvCxnSpPr/>
          <p:nvPr/>
        </p:nvCxnSpPr>
        <p:spPr>
          <a:xfrm>
            <a:off x="594360" y="3346704"/>
            <a:ext cx="10991088"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758952" y="3584448"/>
            <a:ext cx="2221992" cy="365760"/>
          </a:xfrm>
          <a:prstGeom prst="rect">
            <a:avLst/>
          </a:prstGeom>
          <a:noFill/>
        </p:spPr>
        <p:txBody>
          <a:bodyPr wrap="square" lIns="0" rIns="0" tIns="0" bIns="0" anchor="t">
            <a:spAutoFit/>
          </a:bodyPr>
          <a:lstStyle/>
          <a:p>
            <a:pPr algn="l">
              <a:lnSpc>
                <a:spcPct val="116000"/>
              </a:lnSpc>
              <a:spcBef>
                <a:spcPts val="0"/>
              </a:spcBef>
              <a:spcAft>
                <a:spcPts val="0"/>
              </a:spcAft>
            </a:pPr>
            <a:r>
              <a:rPr sz="2100" b="1" lang="ko-KR" spc="0">
                <a:solidFill>
                  <a:srgbClr val="087F75"/>
                </a:solidFill>
                <a:latin typeface="맑은 고딕"/>
                <a:ea typeface="맑은 고딕"/>
              </a:rPr>
              <a:t>사회적 고립</a:t>
            </a:r>
          </a:p>
        </p:txBody>
      </p:sp>
      <p:sp>
        <p:nvSpPr>
          <p:cNvPr id="18" name="TextBox 17"/>
          <p:cNvSpPr txBox="1"/>
          <p:nvPr/>
        </p:nvSpPr>
        <p:spPr>
          <a:xfrm>
            <a:off x="3291840" y="3593592"/>
            <a:ext cx="4251960" cy="356616"/>
          </a:xfrm>
          <a:prstGeom prst="rect">
            <a:avLst/>
          </a:prstGeom>
          <a:noFill/>
        </p:spPr>
        <p:txBody>
          <a:bodyPr wrap="square" lIns="0" rIns="0" tIns="0" bIns="0" anchor="t">
            <a:spAutoFit/>
          </a:bodyPr>
          <a:lstStyle/>
          <a:p>
            <a:pPr algn="l">
              <a:lnSpc>
                <a:spcPct val="116000"/>
              </a:lnSpc>
              <a:spcBef>
                <a:spcPts val="0"/>
              </a:spcBef>
              <a:spcAft>
                <a:spcPts val="0"/>
              </a:spcAft>
            </a:pPr>
            <a:r>
              <a:rPr sz="1800" b="0" lang="ko-KR" spc="0">
                <a:solidFill>
                  <a:srgbClr val="202426"/>
                </a:solidFill>
                <a:latin typeface="맑은 고딕"/>
                <a:ea typeface="맑은 고딕"/>
              </a:rPr>
              <a:t>안부에서 도움으로 연결</a:t>
            </a:r>
          </a:p>
        </p:txBody>
      </p:sp>
      <p:sp>
        <p:nvSpPr>
          <p:cNvPr id="19" name="TextBox 18"/>
          <p:cNvSpPr txBox="1"/>
          <p:nvPr/>
        </p:nvSpPr>
        <p:spPr>
          <a:xfrm>
            <a:off x="7735824" y="3502152"/>
            <a:ext cx="3703320" cy="640080"/>
          </a:xfrm>
          <a:prstGeom prst="rect">
            <a:avLst/>
          </a:prstGeom>
          <a:noFill/>
        </p:spPr>
        <p:txBody>
          <a:bodyPr wrap="square" lIns="0" rIns="0" tIns="0" bIns="0" anchor="t">
            <a:spAutoFit/>
          </a:bodyPr>
          <a:lstStyle/>
          <a:p>
            <a:pPr algn="l">
              <a:lnSpc>
                <a:spcPct val="116000"/>
              </a:lnSpc>
              <a:spcBef>
                <a:spcPts val="0"/>
              </a:spcBef>
              <a:spcAft>
                <a:spcPts val="0"/>
              </a:spcAft>
            </a:pPr>
            <a:r>
              <a:rPr sz="1600" b="0" lang="ko-KR" spc="0">
                <a:solidFill>
                  <a:srgbClr val="60696D"/>
                </a:solidFill>
                <a:latin typeface="맑은 고딕"/>
                <a:ea typeface="맑은 고딕"/>
              </a:rPr>
              <a:t>동의 후 상담·돌봄 연결률</a:t>
            </a:r>
          </a:p>
          <a:p>
            <a:pPr algn="l">
              <a:lnSpc>
                <a:spcPct val="116000"/>
              </a:lnSpc>
              <a:spcBef>
                <a:spcPts val="0"/>
              </a:spcBef>
              <a:spcAft>
                <a:spcPts val="0"/>
              </a:spcAft>
            </a:pPr>
            <a:r>
              <a:rPr sz="1600" b="0" lang="ko-KR" spc="0">
                <a:solidFill>
                  <a:srgbClr val="60696D"/>
                </a:solidFill>
                <a:latin typeface="맑은 고딕"/>
                <a:ea typeface="맑은 고딕"/>
              </a:rPr>
              <a:t>담당자 확인 소요 시간</a:t>
            </a:r>
          </a:p>
        </p:txBody>
      </p:sp>
      <p:cxnSp>
        <p:nvCxnSpPr>
          <p:cNvPr id="20" name="Connector 19"/>
          <p:cNvCxnSpPr/>
          <p:nvPr/>
        </p:nvCxnSpPr>
        <p:spPr>
          <a:xfrm>
            <a:off x="594360" y="4206240"/>
            <a:ext cx="10991088"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58952" y="4443983"/>
            <a:ext cx="2221992" cy="365760"/>
          </a:xfrm>
          <a:prstGeom prst="rect">
            <a:avLst/>
          </a:prstGeom>
          <a:noFill/>
        </p:spPr>
        <p:txBody>
          <a:bodyPr wrap="square" lIns="0" rIns="0" tIns="0" bIns="0" anchor="t">
            <a:spAutoFit/>
          </a:bodyPr>
          <a:lstStyle/>
          <a:p>
            <a:pPr algn="l">
              <a:lnSpc>
                <a:spcPct val="116000"/>
              </a:lnSpc>
              <a:spcBef>
                <a:spcPts val="0"/>
              </a:spcBef>
              <a:spcAft>
                <a:spcPts val="0"/>
              </a:spcAft>
            </a:pPr>
            <a:r>
              <a:rPr sz="2100" b="1" lang="ko-KR" spc="0">
                <a:solidFill>
                  <a:srgbClr val="95731A"/>
                </a:solidFill>
                <a:latin typeface="맑은 고딕"/>
                <a:ea typeface="맑은 고딕"/>
              </a:rPr>
              <a:t>폭염 불평등</a:t>
            </a:r>
          </a:p>
        </p:txBody>
      </p:sp>
      <p:sp>
        <p:nvSpPr>
          <p:cNvPr id="22" name="TextBox 21"/>
          <p:cNvSpPr txBox="1"/>
          <p:nvPr/>
        </p:nvSpPr>
        <p:spPr>
          <a:xfrm>
            <a:off x="3291840" y="4453127"/>
            <a:ext cx="4251960" cy="356616"/>
          </a:xfrm>
          <a:prstGeom prst="rect">
            <a:avLst/>
          </a:prstGeom>
          <a:noFill/>
        </p:spPr>
        <p:txBody>
          <a:bodyPr wrap="square" lIns="0" rIns="0" tIns="0" bIns="0" anchor="t">
            <a:spAutoFit/>
          </a:bodyPr>
          <a:lstStyle/>
          <a:p>
            <a:pPr algn="l">
              <a:lnSpc>
                <a:spcPct val="116000"/>
              </a:lnSpc>
              <a:spcBef>
                <a:spcPts val="0"/>
              </a:spcBef>
              <a:spcAft>
                <a:spcPts val="0"/>
              </a:spcAft>
            </a:pPr>
            <a:r>
              <a:rPr sz="1800" b="0" lang="ko-KR" spc="0">
                <a:solidFill>
                  <a:srgbClr val="202426"/>
                </a:solidFill>
                <a:latin typeface="맑은 고딕"/>
                <a:ea typeface="맑은 고딕"/>
              </a:rPr>
              <a:t>보호 자원에 더 쉽게 접근</a:t>
            </a:r>
          </a:p>
        </p:txBody>
      </p:sp>
      <p:sp>
        <p:nvSpPr>
          <p:cNvPr id="23" name="TextBox 22"/>
          <p:cNvSpPr txBox="1"/>
          <p:nvPr/>
        </p:nvSpPr>
        <p:spPr>
          <a:xfrm>
            <a:off x="7735824" y="4361688"/>
            <a:ext cx="3703320" cy="640080"/>
          </a:xfrm>
          <a:prstGeom prst="rect">
            <a:avLst/>
          </a:prstGeom>
          <a:noFill/>
        </p:spPr>
        <p:txBody>
          <a:bodyPr wrap="square" lIns="0" rIns="0" tIns="0" bIns="0" anchor="t">
            <a:spAutoFit/>
          </a:bodyPr>
          <a:lstStyle/>
          <a:p>
            <a:pPr algn="l">
              <a:lnSpc>
                <a:spcPct val="116000"/>
              </a:lnSpc>
              <a:spcBef>
                <a:spcPts val="0"/>
              </a:spcBef>
              <a:spcAft>
                <a:spcPts val="0"/>
              </a:spcAft>
            </a:pPr>
            <a:r>
              <a:rPr sz="1600" b="0" lang="ko-KR" spc="0">
                <a:solidFill>
                  <a:srgbClr val="60696D"/>
                </a:solidFill>
                <a:latin typeface="맑은 고딕"/>
                <a:ea typeface="맑은 고딕"/>
              </a:rPr>
              <a:t>쉼터 정보 탐색 성공률</a:t>
            </a:r>
          </a:p>
          <a:p>
            <a:pPr algn="l">
              <a:lnSpc>
                <a:spcPct val="116000"/>
              </a:lnSpc>
              <a:spcBef>
                <a:spcPts val="0"/>
              </a:spcBef>
              <a:spcAft>
                <a:spcPts val="0"/>
              </a:spcAft>
            </a:pPr>
            <a:r>
              <a:rPr sz="1600" b="0" lang="ko-KR" spc="0">
                <a:solidFill>
                  <a:srgbClr val="60696D"/>
                </a:solidFill>
                <a:latin typeface="맑은 고딕"/>
                <a:ea typeface="맑은 고딕"/>
              </a:rPr>
              <a:t>현장 지원 연결 소요 시간</a:t>
            </a:r>
          </a:p>
        </p:txBody>
      </p:sp>
      <p:sp>
        <p:nvSpPr>
          <p:cNvPr id="24" name="Rectangle 23"/>
          <p:cNvSpPr/>
          <p:nvPr/>
        </p:nvSpPr>
        <p:spPr>
          <a:xfrm>
            <a:off x="548640" y="5504688"/>
            <a:ext cx="11082528" cy="448056"/>
          </a:xfrm>
          <a:prstGeom prst="rect">
            <a:avLst/>
          </a:prstGeom>
          <a:solidFill>
            <a:srgbClr val="E8F4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5504688"/>
            <a:ext cx="50292" cy="448056"/>
          </a:xfrm>
          <a:prstGeom prst="rect">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5586984"/>
            <a:ext cx="10680192" cy="292608"/>
          </a:xfrm>
          <a:prstGeom prst="rect">
            <a:avLst/>
          </a:prstGeom>
          <a:noFill/>
        </p:spPr>
        <p:txBody>
          <a:bodyPr wrap="square" lIns="0" rIns="0" tIns="0" bIns="0" anchor="t">
            <a:spAutoFit/>
          </a:bodyPr>
          <a:lstStyle/>
          <a:p>
            <a:pPr algn="l">
              <a:lnSpc>
                <a:spcPct val="116000"/>
              </a:lnSpc>
              <a:spcBef>
                <a:spcPts val="0"/>
              </a:spcBef>
              <a:spcAft>
                <a:spcPts val="0"/>
              </a:spcAft>
            </a:pPr>
            <a:r>
              <a:rPr sz="1600" b="1" lang="ko-KR" spc="0">
                <a:solidFill>
                  <a:srgbClr val="202426"/>
                </a:solidFill>
                <a:latin typeface="맑은 고딕"/>
                <a:ea typeface="맑은 고딕"/>
              </a:rPr>
              <a:t>성공의 기준: 기능 수보다 실제 지원으로 이어지는 경험의 개선</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0607040" cy="219456"/>
          </a:xfrm>
          <a:prstGeom prst="rect">
            <a:avLst/>
          </a:prstGeom>
          <a:noFill/>
        </p:spPr>
        <p:txBody>
          <a:bodyPr wrap="square" lIns="0" rIns="0" tIns="0" bIns="0" anchor="t">
            <a:spAutoFit/>
          </a:bodyPr>
          <a:lstStyle/>
          <a:p>
            <a:pPr algn="l">
              <a:lnSpc>
                <a:spcPct val="116000"/>
              </a:lnSpc>
              <a:spcBef>
                <a:spcPts val="0"/>
              </a:spcBef>
              <a:spcAft>
                <a:spcPts val="0"/>
              </a:spcAft>
            </a:pPr>
            <a:r>
              <a:rPr sz="1000" b="1" lang="ko-KR" spc="0">
                <a:solidFill>
                  <a:srgbClr val="087F75"/>
                </a:solidFill>
                <a:latin typeface="맑은 고딕"/>
                <a:ea typeface="맑은 고딕"/>
              </a:rPr>
              <a:t>마무리</a:t>
            </a:r>
          </a:p>
        </p:txBody>
      </p:sp>
      <p:sp>
        <p:nvSpPr>
          <p:cNvPr id="4" name="TextBox 3"/>
          <p:cNvSpPr txBox="1"/>
          <p:nvPr/>
        </p:nvSpPr>
        <p:spPr>
          <a:xfrm>
            <a:off x="548640" y="795528"/>
            <a:ext cx="10972800" cy="585216"/>
          </a:xfrm>
          <a:prstGeom prst="rect">
            <a:avLst/>
          </a:prstGeom>
          <a:noFill/>
        </p:spPr>
        <p:txBody>
          <a:bodyPr wrap="square" lIns="0" rIns="0" tIns="0" bIns="0" anchor="t">
            <a:spAutoFit/>
          </a:bodyPr>
          <a:lstStyle/>
          <a:p>
            <a:pPr algn="l">
              <a:lnSpc>
                <a:spcPct val="116000"/>
              </a:lnSpc>
              <a:spcBef>
                <a:spcPts val="0"/>
              </a:spcBef>
              <a:spcAft>
                <a:spcPts val="0"/>
              </a:spcAft>
            </a:pPr>
            <a:r>
              <a:rPr sz="2900" b="1" lang="ko-KR" spc="0">
                <a:solidFill>
                  <a:srgbClr val="202426"/>
                </a:solidFill>
                <a:latin typeface="맑은 고딕"/>
                <a:ea typeface="맑은 고딕"/>
              </a:rPr>
              <a:t>기술로 지원을 잇고, 디자인으로 경험을 바꾸다</a:t>
            </a:r>
          </a:p>
        </p:txBody>
      </p:sp>
      <p:cxnSp>
        <p:nvCxnSpPr>
          <p:cNvPr id="5" name="Connector 4"/>
          <p:cNvCxnSpPr/>
          <p:nvPr/>
        </p:nvCxnSpPr>
        <p:spPr>
          <a:xfrm>
            <a:off x="548640" y="6364224"/>
            <a:ext cx="11082528"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48640" y="6492240"/>
            <a:ext cx="5486400" cy="182880"/>
          </a:xfrm>
          <a:prstGeom prst="rect">
            <a:avLst/>
          </a:prstGeom>
          <a:noFill/>
        </p:spPr>
        <p:txBody>
          <a:bodyPr wrap="square" lIns="0" rIns="0" tIns="0" bIns="0" anchor="t">
            <a:spAutoFit/>
          </a:bodyPr>
          <a:lstStyle/>
          <a:p>
            <a:pPr algn="l">
              <a:lnSpc>
                <a:spcPct val="116000"/>
              </a:lnSpc>
              <a:spcBef>
                <a:spcPts val="0"/>
              </a:spcBef>
              <a:spcAft>
                <a:spcPts val="0"/>
              </a:spcAft>
            </a:pPr>
            <a:r>
              <a:rPr sz="900" b="0" lang="ko-KR" spc="0">
                <a:solidFill>
                  <a:srgbClr val="60696D"/>
                </a:solidFill>
                <a:latin typeface="맑은 고딕"/>
                <a:ea typeface="맑은 고딕"/>
              </a:rPr>
              <a:t>사회혁신 · 기술기반 디자인 제안</a:t>
            </a:r>
          </a:p>
        </p:txBody>
      </p:sp>
      <p:sp>
        <p:nvSpPr>
          <p:cNvPr id="7" name="TextBox 6"/>
          <p:cNvSpPr txBox="1"/>
          <p:nvPr/>
        </p:nvSpPr>
        <p:spPr>
          <a:xfrm>
            <a:off x="10515600" y="6464808"/>
            <a:ext cx="1115568" cy="228600"/>
          </a:xfrm>
          <a:prstGeom prst="rect">
            <a:avLst/>
          </a:prstGeom>
          <a:noFill/>
        </p:spPr>
        <p:txBody>
          <a:bodyPr wrap="square" lIns="0" rIns="0" tIns="0" bIns="0" anchor="t">
            <a:spAutoFit/>
          </a:bodyPr>
          <a:lstStyle/>
          <a:p>
            <a:pPr algn="r">
              <a:lnSpc>
                <a:spcPct val="116000"/>
              </a:lnSpc>
              <a:spcBef>
                <a:spcPts val="0"/>
              </a:spcBef>
              <a:spcAft>
                <a:spcPts val="0"/>
              </a:spcAft>
            </a:pPr>
            <a:r>
              <a:rPr sz="1000" b="0" lang="ko-KR" spc="0">
                <a:solidFill>
                  <a:srgbClr val="60696D"/>
                </a:solidFill>
                <a:latin typeface="맑은 고딕"/>
                <a:ea typeface="맑은 고딕"/>
              </a:rPr>
              <a:t>08 / 09</a:t>
            </a:r>
          </a:p>
        </p:txBody>
      </p:sp>
      <p:sp>
        <p:nvSpPr>
          <p:cNvPr id="8" name="TextBox 7"/>
          <p:cNvSpPr txBox="1"/>
          <p:nvPr/>
        </p:nvSpPr>
        <p:spPr>
          <a:xfrm>
            <a:off x="749808" y="1956816"/>
            <a:ext cx="10607040" cy="557784"/>
          </a:xfrm>
          <a:prstGeom prst="rect">
            <a:avLst/>
          </a:prstGeom>
          <a:noFill/>
        </p:spPr>
        <p:txBody>
          <a:bodyPr wrap="square" lIns="0" rIns="0" tIns="0" bIns="0" anchor="t">
            <a:spAutoFit/>
          </a:bodyPr>
          <a:lstStyle/>
          <a:p>
            <a:pPr algn="l">
              <a:lnSpc>
                <a:spcPct val="116000"/>
              </a:lnSpc>
              <a:spcBef>
                <a:spcPts val="0"/>
              </a:spcBef>
              <a:spcAft>
                <a:spcPts val="0"/>
              </a:spcAft>
            </a:pPr>
            <a:r>
              <a:rPr sz="3200" b="1" lang="ko-KR" spc="0">
                <a:solidFill>
                  <a:srgbClr val="D45165"/>
                </a:solidFill>
                <a:latin typeface="맑은 고딕"/>
                <a:ea typeface="맑은 고딕"/>
              </a:rPr>
              <a:t>정보를 찾게 하고</a:t>
            </a:r>
          </a:p>
        </p:txBody>
      </p:sp>
      <p:sp>
        <p:nvSpPr>
          <p:cNvPr id="9" name="TextBox 8"/>
          <p:cNvSpPr txBox="1"/>
          <p:nvPr/>
        </p:nvSpPr>
        <p:spPr>
          <a:xfrm>
            <a:off x="749808" y="2816352"/>
            <a:ext cx="10607040" cy="557784"/>
          </a:xfrm>
          <a:prstGeom prst="rect">
            <a:avLst/>
          </a:prstGeom>
          <a:noFill/>
        </p:spPr>
        <p:txBody>
          <a:bodyPr wrap="square" lIns="0" rIns="0" tIns="0" bIns="0" anchor="t">
            <a:spAutoFit/>
          </a:bodyPr>
          <a:lstStyle/>
          <a:p>
            <a:pPr algn="l">
              <a:lnSpc>
                <a:spcPct val="116000"/>
              </a:lnSpc>
              <a:spcBef>
                <a:spcPts val="0"/>
              </a:spcBef>
              <a:spcAft>
                <a:spcPts val="0"/>
              </a:spcAft>
            </a:pPr>
            <a:r>
              <a:rPr sz="3200" b="1" lang="ko-KR" spc="0">
                <a:solidFill>
                  <a:srgbClr val="087F75"/>
                </a:solidFill>
                <a:latin typeface="맑은 고딕"/>
                <a:ea typeface="맑은 고딕"/>
              </a:rPr>
              <a:t>관계를 시작하게 하고</a:t>
            </a:r>
          </a:p>
        </p:txBody>
      </p:sp>
      <p:sp>
        <p:nvSpPr>
          <p:cNvPr id="10" name="TextBox 9"/>
          <p:cNvSpPr txBox="1"/>
          <p:nvPr/>
        </p:nvSpPr>
        <p:spPr>
          <a:xfrm>
            <a:off x="749808" y="3675887"/>
            <a:ext cx="10607040" cy="557784"/>
          </a:xfrm>
          <a:prstGeom prst="rect">
            <a:avLst/>
          </a:prstGeom>
          <a:noFill/>
        </p:spPr>
        <p:txBody>
          <a:bodyPr wrap="square" lIns="0" rIns="0" tIns="0" bIns="0" anchor="t">
            <a:spAutoFit/>
          </a:bodyPr>
          <a:lstStyle/>
          <a:p>
            <a:pPr algn="l">
              <a:lnSpc>
                <a:spcPct val="116000"/>
              </a:lnSpc>
              <a:spcBef>
                <a:spcPts val="0"/>
              </a:spcBef>
              <a:spcAft>
                <a:spcPts val="0"/>
              </a:spcAft>
            </a:pPr>
            <a:r>
              <a:rPr sz="3200" b="1" lang="ko-KR" spc="0">
                <a:solidFill>
                  <a:srgbClr val="202426"/>
                </a:solidFill>
                <a:latin typeface="맑은 고딕"/>
                <a:ea typeface="맑은 고딕"/>
              </a:rPr>
              <a:t>보호에 도달하게 한다</a:t>
            </a:r>
          </a:p>
        </p:txBody>
      </p:sp>
      <p:cxnSp>
        <p:nvCxnSpPr>
          <p:cNvPr id="11" name="Connector 10"/>
          <p:cNvCxnSpPr/>
          <p:nvPr/>
        </p:nvCxnSpPr>
        <p:spPr>
          <a:xfrm>
            <a:off x="758952" y="4654296"/>
            <a:ext cx="10625328"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68096" y="4992624"/>
            <a:ext cx="2011680" cy="292608"/>
          </a:xfrm>
          <a:prstGeom prst="rect">
            <a:avLst/>
          </a:prstGeom>
          <a:noFill/>
        </p:spPr>
        <p:txBody>
          <a:bodyPr wrap="square" lIns="0" rIns="0" tIns="0" bIns="0" anchor="t">
            <a:spAutoFit/>
          </a:bodyPr>
          <a:lstStyle/>
          <a:p>
            <a:pPr algn="l">
              <a:lnSpc>
                <a:spcPct val="116000"/>
              </a:lnSpc>
              <a:spcBef>
                <a:spcPts val="0"/>
              </a:spcBef>
              <a:spcAft>
                <a:spcPts val="0"/>
              </a:spcAft>
            </a:pPr>
            <a:r>
              <a:rPr sz="1300" b="1" lang="ko-KR" spc="0">
                <a:solidFill>
                  <a:srgbClr val="60696D"/>
                </a:solidFill>
                <a:latin typeface="맑은 고딕"/>
                <a:ea typeface="맑은 고딕"/>
              </a:rPr>
              <a:t>후속 연구 질문</a:t>
            </a:r>
          </a:p>
        </p:txBody>
      </p:sp>
      <p:sp>
        <p:nvSpPr>
          <p:cNvPr id="13" name="TextBox 12"/>
          <p:cNvSpPr txBox="1"/>
          <p:nvPr/>
        </p:nvSpPr>
        <p:spPr>
          <a:xfrm>
            <a:off x="768096" y="5477256"/>
            <a:ext cx="10625328" cy="429768"/>
          </a:xfrm>
          <a:prstGeom prst="rect">
            <a:avLst/>
          </a:prstGeom>
          <a:noFill/>
        </p:spPr>
        <p:txBody>
          <a:bodyPr wrap="square" lIns="0" rIns="0" tIns="0" bIns="0" anchor="t">
            <a:spAutoFit/>
          </a:bodyPr>
          <a:lstStyle/>
          <a:p>
            <a:pPr algn="l">
              <a:lnSpc>
                <a:spcPct val="116000"/>
              </a:lnSpc>
              <a:spcBef>
                <a:spcPts val="0"/>
              </a:spcBef>
              <a:spcAft>
                <a:spcPts val="0"/>
              </a:spcAft>
            </a:pPr>
            <a:r>
              <a:rPr sz="2400" b="1" lang="ko-KR" spc="0">
                <a:solidFill>
                  <a:srgbClr val="202426"/>
                </a:solidFill>
                <a:latin typeface="맑은 고딕"/>
                <a:ea typeface="맑은 고딕"/>
              </a:rPr>
              <a:t>어떤 연결을 바꾸면, 사용자의 일상이 실제로 나아질까?</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999" cy="64008"/>
          </a:xfrm>
          <a:prstGeom prst="rect">
            <a:avLst/>
          </a:prstGeom>
          <a:solidFill>
            <a:srgbClr val="087F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29184"/>
            <a:ext cx="10607040" cy="219456"/>
          </a:xfrm>
          <a:prstGeom prst="rect">
            <a:avLst/>
          </a:prstGeom>
          <a:noFill/>
        </p:spPr>
        <p:txBody>
          <a:bodyPr wrap="square" lIns="0" rIns="0" tIns="0" bIns="0" anchor="t">
            <a:spAutoFit/>
          </a:bodyPr>
          <a:lstStyle/>
          <a:p>
            <a:pPr algn="l">
              <a:lnSpc>
                <a:spcPct val="116000"/>
              </a:lnSpc>
              <a:spcBef>
                <a:spcPts val="0"/>
              </a:spcBef>
              <a:spcAft>
                <a:spcPts val="0"/>
              </a:spcAft>
            </a:pPr>
            <a:r>
              <a:rPr sz="1000" b="1" lang="ko-KR" spc="0">
                <a:solidFill>
                  <a:srgbClr val="087F75"/>
                </a:solidFill>
                <a:latin typeface="맑은 고딕"/>
                <a:ea typeface="맑은 고딕"/>
              </a:rPr>
              <a:t>참고자료</a:t>
            </a:r>
          </a:p>
        </p:txBody>
      </p:sp>
      <p:sp>
        <p:nvSpPr>
          <p:cNvPr id="4" name="TextBox 3"/>
          <p:cNvSpPr txBox="1"/>
          <p:nvPr/>
        </p:nvSpPr>
        <p:spPr>
          <a:xfrm>
            <a:off x="548640" y="795528"/>
            <a:ext cx="10972800" cy="585216"/>
          </a:xfrm>
          <a:prstGeom prst="rect">
            <a:avLst/>
          </a:prstGeom>
          <a:noFill/>
        </p:spPr>
        <p:txBody>
          <a:bodyPr wrap="square" lIns="0" rIns="0" tIns="0" bIns="0" anchor="t">
            <a:spAutoFit/>
          </a:bodyPr>
          <a:lstStyle/>
          <a:p>
            <a:pPr algn="l">
              <a:lnSpc>
                <a:spcPct val="116000"/>
              </a:lnSpc>
              <a:spcBef>
                <a:spcPts val="0"/>
              </a:spcBef>
              <a:spcAft>
                <a:spcPts val="0"/>
              </a:spcAft>
            </a:pPr>
            <a:r>
              <a:rPr sz="2900" b="1" lang="ko-KR" spc="0">
                <a:solidFill>
                  <a:srgbClr val="202426"/>
                </a:solidFill>
                <a:latin typeface="맑은 고딕"/>
                <a:ea typeface="맑은 고딕"/>
              </a:rPr>
              <a:t>자료 출처</a:t>
            </a:r>
          </a:p>
        </p:txBody>
      </p:sp>
      <p:sp>
        <p:nvSpPr>
          <p:cNvPr id="5" name="TextBox 4"/>
          <p:cNvSpPr txBox="1"/>
          <p:nvPr/>
        </p:nvSpPr>
        <p:spPr>
          <a:xfrm>
            <a:off x="576072" y="1444752"/>
            <a:ext cx="10881360" cy="365760"/>
          </a:xfrm>
          <a:prstGeom prst="rect">
            <a:avLst/>
          </a:prstGeom>
          <a:noFill/>
        </p:spPr>
        <p:txBody>
          <a:bodyPr wrap="square" lIns="0" rIns="0" tIns="0" bIns="0" anchor="t">
            <a:spAutoFit/>
          </a:bodyPr>
          <a:lstStyle/>
          <a:p>
            <a:pPr algn="l">
              <a:lnSpc>
                <a:spcPct val="116000"/>
              </a:lnSpc>
              <a:spcBef>
                <a:spcPts val="0"/>
              </a:spcBef>
              <a:spcAft>
                <a:spcPts val="0"/>
              </a:spcAft>
            </a:pPr>
            <a:r>
              <a:rPr sz="1400" b="0" lang="ko-KR" spc="0">
                <a:solidFill>
                  <a:srgbClr val="60696D"/>
                </a:solidFill>
                <a:latin typeface="맑은 고딕"/>
                <a:ea typeface="맑은 고딕"/>
              </a:rPr>
              <a:t>기사·공공자료는 문제 배경의 근거이며, 해결책과 로드맵은 발표자의 설계 제안이다.</a:t>
            </a:r>
          </a:p>
        </p:txBody>
      </p:sp>
      <p:cxnSp>
        <p:nvCxnSpPr>
          <p:cNvPr id="6" name="Connector 5"/>
          <p:cNvCxnSpPr/>
          <p:nvPr/>
        </p:nvCxnSpPr>
        <p:spPr>
          <a:xfrm>
            <a:off x="548640" y="6364224"/>
            <a:ext cx="11082528"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6492240"/>
            <a:ext cx="5486400" cy="182880"/>
          </a:xfrm>
          <a:prstGeom prst="rect">
            <a:avLst/>
          </a:prstGeom>
          <a:noFill/>
        </p:spPr>
        <p:txBody>
          <a:bodyPr wrap="square" lIns="0" rIns="0" tIns="0" bIns="0" anchor="t">
            <a:spAutoFit/>
          </a:bodyPr>
          <a:lstStyle/>
          <a:p>
            <a:pPr algn="l">
              <a:lnSpc>
                <a:spcPct val="116000"/>
              </a:lnSpc>
              <a:spcBef>
                <a:spcPts val="0"/>
              </a:spcBef>
              <a:spcAft>
                <a:spcPts val="0"/>
              </a:spcAft>
            </a:pPr>
            <a:r>
              <a:rPr sz="900" b="0" lang="ko-KR" spc="0">
                <a:solidFill>
                  <a:srgbClr val="60696D"/>
                </a:solidFill>
                <a:latin typeface="맑은 고딕"/>
                <a:ea typeface="맑은 고딕"/>
              </a:rPr>
              <a:t>사회혁신 · 기술기반 디자인 제안</a:t>
            </a:r>
          </a:p>
        </p:txBody>
      </p:sp>
      <p:sp>
        <p:nvSpPr>
          <p:cNvPr id="8" name="TextBox 7"/>
          <p:cNvSpPr txBox="1"/>
          <p:nvPr/>
        </p:nvSpPr>
        <p:spPr>
          <a:xfrm>
            <a:off x="10515600" y="6464808"/>
            <a:ext cx="1115568" cy="228600"/>
          </a:xfrm>
          <a:prstGeom prst="rect">
            <a:avLst/>
          </a:prstGeom>
          <a:noFill/>
        </p:spPr>
        <p:txBody>
          <a:bodyPr wrap="square" lIns="0" rIns="0" tIns="0" bIns="0" anchor="t">
            <a:spAutoFit/>
          </a:bodyPr>
          <a:lstStyle/>
          <a:p>
            <a:pPr algn="r">
              <a:lnSpc>
                <a:spcPct val="116000"/>
              </a:lnSpc>
              <a:spcBef>
                <a:spcPts val="0"/>
              </a:spcBef>
              <a:spcAft>
                <a:spcPts val="0"/>
              </a:spcAft>
            </a:pPr>
            <a:r>
              <a:rPr sz="1000" b="0" lang="ko-KR" spc="0">
                <a:solidFill>
                  <a:srgbClr val="60696D"/>
                </a:solidFill>
                <a:latin typeface="맑은 고딕"/>
                <a:ea typeface="맑은 고딕"/>
              </a:rPr>
              <a:t>09 / 09</a:t>
            </a:r>
          </a:p>
        </p:txBody>
      </p:sp>
      <p:cxnSp>
        <p:nvCxnSpPr>
          <p:cNvPr id="9" name="Connector 8"/>
          <p:cNvCxnSpPr/>
          <p:nvPr/>
        </p:nvCxnSpPr>
        <p:spPr>
          <a:xfrm>
            <a:off x="594360" y="1901952"/>
            <a:ext cx="10981944"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04088" y="2093976"/>
            <a:ext cx="502920" cy="310896"/>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087F75"/>
                </a:solidFill>
                <a:latin typeface="맑은 고딕"/>
                <a:ea typeface="맑은 고딕"/>
              </a:rPr>
              <a:t>[1]</a:t>
            </a:r>
          </a:p>
        </p:txBody>
      </p:sp>
      <p:sp>
        <p:nvSpPr>
          <p:cNvPr id="11" name="TextBox 10"/>
          <p:cNvSpPr txBox="1"/>
          <p:nvPr/>
        </p:nvSpPr>
        <p:spPr>
          <a:xfrm>
            <a:off x="1362456" y="1993392"/>
            <a:ext cx="10030968" cy="384048"/>
          </a:xfrm>
          <a:prstGeom prst="rect">
            <a:avLst/>
          </a:prstGeom>
          <a:noFill/>
        </p:spPr>
        <p:txBody>
          <a:bodyPr wrap="square" lIns="0" rIns="0" tIns="0" bIns="0" anchor="t">
            <a:spAutoFit/>
          </a:bodyPr>
          <a:lstStyle/>
          <a:p>
            <a:pPr algn="l">
              <a:lnSpc>
                <a:spcPct val="116000"/>
              </a:lnSpc>
              <a:spcBef>
                <a:spcPts val="0"/>
              </a:spcBef>
              <a:spcAft>
                <a:spcPts val="0"/>
              </a:spcAft>
            </a:pPr>
            <a:r>
              <a:rPr sz="1900" b="1" lang="ko-KR" spc="0">
                <a:solidFill>
                  <a:srgbClr val="202426"/>
                </a:solidFill>
                <a:latin typeface="맑은 고딕"/>
                <a:ea typeface="맑은 고딕"/>
                <a:hlinkClick r:id="rId2"/>
              </a:rPr>
              <a:t>2026년 7월 고용동향</a:t>
            </a:r>
          </a:p>
        </p:txBody>
      </p:sp>
      <p:sp>
        <p:nvSpPr>
          <p:cNvPr id="12" name="TextBox 11"/>
          <p:cNvSpPr txBox="1"/>
          <p:nvPr/>
        </p:nvSpPr>
        <p:spPr>
          <a:xfrm>
            <a:off x="1371600" y="2468880"/>
            <a:ext cx="100035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0" lang="ko-KR" spc="0">
                <a:solidFill>
                  <a:srgbClr val="60696D"/>
                </a:solidFill>
                <a:latin typeface="맑은 고딕"/>
                <a:ea typeface="맑은 고딕"/>
              </a:rPr>
              <a:t>국가데이터처 · 대한민국 정책브리핑  |  2026.08.12</a:t>
            </a:r>
          </a:p>
        </p:txBody>
      </p:sp>
      <p:cxnSp>
        <p:nvCxnSpPr>
          <p:cNvPr id="13" name="Connector 12"/>
          <p:cNvCxnSpPr/>
          <p:nvPr/>
        </p:nvCxnSpPr>
        <p:spPr>
          <a:xfrm>
            <a:off x="594360" y="2798064"/>
            <a:ext cx="10981944"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04088" y="2990088"/>
            <a:ext cx="502920" cy="310896"/>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087F75"/>
                </a:solidFill>
                <a:latin typeface="맑은 고딕"/>
                <a:ea typeface="맑은 고딕"/>
              </a:rPr>
              <a:t>[2]</a:t>
            </a:r>
          </a:p>
        </p:txBody>
      </p:sp>
      <p:sp>
        <p:nvSpPr>
          <p:cNvPr id="15" name="TextBox 14"/>
          <p:cNvSpPr txBox="1"/>
          <p:nvPr/>
        </p:nvSpPr>
        <p:spPr>
          <a:xfrm>
            <a:off x="1362456" y="2889504"/>
            <a:ext cx="10030968" cy="384048"/>
          </a:xfrm>
          <a:prstGeom prst="rect">
            <a:avLst/>
          </a:prstGeom>
          <a:noFill/>
        </p:spPr>
        <p:txBody>
          <a:bodyPr wrap="square" lIns="0" rIns="0" tIns="0" bIns="0" anchor="t">
            <a:spAutoFit/>
          </a:bodyPr>
          <a:lstStyle/>
          <a:p>
            <a:pPr algn="l">
              <a:lnSpc>
                <a:spcPct val="116000"/>
              </a:lnSpc>
              <a:spcBef>
                <a:spcPts val="0"/>
              </a:spcBef>
              <a:spcAft>
                <a:spcPts val="0"/>
              </a:spcAft>
            </a:pPr>
            <a:r>
              <a:rPr sz="1900" b="1" lang="ko-KR" spc="0">
                <a:solidFill>
                  <a:srgbClr val="202426"/>
                </a:solidFill>
                <a:latin typeface="맑은 고딕"/>
                <a:ea typeface="맑은 고딕"/>
                <a:hlinkClick r:id="rId3"/>
              </a:rPr>
              <a:t>'청년월세 특별지원' 나도 신청할 수 있을까</a:t>
            </a:r>
          </a:p>
        </p:txBody>
      </p:sp>
      <p:sp>
        <p:nvSpPr>
          <p:cNvPr id="16" name="TextBox 15"/>
          <p:cNvSpPr txBox="1"/>
          <p:nvPr/>
        </p:nvSpPr>
        <p:spPr>
          <a:xfrm>
            <a:off x="1371600" y="3364992"/>
            <a:ext cx="100035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0" lang="ko-KR" spc="0">
                <a:solidFill>
                  <a:srgbClr val="60696D"/>
                </a:solidFill>
                <a:latin typeface="맑은 고딕"/>
                <a:ea typeface="맑은 고딕"/>
              </a:rPr>
              <a:t>정책기자단 김윤희 · 대한민국 정책브리핑  |  2026.01.29</a:t>
            </a:r>
          </a:p>
        </p:txBody>
      </p:sp>
      <p:cxnSp>
        <p:nvCxnSpPr>
          <p:cNvPr id="17" name="Connector 16"/>
          <p:cNvCxnSpPr/>
          <p:nvPr/>
        </p:nvCxnSpPr>
        <p:spPr>
          <a:xfrm>
            <a:off x="594360" y="3694176"/>
            <a:ext cx="10981944"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704088" y="3886200"/>
            <a:ext cx="502920" cy="310896"/>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087F75"/>
                </a:solidFill>
                <a:latin typeface="맑은 고딕"/>
                <a:ea typeface="맑은 고딕"/>
              </a:rPr>
              <a:t>[3]</a:t>
            </a:r>
          </a:p>
        </p:txBody>
      </p:sp>
      <p:sp>
        <p:nvSpPr>
          <p:cNvPr id="19" name="TextBox 18"/>
          <p:cNvSpPr txBox="1"/>
          <p:nvPr/>
        </p:nvSpPr>
        <p:spPr>
          <a:xfrm>
            <a:off x="1362456" y="3785615"/>
            <a:ext cx="10030968" cy="384048"/>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202426"/>
                </a:solidFill>
                <a:latin typeface="맑은 고딕"/>
                <a:ea typeface="맑은 고딕"/>
                <a:hlinkClick r:id="rId4"/>
              </a:rPr>
              <a:t>'사회적 고립 예방' 국가 과제로 관리…범정부 대응체계 구축</a:t>
            </a:r>
          </a:p>
        </p:txBody>
      </p:sp>
      <p:sp>
        <p:nvSpPr>
          <p:cNvPr id="20" name="TextBox 19"/>
          <p:cNvSpPr txBox="1"/>
          <p:nvPr/>
        </p:nvSpPr>
        <p:spPr>
          <a:xfrm>
            <a:off x="1371600" y="4261104"/>
            <a:ext cx="100035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0" lang="ko-KR" spc="0">
                <a:solidFill>
                  <a:srgbClr val="60696D"/>
                </a:solidFill>
                <a:latin typeface="맑은 고딕"/>
                <a:ea typeface="맑은 고딕"/>
              </a:rPr>
              <a:t>보건복지부 · 대한민국 정책브리핑  |  2026.05.13</a:t>
            </a:r>
          </a:p>
        </p:txBody>
      </p:sp>
      <p:cxnSp>
        <p:nvCxnSpPr>
          <p:cNvPr id="21" name="Connector 20"/>
          <p:cNvCxnSpPr/>
          <p:nvPr/>
        </p:nvCxnSpPr>
        <p:spPr>
          <a:xfrm>
            <a:off x="594360" y="4590288"/>
            <a:ext cx="10981944" cy="0"/>
          </a:xfrm>
          <a:prstGeom prst="line">
            <a:avLst/>
          </a:prstGeom>
          <a:ln w="12700">
            <a:solidFill>
              <a:srgbClr val="DCE2E3"/>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04088" y="4782312"/>
            <a:ext cx="502920" cy="310896"/>
          </a:xfrm>
          <a:prstGeom prst="rect">
            <a:avLst/>
          </a:prstGeom>
          <a:noFill/>
        </p:spPr>
        <p:txBody>
          <a:bodyPr wrap="square" lIns="0" rIns="0" tIns="0" bIns="0" anchor="t">
            <a:spAutoFit/>
          </a:bodyPr>
          <a:lstStyle/>
          <a:p>
            <a:pPr algn="l">
              <a:lnSpc>
                <a:spcPct val="116000"/>
              </a:lnSpc>
              <a:spcBef>
                <a:spcPts val="0"/>
              </a:spcBef>
              <a:spcAft>
                <a:spcPts val="0"/>
              </a:spcAft>
            </a:pPr>
            <a:r>
              <a:rPr sz="1700" b="1" lang="ko-KR" spc="0">
                <a:solidFill>
                  <a:srgbClr val="087F75"/>
                </a:solidFill>
                <a:latin typeface="맑은 고딕"/>
                <a:ea typeface="맑은 고딕"/>
              </a:rPr>
              <a:t>[4]</a:t>
            </a:r>
          </a:p>
        </p:txBody>
      </p:sp>
      <p:sp>
        <p:nvSpPr>
          <p:cNvPr id="23" name="TextBox 22"/>
          <p:cNvSpPr txBox="1"/>
          <p:nvPr/>
        </p:nvSpPr>
        <p:spPr>
          <a:xfrm>
            <a:off x="1362456" y="4681727"/>
            <a:ext cx="10030968" cy="384048"/>
          </a:xfrm>
          <a:prstGeom prst="rect">
            <a:avLst/>
          </a:prstGeom>
          <a:noFill/>
        </p:spPr>
        <p:txBody>
          <a:bodyPr wrap="square" lIns="0" rIns="0" tIns="0" bIns="0" anchor="t">
            <a:spAutoFit/>
          </a:bodyPr>
          <a:lstStyle/>
          <a:p>
            <a:pPr algn="l">
              <a:lnSpc>
                <a:spcPct val="116000"/>
              </a:lnSpc>
              <a:spcBef>
                <a:spcPts val="0"/>
              </a:spcBef>
              <a:spcAft>
                <a:spcPts val="0"/>
              </a:spcAft>
            </a:pPr>
            <a:r>
              <a:rPr sz="1900" b="1" lang="ko-KR" spc="0">
                <a:solidFill>
                  <a:srgbClr val="202426"/>
                </a:solidFill>
                <a:latin typeface="맑은 고딕"/>
                <a:ea typeface="맑은 고딕"/>
                <a:hlinkClick r:id="rId5"/>
              </a:rPr>
              <a:t>첫 '폭염중대경보' 발령, 건강수칙 준수 당부</a:t>
            </a:r>
          </a:p>
        </p:txBody>
      </p:sp>
      <p:sp>
        <p:nvSpPr>
          <p:cNvPr id="24" name="TextBox 23"/>
          <p:cNvSpPr txBox="1"/>
          <p:nvPr/>
        </p:nvSpPr>
        <p:spPr>
          <a:xfrm>
            <a:off x="1371600" y="5157216"/>
            <a:ext cx="10003536" cy="274320"/>
          </a:xfrm>
          <a:prstGeom prst="rect">
            <a:avLst/>
          </a:prstGeom>
          <a:noFill/>
        </p:spPr>
        <p:txBody>
          <a:bodyPr wrap="square" lIns="0" rIns="0" tIns="0" bIns="0" anchor="t">
            <a:spAutoFit/>
          </a:bodyPr>
          <a:lstStyle/>
          <a:p>
            <a:pPr algn="l">
              <a:lnSpc>
                <a:spcPct val="116000"/>
              </a:lnSpc>
              <a:spcBef>
                <a:spcPts val="0"/>
              </a:spcBef>
              <a:spcAft>
                <a:spcPts val="0"/>
              </a:spcAft>
            </a:pPr>
            <a:r>
              <a:rPr sz="1200" b="0" lang="ko-KR" spc="0">
                <a:solidFill>
                  <a:srgbClr val="60696D"/>
                </a:solidFill>
                <a:latin typeface="맑은 고딕"/>
                <a:ea typeface="맑은 고딕"/>
              </a:rPr>
              <a:t>질병관리청  |  2026.07.12</a:t>
            </a:r>
          </a:p>
        </p:txBody>
      </p:sp>
      <p:sp>
        <p:nvSpPr>
          <p:cNvPr id="25" name="TextBox 24"/>
          <p:cNvSpPr txBox="1"/>
          <p:nvPr/>
        </p:nvSpPr>
        <p:spPr>
          <a:xfrm>
            <a:off x="704088" y="5852160"/>
            <a:ext cx="10789920" cy="265176"/>
          </a:xfrm>
          <a:prstGeom prst="rect">
            <a:avLst/>
          </a:prstGeom>
          <a:noFill/>
        </p:spPr>
        <p:txBody>
          <a:bodyPr wrap="square" lIns="0" rIns="0" tIns="0" bIns="0" anchor="t">
            <a:spAutoFit/>
          </a:bodyPr>
          <a:lstStyle/>
          <a:p>
            <a:pPr algn="l">
              <a:lnSpc>
                <a:spcPct val="116000"/>
              </a:lnSpc>
              <a:spcBef>
                <a:spcPts val="0"/>
              </a:spcBef>
              <a:spcAft>
                <a:spcPts val="0"/>
              </a:spcAft>
            </a:pPr>
            <a:r>
              <a:rPr sz="1100" b="0" lang="ko-KR" spc="0">
                <a:solidFill>
                  <a:srgbClr val="60696D"/>
                </a:solidFill>
                <a:latin typeface="맑은 고딕"/>
                <a:ea typeface="맑은 고딕"/>
              </a:rPr>
              <a:t>구성 기준: 제공된 교과목 설명의 리서치 · Pain point · 기술 로드맵 · 기술기반 디자인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사회문제를 연결의 디자인으로</dc:title>
  <dc:subject>청년 자립, 사회적 고립, 폭염 불평등에 대한 기술기반 디자인 제안</dc:subject>
  <dc:creator/>
  <cp:keywords>사회혁신, 산업디자인, Pain point, 기술 로드맵</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