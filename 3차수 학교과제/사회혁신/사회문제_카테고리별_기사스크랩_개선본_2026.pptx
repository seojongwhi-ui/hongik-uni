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  <p:defaultTextStyle>
    <a:defPPr>
      <a:defRPr lang="ko-KR">
        <a:latin typeface="Malgun Gothic"/>
        <a:ea typeface="Malgun Gothic"/>
      </a:defRPr>
    </a:def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0F3D4A"/>
          </a:solidFill>
          <a:ln w="9525">
            <a:solidFill>
              <a:srgbClr val="0F3D4A"/>
            </a:solidFill>
          </a:ln>
        </p:spPr>
      </p:sp>
      <p:sp>
        <p:nvSpPr>
          <p:cNvPr id="3" name="Kicker"/>
          <p:cNvSpPr txBox="1"/>
          <p:nvPr/>
        </p:nvSpPr>
        <p:spPr>
          <a:xfrm>
            <a:off x="880000" y="820000"/>
            <a:ext cx="52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600" b="1">
                <a:solidFill>
                  <a:srgbClr val="0F766E"/>
                </a:solidFill>
                <a:latin typeface="Malgun Gothic"/>
                <a:ea typeface="Malgun Gothic"/>
              </a:rPr>
              <a:t>사회혁신 과제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880000" y="1370000"/>
            <a:ext cx="9300000" cy="1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3900" b="1">
                <a:solidFill>
                  <a:srgbClr val="111827"/>
                </a:solidFill>
                <a:latin typeface="Malgun Gothic"/>
                <a:ea typeface="Malgun Gothic"/>
              </a:rPr>
              <a:t>사회문제 카테고리별</a:t>
            </a:r>
          </a:p>
          <a:p>
            <a:pPr algn="l"/>
            <a:r>
              <a:rPr lang="ko-KR" sz="3900" b="1">
                <a:solidFill>
                  <a:srgbClr val="111827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5" name="Sub"/>
          <p:cNvSpPr txBox="1"/>
          <p:nvPr/>
        </p:nvSpPr>
        <p:spPr>
          <a:xfrm>
            <a:off x="900000" y="2860000"/>
            <a:ext cx="9600000" cy="6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950">
                <a:solidFill>
                  <a:srgbClr val="475569"/>
                </a:solidFill>
                <a:latin typeface="Malgun Gothic"/>
                <a:ea typeface="Malgun Gothic"/>
              </a:rPr>
              <a:t>카테고리별로 어떤 문제가 있는지 정리하고, 관련 기사·공공자료의 핵심만 스크랩했습니다.</a:t>
            </a:r>
          </a:p>
        </p:txBody>
      </p:sp>
      <p:sp>
        <p:nvSpPr>
          <p:cNvPr id="6" name="ListBg"/>
          <p:cNvSpPr/>
          <p:nvPr/>
        </p:nvSpPr>
        <p:spPr>
          <a:xfrm>
            <a:off x="900000" y="3940000"/>
            <a:ext cx="9900000" cy="122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7" name="List"/>
          <p:cNvSpPr txBox="1"/>
          <p:nvPr/>
        </p:nvSpPr>
        <p:spPr>
          <a:xfrm>
            <a:off x="1240000" y="4250000"/>
            <a:ext cx="92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ctr"/>
            <a:r>
              <a:rPr lang="ko-KR" sz="1900" b="1">
                <a:solidFill>
                  <a:srgbClr val="0F3D4A"/>
                </a:solidFill>
                <a:latin typeface="Malgun Gothic"/>
                <a:ea typeface="Malgun Gothic"/>
              </a:rPr>
              <a:t>인구와 돌봄  |  청년과 지역  |  안전과 건강  |  관계와 불평등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900000" y="5750000"/>
            <a:ext cx="56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00">
                <a:solidFill>
                  <a:srgbClr val="64748B"/>
                </a:solidFill>
                <a:latin typeface="Malgun Gothic"/>
                <a:ea typeface="Malgun Gothic"/>
              </a:rPr>
              <a:t>2026.09.09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0F3D4A"/>
          </a:solidFill>
          <a:ln w="9525">
            <a:solidFill>
              <a:srgbClr val="0F3D4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650000" y="350000"/>
            <a:ext cx="76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850" b="1">
                <a:solidFill>
                  <a:srgbClr val="111827"/>
                </a:solidFill>
                <a:latin typeface="Malgun Gothic"/>
                <a:ea typeface="Malgun Gothic"/>
              </a:rPr>
              <a:t>1. 인구와 돌봄</a:t>
            </a:r>
          </a:p>
        </p:txBody>
      </p:sp>
      <p:sp>
        <p:nvSpPr>
          <p:cNvPr id="4" name="Hint"/>
          <p:cNvSpPr txBox="1"/>
          <p:nvPr/>
        </p:nvSpPr>
        <p:spPr>
          <a:xfrm>
            <a:off x="660000" y="880000"/>
            <a:ext cx="98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50">
                <a:solidFill>
                  <a:srgbClr val="64748B"/>
                </a:solidFill>
                <a:latin typeface="Malgun Gothic"/>
                <a:ea typeface="Malgun Gothic"/>
              </a:rPr>
              <a:t>태어나는 사람은 줄고, 돌봄이 필요한 사람은 늘어나는 구조적 문제입니다.</a:t>
            </a:r>
          </a:p>
        </p:txBody>
      </p:sp>
      <p:sp>
        <p:nvSpPr>
          <p:cNvPr id="5" name="Card"/>
          <p:cNvSpPr/>
          <p:nvPr/>
        </p:nvSpPr>
        <p:spPr>
          <a:xfrm>
            <a:off x="6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6" name="SideBar"/>
          <p:cNvSpPr/>
          <p:nvPr/>
        </p:nvSpPr>
        <p:spPr>
          <a:xfrm>
            <a:off x="6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7" name="Problem"/>
          <p:cNvSpPr txBox="1"/>
          <p:nvPr/>
        </p:nvSpPr>
        <p:spPr>
          <a:xfrm>
            <a:off x="9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저출생 문제</a:t>
            </a:r>
          </a:p>
        </p:txBody>
      </p:sp>
      <p:sp>
        <p:nvSpPr>
          <p:cNvPr id="8" name="ExplainLabel"/>
          <p:cNvSpPr txBox="1"/>
          <p:nvPr/>
        </p:nvSpPr>
        <p:spPr>
          <a:xfrm>
            <a:off x="9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9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아이를 낳고 키우기 어려운 사회 조건이 계속되는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주거비, 일자리 불안, 돌봄 부담이 결혼과 출산 결정을 어렵게 만듭니다.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출생아 수가 일부 반등해도 구조적 부담이 해결되지 않으면 지속되기 어렵습니다.</a:t>
            </a:r>
          </a:p>
        </p:txBody>
      </p:sp>
      <p:sp>
        <p:nvSpPr>
          <p:cNvPr id="10" name="Divider"/>
          <p:cNvSpPr/>
          <p:nvPr/>
        </p:nvSpPr>
        <p:spPr>
          <a:xfrm>
            <a:off x="9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1" name="ArticleLabel"/>
          <p:cNvSpPr txBox="1"/>
          <p:nvPr/>
        </p:nvSpPr>
        <p:spPr>
          <a:xfrm>
            <a:off x="9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12" name="Article"/>
          <p:cNvSpPr txBox="1"/>
          <p:nvPr/>
        </p:nvSpPr>
        <p:spPr>
          <a:xfrm>
            <a:off x="9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[정책 한 눈에 보기] 2026년 1월 인구동향</a:t>
            </a:r>
          </a:p>
        </p:txBody>
      </p:sp>
      <p:sp>
        <p:nvSpPr>
          <p:cNvPr id="13" name="Scrap"/>
          <p:cNvSpPr txBox="1"/>
          <p:nvPr/>
        </p:nvSpPr>
        <p:spPr>
          <a:xfrm>
            <a:off x="9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출생아 수와 혼인건수는 전년보다 증가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정부는 주거·일자리·돌봄 부담 완화 필요성을 강조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9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저출산고령사회위원회, 2026.03.26</a:t>
            </a:r>
          </a:p>
        </p:txBody>
      </p:sp>
      <p:sp>
        <p:nvSpPr>
          <p:cNvPr id="20" name="Card"/>
          <p:cNvSpPr/>
          <p:nvPr/>
        </p:nvSpPr>
        <p:spPr>
          <a:xfrm>
            <a:off x="63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21" name="SideBar"/>
          <p:cNvSpPr/>
          <p:nvPr/>
        </p:nvSpPr>
        <p:spPr>
          <a:xfrm>
            <a:off x="63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2" name="Problem"/>
          <p:cNvSpPr txBox="1"/>
          <p:nvPr/>
        </p:nvSpPr>
        <p:spPr>
          <a:xfrm>
            <a:off x="66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노인 돌봄 공백</a:t>
            </a:r>
          </a:p>
        </p:txBody>
      </p:sp>
      <p:sp>
        <p:nvSpPr>
          <p:cNvPr id="23" name="ExplainLabel"/>
          <p:cNvSpPr txBox="1"/>
          <p:nvPr/>
        </p:nvSpPr>
        <p:spPr>
          <a:xfrm>
            <a:off x="66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24" name="Explain"/>
          <p:cNvSpPr txBox="1"/>
          <p:nvPr/>
        </p:nvSpPr>
        <p:spPr>
          <a:xfrm>
            <a:off x="66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고령화로 돌봄이 필요한 노인은 늘지만, 돌봄 인력과 시설은 충분하지 않은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가족이 돌봄을 떠안으면 일과 생활이 함께 흔들릴 수 있습니다.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요양보호사 노동환경도 중요한 사회문제로 연결됩니다.</a:t>
            </a:r>
          </a:p>
        </p:txBody>
      </p:sp>
      <p:sp>
        <p:nvSpPr>
          <p:cNvPr id="25" name="Divider"/>
          <p:cNvSpPr/>
          <p:nvPr/>
        </p:nvSpPr>
        <p:spPr>
          <a:xfrm>
            <a:off x="66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26" name="ArticleLabel"/>
          <p:cNvSpPr txBox="1"/>
          <p:nvPr/>
        </p:nvSpPr>
        <p:spPr>
          <a:xfrm>
            <a:off x="66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27" name="Article"/>
          <p:cNvSpPr txBox="1"/>
          <p:nvPr/>
        </p:nvSpPr>
        <p:spPr>
          <a:xfrm>
            <a:off x="66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노인돌봄서비스 인력의 전망과 정책방향</a:t>
            </a:r>
          </a:p>
        </p:txBody>
      </p:sp>
      <p:sp>
        <p:nvSpPr>
          <p:cNvPr id="28" name="Scrap"/>
          <p:cNvSpPr txBox="1"/>
          <p:nvPr/>
        </p:nvSpPr>
        <p:spPr>
          <a:xfrm>
            <a:off x="66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장기요양 수요가 빠르게 늘어날 전망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요양보호사 인력 부족 가능성이 제시됨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66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KDI, 2026.04.16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0F3D4A"/>
          </a:solidFill>
          <a:ln w="9525">
            <a:solidFill>
              <a:srgbClr val="0F3D4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650000" y="350000"/>
            <a:ext cx="76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850" b="1">
                <a:solidFill>
                  <a:srgbClr val="111827"/>
                </a:solidFill>
                <a:latin typeface="Malgun Gothic"/>
                <a:ea typeface="Malgun Gothic"/>
              </a:rPr>
              <a:t>2. 청년과 지역</a:t>
            </a:r>
          </a:p>
        </p:txBody>
      </p:sp>
      <p:sp>
        <p:nvSpPr>
          <p:cNvPr id="4" name="Hint"/>
          <p:cNvSpPr txBox="1"/>
          <p:nvPr/>
        </p:nvSpPr>
        <p:spPr>
          <a:xfrm>
            <a:off x="660000" y="880000"/>
            <a:ext cx="99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50">
                <a:solidFill>
                  <a:srgbClr val="64748B"/>
                </a:solidFill>
                <a:latin typeface="Malgun Gothic"/>
                <a:ea typeface="Malgun Gothic"/>
              </a:rPr>
              <a:t>청년의 자립이 어려워지고, 지역 간 기회 차이가 커지는 문제입니다.</a:t>
            </a:r>
          </a:p>
        </p:txBody>
      </p:sp>
      <p:sp>
        <p:nvSpPr>
          <p:cNvPr id="5" name="Card"/>
          <p:cNvSpPr/>
          <p:nvPr/>
        </p:nvSpPr>
        <p:spPr>
          <a:xfrm>
            <a:off x="6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6" name="SideBar"/>
          <p:cNvSpPr/>
          <p:nvPr/>
        </p:nvSpPr>
        <p:spPr>
          <a:xfrm>
            <a:off x="6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7" name="Problem"/>
          <p:cNvSpPr txBox="1"/>
          <p:nvPr/>
        </p:nvSpPr>
        <p:spPr>
          <a:xfrm>
            <a:off x="9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청년 고용·주거 불안</a:t>
            </a:r>
          </a:p>
        </p:txBody>
      </p:sp>
      <p:sp>
        <p:nvSpPr>
          <p:cNvPr id="8" name="ExplainLabel"/>
          <p:cNvSpPr txBox="1"/>
          <p:nvPr/>
        </p:nvSpPr>
        <p:spPr>
          <a:xfrm>
            <a:off x="9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9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청년이 안정적인 일자리를 얻고 독립적인 생활을 시작하기 어려운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취업이 늦어지고 월세 부담이 커지면 저축, 결혼, 지역 정착도 함께 어려워집니다.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청년 문제는 고용과 주거를 함께 봐야 합니다.</a:t>
            </a:r>
          </a:p>
        </p:txBody>
      </p:sp>
      <p:sp>
        <p:nvSpPr>
          <p:cNvPr id="10" name="Divider"/>
          <p:cNvSpPr/>
          <p:nvPr/>
        </p:nvSpPr>
        <p:spPr>
          <a:xfrm>
            <a:off x="9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1" name="ArticleLabel"/>
          <p:cNvSpPr txBox="1"/>
          <p:nvPr/>
        </p:nvSpPr>
        <p:spPr>
          <a:xfrm>
            <a:off x="9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12" name="Article"/>
          <p:cNvSpPr txBox="1"/>
          <p:nvPr/>
        </p:nvSpPr>
        <p:spPr>
          <a:xfrm>
            <a:off x="9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2026년 7월 고용동향</a:t>
            </a:r>
          </a:p>
        </p:txBody>
      </p:sp>
      <p:sp>
        <p:nvSpPr>
          <p:cNvPr id="13" name="Scrap"/>
          <p:cNvSpPr txBox="1"/>
          <p:nvPr/>
        </p:nvSpPr>
        <p:spPr>
          <a:xfrm>
            <a:off x="9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청년층 고용률 44.2%, 실업률 6.8%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청년월세 부담은 자립을 늦추는 요인으로 설명됨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9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대한민국 정책브리핑, 2026.08.12</a:t>
            </a:r>
          </a:p>
        </p:txBody>
      </p:sp>
      <p:sp>
        <p:nvSpPr>
          <p:cNvPr id="20" name="Card"/>
          <p:cNvSpPr/>
          <p:nvPr/>
        </p:nvSpPr>
        <p:spPr>
          <a:xfrm>
            <a:off x="63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21" name="SideBar"/>
          <p:cNvSpPr/>
          <p:nvPr/>
        </p:nvSpPr>
        <p:spPr>
          <a:xfrm>
            <a:off x="63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2" name="Problem"/>
          <p:cNvSpPr txBox="1"/>
          <p:nvPr/>
        </p:nvSpPr>
        <p:spPr>
          <a:xfrm>
            <a:off x="66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지역소멸과 지역 격차</a:t>
            </a:r>
          </a:p>
        </p:txBody>
      </p:sp>
      <p:sp>
        <p:nvSpPr>
          <p:cNvPr id="23" name="ExplainLabel"/>
          <p:cNvSpPr txBox="1"/>
          <p:nvPr/>
        </p:nvSpPr>
        <p:spPr>
          <a:xfrm>
            <a:off x="66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24" name="Explain"/>
          <p:cNvSpPr txBox="1"/>
          <p:nvPr/>
        </p:nvSpPr>
        <p:spPr>
          <a:xfrm>
            <a:off x="66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일자리, 교육, 의료, 문화가 수도권에 몰리면서 비수도권 지역의 인구가 줄어드는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청년이 떠나면 지역 경제와 학교, 병원, 상권도 함께 약해집니다.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지역소멸은 단순한 인구 감소가 아니라 생활 기회의 격차입니다.</a:t>
            </a:r>
          </a:p>
        </p:txBody>
      </p:sp>
      <p:sp>
        <p:nvSpPr>
          <p:cNvPr id="25" name="Divider"/>
          <p:cNvSpPr/>
          <p:nvPr/>
        </p:nvSpPr>
        <p:spPr>
          <a:xfrm>
            <a:off x="66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26" name="ArticleLabel"/>
          <p:cNvSpPr txBox="1"/>
          <p:nvPr/>
        </p:nvSpPr>
        <p:spPr>
          <a:xfrm>
            <a:off x="66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27" name="Article"/>
          <p:cNvSpPr txBox="1"/>
          <p:nvPr/>
        </p:nvSpPr>
        <p:spPr>
          <a:xfrm>
            <a:off x="66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지방소멸 대응, 지역이 설계하고 정부가 함께 완성합니다</a:t>
            </a:r>
          </a:p>
        </p:txBody>
      </p:sp>
      <p:sp>
        <p:nvSpPr>
          <p:cNvPr id="28" name="Scrap"/>
          <p:cNvSpPr txBox="1"/>
          <p:nvPr/>
        </p:nvSpPr>
        <p:spPr>
          <a:xfrm>
            <a:off x="66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인구감소지역 89개, 관심지역 18개 언급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지역 주도 혁신 프로젝트 추진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66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중소벤처기업부, 2026.04.07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0F3D4A"/>
          </a:solidFill>
          <a:ln w="9525">
            <a:solidFill>
              <a:srgbClr val="0F3D4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650000" y="350000"/>
            <a:ext cx="76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850" b="1">
                <a:solidFill>
                  <a:srgbClr val="111827"/>
                </a:solidFill>
                <a:latin typeface="Malgun Gothic"/>
                <a:ea typeface="Malgun Gothic"/>
              </a:rPr>
              <a:t>3. 안전과 건강</a:t>
            </a:r>
          </a:p>
        </p:txBody>
      </p:sp>
      <p:sp>
        <p:nvSpPr>
          <p:cNvPr id="4" name="Hint"/>
          <p:cNvSpPr txBox="1"/>
          <p:nvPr/>
        </p:nvSpPr>
        <p:spPr>
          <a:xfrm>
            <a:off x="660000" y="880000"/>
            <a:ext cx="98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50">
                <a:solidFill>
                  <a:srgbClr val="64748B"/>
                </a:solidFill>
                <a:latin typeface="Malgun Gothic"/>
                <a:ea typeface="Malgun Gothic"/>
              </a:rPr>
              <a:t>기후위기와 디지털 기술 변화가 새로운 피해를 만들고 있습니다.</a:t>
            </a:r>
          </a:p>
        </p:txBody>
      </p:sp>
      <p:sp>
        <p:nvSpPr>
          <p:cNvPr id="5" name="Card"/>
          <p:cNvSpPr/>
          <p:nvPr/>
        </p:nvSpPr>
        <p:spPr>
          <a:xfrm>
            <a:off x="6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6" name="SideBar"/>
          <p:cNvSpPr/>
          <p:nvPr/>
        </p:nvSpPr>
        <p:spPr>
          <a:xfrm>
            <a:off x="6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7" name="Problem"/>
          <p:cNvSpPr txBox="1"/>
          <p:nvPr/>
        </p:nvSpPr>
        <p:spPr>
          <a:xfrm>
            <a:off x="9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폭염 취약계층</a:t>
            </a:r>
          </a:p>
        </p:txBody>
      </p:sp>
      <p:sp>
        <p:nvSpPr>
          <p:cNvPr id="8" name="ExplainLabel"/>
          <p:cNvSpPr txBox="1"/>
          <p:nvPr/>
        </p:nvSpPr>
        <p:spPr>
          <a:xfrm>
            <a:off x="9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9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폭염은 모두에게 오지만 피해는 고령층, 야외노동자, 저소득층에게 더 크게 나타납니다.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냉방이 어려운 주거환경이나 쉬기 어려운 노동조건은 건강 위험을 높입니다.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기후위기는 건강권과 불평등 문제로 이어집니다.</a:t>
            </a:r>
          </a:p>
        </p:txBody>
      </p:sp>
      <p:sp>
        <p:nvSpPr>
          <p:cNvPr id="10" name="Divider"/>
          <p:cNvSpPr/>
          <p:nvPr/>
        </p:nvSpPr>
        <p:spPr>
          <a:xfrm>
            <a:off x="9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1" name="ArticleLabel"/>
          <p:cNvSpPr txBox="1"/>
          <p:nvPr/>
        </p:nvSpPr>
        <p:spPr>
          <a:xfrm>
            <a:off x="9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12" name="Article"/>
          <p:cNvSpPr txBox="1"/>
          <p:nvPr/>
        </p:nvSpPr>
        <p:spPr>
          <a:xfrm>
            <a:off x="9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첫 폭염중대경보 발령, 건강수칙 준수 당부</a:t>
            </a:r>
          </a:p>
        </p:txBody>
      </p:sp>
      <p:sp>
        <p:nvSpPr>
          <p:cNvPr id="13" name="Scrap"/>
          <p:cNvSpPr txBox="1"/>
          <p:nvPr/>
        </p:nvSpPr>
        <p:spPr>
          <a:xfrm>
            <a:off x="9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누적 온열질환자 535명, 추정 사망자 2명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고령층과 야외활동자에게 주의 당부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9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질병관리청, 2026.07.12</a:t>
            </a:r>
          </a:p>
        </p:txBody>
      </p:sp>
      <p:sp>
        <p:nvSpPr>
          <p:cNvPr id="20" name="Card"/>
          <p:cNvSpPr/>
          <p:nvPr/>
        </p:nvSpPr>
        <p:spPr>
          <a:xfrm>
            <a:off x="63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21" name="SideBar"/>
          <p:cNvSpPr/>
          <p:nvPr/>
        </p:nvSpPr>
        <p:spPr>
          <a:xfrm>
            <a:off x="63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2" name="Problem"/>
          <p:cNvSpPr txBox="1"/>
          <p:nvPr/>
        </p:nvSpPr>
        <p:spPr>
          <a:xfrm>
            <a:off x="66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디지털 성범죄·딥페이크</a:t>
            </a:r>
          </a:p>
        </p:txBody>
      </p:sp>
      <p:sp>
        <p:nvSpPr>
          <p:cNvPr id="23" name="ExplainLabel"/>
          <p:cNvSpPr txBox="1"/>
          <p:nvPr/>
        </p:nvSpPr>
        <p:spPr>
          <a:xfrm>
            <a:off x="66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24" name="Explain"/>
          <p:cNvSpPr txBox="1"/>
          <p:nvPr/>
        </p:nvSpPr>
        <p:spPr>
          <a:xfrm>
            <a:off x="66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AI와 온라인 플랫폼을 이용해 허위 이미지나 영상을 만들고 퍼뜨리는 범죄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피해물은 빠르게 확산되고 삭제가 어려워 피해자의 일상과 정신건강에 오래 영향을 줍니다.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특히 청소년 대상 예방교육과 빠른 신고·삭제 지원이 중요합니다.</a:t>
            </a:r>
          </a:p>
        </p:txBody>
      </p:sp>
      <p:sp>
        <p:nvSpPr>
          <p:cNvPr id="25" name="Divider"/>
          <p:cNvSpPr/>
          <p:nvPr/>
        </p:nvSpPr>
        <p:spPr>
          <a:xfrm>
            <a:off x="66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26" name="ArticleLabel"/>
          <p:cNvSpPr txBox="1"/>
          <p:nvPr/>
        </p:nvSpPr>
        <p:spPr>
          <a:xfrm>
            <a:off x="66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27" name="Article"/>
          <p:cNvSpPr txBox="1"/>
          <p:nvPr/>
        </p:nvSpPr>
        <p:spPr>
          <a:xfrm>
            <a:off x="66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디지털 성범죄 대응 및 피해자 지원</a:t>
            </a:r>
          </a:p>
        </p:txBody>
      </p:sp>
      <p:sp>
        <p:nvSpPr>
          <p:cNvPr id="28" name="Scrap"/>
          <p:cNvSpPr txBox="1"/>
          <p:nvPr/>
        </p:nvSpPr>
        <p:spPr>
          <a:xfrm>
            <a:off x="66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상담, 삭제지원, 수사 동행, 회복 프로그램 제공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생성형 AI 기반 범죄 대응 교육 필요성 강조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66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성평등가족부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Line"/>
          <p:cNvSpPr/>
          <p:nvPr/>
        </p:nvSpPr>
        <p:spPr>
          <a:xfrm>
            <a:off x="0" y="0"/>
            <a:ext cx="12192000" cy="90000"/>
          </a:xfrm>
          <a:prstGeom prst="rect">
            <a:avLst/>
          </a:prstGeom>
          <a:solidFill>
            <a:srgbClr val="0F3D4A"/>
          </a:solidFill>
          <a:ln w="9525">
            <a:solidFill>
              <a:srgbClr val="0F3D4A"/>
            </a:solidFill>
          </a:ln>
        </p:spPr>
      </p:sp>
      <p:sp>
        <p:nvSpPr>
          <p:cNvPr id="3" name="Title"/>
          <p:cNvSpPr txBox="1"/>
          <p:nvPr/>
        </p:nvSpPr>
        <p:spPr>
          <a:xfrm>
            <a:off x="650000" y="350000"/>
            <a:ext cx="7600000" cy="4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850" b="1">
                <a:solidFill>
                  <a:srgbClr val="111827"/>
                </a:solidFill>
                <a:latin typeface="Malgun Gothic"/>
                <a:ea typeface="Malgun Gothic"/>
              </a:rPr>
              <a:t>4. 관계와 불평등</a:t>
            </a:r>
          </a:p>
        </p:txBody>
      </p:sp>
      <p:sp>
        <p:nvSpPr>
          <p:cNvPr id="4" name="Hint"/>
          <p:cNvSpPr txBox="1"/>
          <p:nvPr/>
        </p:nvSpPr>
        <p:spPr>
          <a:xfrm>
            <a:off x="660000" y="880000"/>
            <a:ext cx="98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50">
                <a:solidFill>
                  <a:srgbClr val="64748B"/>
                </a:solidFill>
                <a:latin typeface="Malgun Gothic"/>
                <a:ea typeface="Malgun Gothic"/>
              </a:rPr>
              <a:t>사회적 연결과 기본 생활비의 차이가 삶의 안정성을 크게 흔듭니다.</a:t>
            </a:r>
          </a:p>
        </p:txBody>
      </p:sp>
      <p:sp>
        <p:nvSpPr>
          <p:cNvPr id="5" name="Card"/>
          <p:cNvSpPr/>
          <p:nvPr/>
        </p:nvSpPr>
        <p:spPr>
          <a:xfrm>
            <a:off x="6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6" name="SideBar"/>
          <p:cNvSpPr/>
          <p:nvPr/>
        </p:nvSpPr>
        <p:spPr>
          <a:xfrm>
            <a:off x="6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7" name="Problem"/>
          <p:cNvSpPr txBox="1"/>
          <p:nvPr/>
        </p:nvSpPr>
        <p:spPr>
          <a:xfrm>
            <a:off x="9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사회적 고립·고독사</a:t>
            </a:r>
          </a:p>
        </p:txBody>
      </p:sp>
      <p:sp>
        <p:nvSpPr>
          <p:cNvPr id="8" name="ExplainLabel"/>
          <p:cNvSpPr txBox="1"/>
          <p:nvPr/>
        </p:nvSpPr>
        <p:spPr>
          <a:xfrm>
            <a:off x="9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9" name="Explain"/>
          <p:cNvSpPr txBox="1"/>
          <p:nvPr/>
        </p:nvSpPr>
        <p:spPr>
          <a:xfrm>
            <a:off x="9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사람이 사회적 관계와 도움 체계에서 떨어져 위험 상황에 놓이는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경제난, 실직, 주거 불안, 건강 문제 등이 겹치면 도움을 요청하기 더 어려워집니다.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고립은 개인 성격 문제가 아니라 사회 안전망의 빈틈으로 볼 수 있습니다.</a:t>
            </a:r>
          </a:p>
        </p:txBody>
      </p:sp>
      <p:sp>
        <p:nvSpPr>
          <p:cNvPr id="10" name="Divider"/>
          <p:cNvSpPr/>
          <p:nvPr/>
        </p:nvSpPr>
        <p:spPr>
          <a:xfrm>
            <a:off x="9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11" name="ArticleLabel"/>
          <p:cNvSpPr txBox="1"/>
          <p:nvPr/>
        </p:nvSpPr>
        <p:spPr>
          <a:xfrm>
            <a:off x="9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12" name="Article"/>
          <p:cNvSpPr txBox="1"/>
          <p:nvPr/>
        </p:nvSpPr>
        <p:spPr>
          <a:xfrm>
            <a:off x="9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사회적 고립 예방 국가 과제로 관리</a:t>
            </a:r>
          </a:p>
        </p:txBody>
      </p:sp>
      <p:sp>
        <p:nvSpPr>
          <p:cNvPr id="13" name="Scrap"/>
          <p:cNvSpPr txBox="1"/>
          <p:nvPr/>
        </p:nvSpPr>
        <p:spPr>
          <a:xfrm>
            <a:off x="9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고립 원인을 경제·고용·주거·건강의 복합 문제로 설명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사후 대응보다 예방 중심 관리 필요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9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대한민국 정책브리핑, 2026.05.13</a:t>
            </a:r>
          </a:p>
        </p:txBody>
      </p:sp>
      <p:sp>
        <p:nvSpPr>
          <p:cNvPr id="20" name="Card"/>
          <p:cNvSpPr/>
          <p:nvPr/>
        </p:nvSpPr>
        <p:spPr>
          <a:xfrm>
            <a:off x="6350000" y="1380000"/>
            <a:ext cx="5200000" cy="4380000"/>
          </a:xfrm>
          <a:prstGeom prst="rect">
            <a:avLst/>
          </a:prstGeom>
          <a:solidFill>
            <a:srgbClr val="F8FAFC"/>
          </a:solidFill>
          <a:ln w="9525">
            <a:solidFill>
              <a:srgbClr val="D8E0E8"/>
            </a:solidFill>
          </a:ln>
        </p:spPr>
      </p:sp>
      <p:sp>
        <p:nvSpPr>
          <p:cNvPr id="21" name="SideBar"/>
          <p:cNvSpPr/>
          <p:nvPr/>
        </p:nvSpPr>
        <p:spPr>
          <a:xfrm>
            <a:off x="6350000" y="1380000"/>
            <a:ext cx="90000" cy="4380000"/>
          </a:xfrm>
          <a:prstGeom prst="rect">
            <a:avLst/>
          </a:prstGeom>
          <a:solidFill>
            <a:srgbClr val="0F766E"/>
          </a:solidFill>
          <a:ln w="9525">
            <a:solidFill>
              <a:srgbClr val="0F766E"/>
            </a:solidFill>
          </a:ln>
        </p:spPr>
      </p:sp>
      <p:sp>
        <p:nvSpPr>
          <p:cNvPr id="22" name="Problem"/>
          <p:cNvSpPr txBox="1"/>
          <p:nvPr/>
        </p:nvSpPr>
        <p:spPr>
          <a:xfrm>
            <a:off x="6660000" y="1640000"/>
            <a:ext cx="455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2050" b="1">
                <a:solidFill>
                  <a:srgbClr val="0F3D4A"/>
                </a:solidFill>
                <a:latin typeface="Malgun Gothic"/>
                <a:ea typeface="Malgun Gothic"/>
              </a:rPr>
              <a:t>소득 불평등·생활비 부담</a:t>
            </a:r>
          </a:p>
        </p:txBody>
      </p:sp>
      <p:sp>
        <p:nvSpPr>
          <p:cNvPr id="23" name="ExplainLabel"/>
          <p:cNvSpPr txBox="1"/>
          <p:nvPr/>
        </p:nvSpPr>
        <p:spPr>
          <a:xfrm>
            <a:off x="6660000" y="222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어떤 문제인가</a:t>
            </a:r>
          </a:p>
        </p:txBody>
      </p:sp>
      <p:sp>
        <p:nvSpPr>
          <p:cNvPr id="24" name="Explain"/>
          <p:cNvSpPr txBox="1"/>
          <p:nvPr/>
        </p:nvSpPr>
        <p:spPr>
          <a:xfrm>
            <a:off x="6660000" y="2490000"/>
            <a:ext cx="4550000" cy="10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소득과 자산의 차이가 주거, 건강, 교육 기회의 차이로 이어지는 문제입니다.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물가와 주거비, 부채 부담은 저소득 가구에 더 크게 작용합니다.</a:t>
            </a:r>
          </a:p>
          <a:p>
            <a:pPr algn="l"/>
            <a:r>
              <a:rPr lang="ko-KR" sz="1320">
                <a:solidFill>
                  <a:srgbClr val="1F2933"/>
                </a:solidFill>
                <a:latin typeface="Malgun Gothic"/>
                <a:ea typeface="Malgun Gothic"/>
              </a:rPr>
              <a:t>평균 소득이 늘어도 취약가구의 생활 안정은 나빠질 수 있습니다.</a:t>
            </a:r>
          </a:p>
        </p:txBody>
      </p:sp>
      <p:sp>
        <p:nvSpPr>
          <p:cNvPr id="25" name="Divider"/>
          <p:cNvSpPr/>
          <p:nvPr/>
        </p:nvSpPr>
        <p:spPr>
          <a:xfrm>
            <a:off x="6660000" y="3670000"/>
            <a:ext cx="4550000" cy="25000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</p:sp>
      <p:sp>
        <p:nvSpPr>
          <p:cNvPr id="26" name="ArticleLabel"/>
          <p:cNvSpPr txBox="1"/>
          <p:nvPr/>
        </p:nvSpPr>
        <p:spPr>
          <a:xfrm>
            <a:off x="6660000" y="3890000"/>
            <a:ext cx="4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120" b="1">
                <a:solidFill>
                  <a:srgbClr val="0F766E"/>
                </a:solidFill>
                <a:latin typeface="Malgun Gothic"/>
                <a:ea typeface="Malgun Gothic"/>
              </a:rPr>
              <a:t>기사 스크랩</a:t>
            </a:r>
          </a:p>
        </p:txBody>
      </p:sp>
      <p:sp>
        <p:nvSpPr>
          <p:cNvPr id="27" name="Article"/>
          <p:cNvSpPr txBox="1"/>
          <p:nvPr/>
        </p:nvSpPr>
        <p:spPr>
          <a:xfrm>
            <a:off x="6660000" y="4160000"/>
            <a:ext cx="45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40" b="1">
                <a:solidFill>
                  <a:srgbClr val="334155"/>
                </a:solidFill>
                <a:latin typeface="Malgun Gothic"/>
                <a:ea typeface="Malgun Gothic"/>
              </a:rPr>
              <a:t>2025년 가계금융복지조사 결과</a:t>
            </a:r>
          </a:p>
        </p:txBody>
      </p:sp>
      <p:sp>
        <p:nvSpPr>
          <p:cNvPr id="28" name="Scrap"/>
          <p:cNvSpPr txBox="1"/>
          <p:nvPr/>
        </p:nvSpPr>
        <p:spPr>
          <a:xfrm>
            <a:off x="6660000" y="4560000"/>
            <a:ext cx="4550000" cy="6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지니계수 0.325, 상대적 빈곤율 15.3%</a:t>
            </a:r>
          </a:p>
          <a:p>
            <a:pPr algn="l"/>
            <a:r>
              <a:rPr lang="ko-KR" sz="1220">
                <a:solidFill>
                  <a:srgbClr val="1F2933"/>
                </a:solidFill>
                <a:latin typeface="Malgun Gothic"/>
                <a:ea typeface="Malgun Gothic"/>
              </a:rPr>
              <a:t>- 소득분배 지표가 전년보다 악화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6660000" y="5350000"/>
            <a:ext cx="455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normAutofit fontScale="85000" lnSpcReduction="20000"/>
          </a:bodyPr>
          <a:lstStyle/>
          <a:p>
            <a:pPr algn="l"/>
            <a:r>
              <a:rPr lang="ko-KR" sz="920">
                <a:solidFill>
                  <a:srgbClr val="64748B"/>
                </a:solidFill>
                <a:latin typeface="Malgun Gothic"/>
                <a:ea typeface="Malgun Gothic"/>
              </a:rPr>
              <a:t>출처: 국가데이터처, 2025.12.04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fined Scrap Theme">
  <a:themeElements>
    <a:clrScheme name="Refined Scrap">
      <a:dk1>
        <a:srgbClr val="111827"/>
      </a:dk1>
      <a:lt1>
        <a:srgbClr val="FFFFFF"/>
      </a:lt1>
      <a:dk2>
        <a:srgbClr val="0F3D4A"/>
      </a:dk2>
      <a:lt2>
        <a:srgbClr val="F8FAFC"/>
      </a:lt2>
      <a:accent1>
        <a:srgbClr val="0F766E"/>
      </a:accent1>
      <a:accent2>
        <a:srgbClr val="F2C078"/>
      </a:accent2>
      <a:accent3>
        <a:srgbClr val="334155"/>
      </a:accent3>
      <a:accent4>
        <a:srgbClr val="64748B"/>
      </a:accent4>
      <a:accent5>
        <a:srgbClr val="D8572A"/>
      </a:accent5>
      <a:accent6>
        <a:srgbClr val="CBD5E1"/>
      </a:accent6>
      <a:hlink>
        <a:srgbClr val="2563EB"/>
      </a:hlink>
      <a:folHlink>
        <a:srgbClr val="7C3AED"/>
      </a:folHlink>
    </a:clrScheme>
    <a:fontScheme name="Malgun Gothic">
      <a:majorFont>
        <a:latin typeface="Malgun Gothic"/>
        <a:ea typeface="Malgun Gothic"/>
      </a:majorFont>
      <a:minorFont>
        <a:latin typeface="Malgun Gothic"/>
        <a:ea typeface="Malgun Gothic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  <Notes>0</Notes>
  <HiddenSlides>0</HiddenSlides>
  <ScaleCrop>false</ScaleCrop>
  <HeadingPairs>
    <vt:vector size="2" baseType="variant">
      <vt:variant>
        <vt:lpstr>Slides</vt:lpstr>
      </vt:variant>
      <vt:variant>
        <vt:i4>5</vt:i4>
      </vt:variant>
    </vt:vector>
  </HeadingPairs>
  <TitlesOfParts>
    <vt:vector size="5" baseType="lpstr">
      <vt:lpstr>Slide 1</vt:lpstr>
      <vt:lpstr>Slide 2</vt:lpstr>
      <vt:lpstr>Slide 3</vt:lpstr>
      <vt:lpstr>Slide 4</vt:lpstr>
      <vt:lpstr>Slide 5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사회문제 카테고리별 기사 스크랩 개선본</dc:title>
  <dc:creator>Codex</dc:creator>
  <cp:lastModifiedBy>Codex</cp:lastModifiedBy>
  <dcterms:created xsi:type="dcterms:W3CDTF">2026-09-09T00:00:00Z</dcterms:created>
  <dcterms:modified xsi:type="dcterms:W3CDTF">2026-09-09T00:00:00Z</dcterms:modified>
</cp:coreProperties>
</file>