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원제: 동승자 존재가 운전자 분노 조절에 미치는 영향과 차량 내 AI 인터페이스 설계 연구. 홍익대학교 일반대학원 산업디자인과 서종휘.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교수님께는 이 연구가 운전 분노를 환경 요인이나 개인 성향 하나로만 설명하지 않고, 차량 공간의 성격, 타인의 평가 가능성, 개인의 정서표현갈등을 연결해 보는 구조라고 설명한다.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번째 이론은 고프먼의 자아 연출 이론이다. 혼자 운전할 때의 차량 내부를 후면 영역으로, 동승자가 있는 차량 내부를 전면 영역에 가까운 공간으로 해석할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이론은 평가 불안이론이다. 동승자는 단순한 물리적 존재가 아니라, 운전자가 자신의 행동을 평가 가능하고 책임 있는 행동으로 재해석하게 만드는 사회적 장치로 볼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 이론은 정서표현갈등과 개인차다. 모든 운전자가 같은 상황에서 같은 방식으로 분노를 표출하지 않기 때문에, 개인의 억제된 정서와 표현 갈등을 함께 보겠다는 설명이 필요하다.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종합하면 혼자 운전하는 상황은 후면 영역화되고, 평가 가능성이 낮아지며, 개인의 정서표현갈등이 탈억제 행동으로 나타날 수 있다는 구조다. 반대로 동승자는 이 흐름을 완화하는 사회적·관계적 단서로 볼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RESEARCH PROPOSAL · 2026.09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존재와 운전자 분노 조절</a:t>
            </a:r>
            <a:endParaRPr lang="ko-KR" sz="3600" dirty="0"/>
          </a:p>
        </p:txBody>
      </p:sp>
      <p:sp>
        <p:nvSpPr>
          <p:cNvPr id="5" name="Shape 3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홍익대학교 일반대학원 산업디자인과 · 서종휘 · 교수님 피드백용</a:t>
            </a:r>
            <a:endParaRPr lang="ko-KR" sz="1080" dirty="0"/>
          </a:p>
        </p:txBody>
      </p:sp>
      <p:sp>
        <p:nvSpPr>
          <p:cNvPr id="8" name="Text 6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70560" y="2377440"/>
            <a:ext cx="108508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내 AI 인터페이스 설계 연구</a:t>
            </a:r>
            <a:endParaRPr lang="ko-KR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01040" y="3512820"/>
            <a:ext cx="103632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상황에서 확인된 동승자 효과와 AI 설계 연구</a:t>
            </a:r>
            <a:endParaRPr lang="ko-KR" sz="1400" dirty="0"/>
          </a:p>
        </p:txBody>
      </p:sp>
      <p:sp>
        <p:nvSpPr>
          <p:cNvPr id="11" name="Shape 9"/>
          <p:cNvSpPr/>
          <p:nvPr/>
        </p:nvSpPr>
        <p:spPr>
          <a:xfrm>
            <a:off x="670560" y="4396740"/>
            <a:ext cx="609600" cy="3810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0560" y="4724400"/>
            <a:ext cx="101346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운전할 때도 동승자가 있을 때와 비슷한</a:t>
            </a:r>
            <a:endParaRPr lang="ko-KR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5175504"/>
            <a:ext cx="101346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자기조절 경험을 만들 수 있는가?</a:t>
            </a:r>
            <a:endParaRPr lang="ko-KR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발표 구성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연구의 전개 순서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배경에서 예비조사 결과, 선행연구 프레임워크, 향후 연구계획으로 이어지는 구조다.</a:t>
            </a:r>
            <a:endParaRPr lang="ko-KR" sz="140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488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연구 배경</a:t>
            </a:r>
            <a:endParaRPr lang="ko-KR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488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중 분노 경험과 동승자 존재에 따른 자기조절 현상</a:t>
            </a:r>
            <a:endParaRPr lang="ko-KR" sz="1400" dirty="0"/>
          </a:p>
        </p:txBody>
      </p:sp>
      <p:sp>
        <p:nvSpPr>
          <p:cNvPr id="12" name="Shape 10"/>
          <p:cNvSpPr/>
          <p:nvPr/>
        </p:nvSpPr>
        <p:spPr>
          <a:xfrm>
            <a:off x="670560" y="2689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7889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조사 목적</a:t>
            </a:r>
            <a:endParaRPr lang="ko-KR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7889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현상이 다른 운전자에게도 나타나는지 예비조사로 확인</a:t>
            </a:r>
            <a:endParaRPr lang="ko-KR" sz="1400" dirty="0"/>
          </a:p>
        </p:txBody>
      </p:sp>
      <p:sp>
        <p:nvSpPr>
          <p:cNvPr id="15" name="Shape 13"/>
          <p:cNvSpPr/>
          <p:nvPr/>
        </p:nvSpPr>
        <p:spPr>
          <a:xfrm>
            <a:off x="670560" y="33299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4290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설문 개요</a:t>
            </a:r>
            <a:endParaRPr lang="ko-KR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4290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응답자 특성, 문항 구성, 분석 범위 정리</a:t>
            </a:r>
            <a:endParaRPr lang="ko-KR" sz="1400" dirty="0"/>
          </a:p>
        </p:txBody>
      </p:sp>
      <p:sp>
        <p:nvSpPr>
          <p:cNvPr id="18" name="Shape 16"/>
          <p:cNvSpPr/>
          <p:nvPr/>
        </p:nvSpPr>
        <p:spPr>
          <a:xfrm>
            <a:off x="670560" y="39700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06908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설문 결과</a:t>
            </a:r>
            <a:endParaRPr lang="ko-KR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06908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 유발 상황, 반응 방식, 동승자 영향과 변화 이유 제시</a:t>
            </a:r>
            <a:endParaRPr lang="ko-KR" sz="1400" dirty="0"/>
          </a:p>
        </p:txBody>
      </p:sp>
      <p:sp>
        <p:nvSpPr>
          <p:cNvPr id="21" name="Shape 19"/>
          <p:cNvSpPr/>
          <p:nvPr/>
        </p:nvSpPr>
        <p:spPr>
          <a:xfrm>
            <a:off x="670560" y="46101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0560" y="47091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선행연구 프레임워크</a:t>
            </a:r>
            <a:endParaRPr lang="ko-KR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215640" y="47091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인문학·사회심리학·개인심리학 관점에서 결과 해석 구조 설정</a:t>
            </a:r>
            <a:endParaRPr lang="ko-KR" sz="1400" dirty="0"/>
          </a:p>
        </p:txBody>
      </p:sp>
      <p:sp>
        <p:nvSpPr>
          <p:cNvPr id="24" name="Shape 22"/>
          <p:cNvSpPr/>
          <p:nvPr/>
        </p:nvSpPr>
        <p:spPr>
          <a:xfrm>
            <a:off x="670560" y="52501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0560" y="53492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 향후 연구계획</a:t>
            </a:r>
            <a:endParaRPr lang="ko-KR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215640" y="53492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본조사, 이론 보완, AI 인터페이스 설계와 평가 방향 정리</a:t>
            </a:r>
            <a:endParaRPr lang="ko-KR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연구 배경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관찰된 현상에서 출발한 문제의식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운전할 때와 누군가 함께 탈 때의 감정 표현 차이에 주목했다.</a:t>
            </a:r>
            <a:endParaRPr lang="ko-KR" sz="140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79320"/>
            <a:ext cx="108508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중 분노가 발생하는 상황에서도</a:t>
            </a:r>
            <a:endParaRPr lang="ko-KR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630424"/>
            <a:ext cx="108508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있을 때는 감정 표현과 행동이</a:t>
            </a:r>
            <a:endParaRPr lang="ko-KR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70560" y="3081528"/>
            <a:ext cx="108508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상대적으로 조절되는 경험이 관찰되었다.</a:t>
            </a:r>
            <a:endParaRPr lang="ko-KR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420624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경험은 단순한 예절이나 체면의 문제가 아니라,</a:t>
            </a:r>
            <a:endParaRPr lang="ko-KR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4476902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내부의 관계와 안전 책임이 운전자의 반응을 바꾸는 현상일 수 있다.</a:t>
            </a:r>
            <a:endParaRPr lang="ko-KR" sz="1400" dirty="0"/>
          </a:p>
        </p:txBody>
      </p:sp>
      <p:sp>
        <p:nvSpPr>
          <p:cNvPr id="15" name="Shape 13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문제의식</a:t>
            </a:r>
            <a:endParaRPr lang="ko-KR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이러한 변화가 다른 운전자에게도 나타나는지 예비조사를 통해 확인하고자 했다.</a:t>
            </a:r>
            <a:endParaRPr lang="ko-KR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연구 목적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운전할 때의 감정 조절을 어떻게 도울 수 있을까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효과를 차량 AI 경험으로 전환할 가능성을 탐색한다.</a:t>
            </a:r>
            <a:endParaRPr lang="ko-KR" sz="140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2860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</a:t>
            </a:r>
            <a:endParaRPr lang="ko-KR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2860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있으면 분노 표현과 위험한 반응을 줄이게 되는 순간이 있다.</a:t>
            </a:r>
            <a:endParaRPr lang="ko-KR" sz="1400" dirty="0"/>
          </a:p>
        </p:txBody>
      </p:sp>
      <p:sp>
        <p:nvSpPr>
          <p:cNvPr id="12" name="Shape 10"/>
          <p:cNvSpPr/>
          <p:nvPr/>
        </p:nvSpPr>
        <p:spPr>
          <a:xfrm>
            <a:off x="670560" y="29184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0175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</a:t>
            </a:r>
            <a:endParaRPr lang="ko-KR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30175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운전할 때도 비슷한 감정 조절 경험을 만들 수 있을까?</a:t>
            </a:r>
            <a:endParaRPr lang="ko-KR" sz="1400" dirty="0"/>
          </a:p>
        </p:txBody>
      </p:sp>
      <p:sp>
        <p:nvSpPr>
          <p:cNvPr id="15" name="Shape 13"/>
          <p:cNvSpPr/>
          <p:nvPr/>
        </p:nvSpPr>
        <p:spPr>
          <a:xfrm>
            <a:off x="670560" y="36499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7490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가능성</a:t>
            </a:r>
            <a:endParaRPr lang="ko-KR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7490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감시자가 아니라 동승자의 존재감과 책임감을 환기할 수 있을까?</a:t>
            </a:r>
            <a:endParaRPr lang="ko-KR" sz="1400" dirty="0"/>
          </a:p>
        </p:txBody>
      </p:sp>
      <p:sp>
        <p:nvSpPr>
          <p:cNvPr id="18" name="Shape 16"/>
          <p:cNvSpPr/>
          <p:nvPr/>
        </p:nvSpPr>
        <p:spPr>
          <a:xfrm>
            <a:off x="670560" y="43815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4805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</a:t>
            </a:r>
            <a:endParaRPr lang="ko-KR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4805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 표현과 위험 행동을 낮춰 사고 예방 가능성을 높일 수 있을까?</a:t>
            </a:r>
            <a:endParaRPr lang="ko-KR" sz="1400" dirty="0"/>
          </a:p>
        </p:txBody>
      </p:sp>
      <p:sp>
        <p:nvSpPr>
          <p:cNvPr id="21" name="Shape 19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방향</a:t>
            </a:r>
            <a:endParaRPr lang="ko-KR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동승자가 함께 있을 때처럼, 운전자가 스스로 감정과 행동을 조절하도록 돕는다.</a:t>
            </a:r>
            <a:endParaRPr lang="ko-KR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조사 이유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효과를 예비조사로 확인했다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설문은 이론 검증보다 문제 발견과 방향 확인을 위한 예비조사로 진행했다.</a:t>
            </a:r>
            <a:endParaRPr lang="ko-KR" sz="140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488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1</a:t>
            </a:r>
            <a:endParaRPr lang="ko-KR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488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운전자들은 운전 중 분노를 경험하는가?</a:t>
            </a:r>
            <a:endParaRPr lang="ko-KR" sz="1400" dirty="0"/>
          </a:p>
        </p:txBody>
      </p:sp>
      <p:sp>
        <p:nvSpPr>
          <p:cNvPr id="12" name="Shape 10"/>
          <p:cNvSpPr/>
          <p:nvPr/>
        </p:nvSpPr>
        <p:spPr>
          <a:xfrm>
            <a:off x="670560" y="28041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032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2</a:t>
            </a:r>
            <a:endParaRPr lang="ko-KR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032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분노는 어떤 상황에서 특히 강하게 나타나는가?</a:t>
            </a:r>
            <a:endParaRPr lang="ko-KR" sz="1400" dirty="0"/>
          </a:p>
        </p:txBody>
      </p:sp>
      <p:sp>
        <p:nvSpPr>
          <p:cNvPr id="15" name="Shape 13"/>
          <p:cNvSpPr/>
          <p:nvPr/>
        </p:nvSpPr>
        <p:spPr>
          <a:xfrm>
            <a:off x="670560" y="35585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6576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3</a:t>
            </a:r>
            <a:endParaRPr lang="ko-KR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6576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분노가 발생했을 때 어떤 방식으로 반응하는가?</a:t>
            </a:r>
            <a:endParaRPr lang="ko-KR" sz="1400" dirty="0"/>
          </a:p>
        </p:txBody>
      </p:sp>
      <p:sp>
        <p:nvSpPr>
          <p:cNvPr id="18" name="Shape 16"/>
          <p:cNvSpPr/>
          <p:nvPr/>
        </p:nvSpPr>
        <p:spPr>
          <a:xfrm>
            <a:off x="670560" y="43129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41198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4</a:t>
            </a:r>
            <a:endParaRPr lang="ko-KR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41198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동승자는 분노 표현을 낮추는가, 혹은 감정 동조를 통해 높이는가?</a:t>
            </a:r>
            <a:endParaRPr lang="ko-KR" sz="1400" dirty="0"/>
          </a:p>
        </p:txBody>
      </p:sp>
      <p:sp>
        <p:nvSpPr>
          <p:cNvPr id="21" name="Shape 19"/>
          <p:cNvSpPr/>
          <p:nvPr/>
        </p:nvSpPr>
        <p:spPr>
          <a:xfrm>
            <a:off x="670560" y="50673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0560" y="51663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5</a:t>
            </a:r>
            <a:endParaRPr lang="ko-KR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215640" y="51663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변화의 이유가 시선 의식인지, 안전 책임감인지 확인할 수 있는가?</a:t>
            </a:r>
            <a:endParaRPr lang="ko-KR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예비조사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설문조사 개요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상황에서의 감정 및 행동 변화 조사 · 유효 응답 33명</a:t>
            </a:r>
            <a:endParaRPr lang="ko-KR" sz="140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77440"/>
            <a:ext cx="2484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33명</a:t>
            </a:r>
            <a:endParaRPr lang="ko-KR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3223260"/>
            <a:ext cx="25146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유효 응답</a:t>
            </a:r>
            <a:endParaRPr lang="ko-KR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2377440"/>
            <a:ext cx="2484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69.7%</a:t>
            </a:r>
            <a:endParaRPr lang="ko-KR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3223260"/>
            <a:ext cx="25146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20대 비중</a:t>
            </a:r>
            <a:endParaRPr lang="ko-KR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48400" y="2377440"/>
            <a:ext cx="2484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90.9%</a:t>
            </a:r>
            <a:endParaRPr lang="ko-KR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248400" y="3223260"/>
            <a:ext cx="25146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 빈도: 가끔~항상</a:t>
            </a:r>
            <a:endParaRPr lang="ko-KR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037320" y="2377440"/>
            <a:ext cx="2484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42.4%</a:t>
            </a:r>
            <a:endParaRPr lang="ko-KR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9037320" y="3223260"/>
            <a:ext cx="25146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목적: 출퇴근</a:t>
            </a:r>
            <a:endParaRPr lang="ko-KR" sz="1400" dirty="0"/>
          </a:p>
        </p:txBody>
      </p:sp>
      <p:sp>
        <p:nvSpPr>
          <p:cNvPr id="18" name="Shape 16"/>
          <p:cNvSpPr/>
          <p:nvPr/>
        </p:nvSpPr>
        <p:spPr>
          <a:xfrm>
            <a:off x="670560" y="40386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20624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여성 18명 · 남성 15명  |  최근 6개월 이내 운전 경험이 있는 성인</a:t>
            </a:r>
            <a:endParaRPr lang="ko-KR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0560" y="481584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DAS·K-DAS 참고 재구성 문항 / 5점 척도 / 유형·이유 선택 / 정성 경험</a:t>
            </a:r>
            <a:endParaRPr lang="ko-KR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563118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원척도 전체를 그대로 적용한 검사가 아니며, 리워드용 개인정보는 분석과 분리한다.</a:t>
            </a:r>
            <a:endParaRPr lang="ko-KR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결과 1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운전자는 어떤 상황에서 분노를 경험하는가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상황별 평균 · 5점 척도</a:t>
            </a:r>
            <a:endParaRPr lang="ko-KR" sz="140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기술통계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2.5</a:t>
            </a:r>
            <a:endParaRPr lang="ko-KR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ko-KR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3393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적대적 표현: 경적·상향등·손짓</a:t>
            </a:r>
            <a:endParaRPr lang="ko-KR" sz="1400" dirty="0"/>
          </a:p>
        </p:txBody>
      </p:sp>
      <p:sp>
        <p:nvSpPr>
          <p:cNvPr id="14" name="Shape 12"/>
          <p:cNvSpPr/>
          <p:nvPr/>
        </p:nvSpPr>
        <p:spPr>
          <a:xfrm>
            <a:off x="5318760" y="2415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415540"/>
            <a:ext cx="3819876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3317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3.88</a:t>
            </a:r>
            <a:endParaRPr lang="ko-KR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7965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갑작스러운 끼어들기</a:t>
            </a:r>
            <a:endParaRPr lang="ko-KR" sz="1400" dirty="0"/>
          </a:p>
        </p:txBody>
      </p:sp>
      <p:sp>
        <p:nvSpPr>
          <p:cNvPr id="18" name="Shape 16"/>
          <p:cNvSpPr/>
          <p:nvPr/>
        </p:nvSpPr>
        <p:spPr>
          <a:xfrm>
            <a:off x="5318760" y="28727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2872740"/>
            <a:ext cx="3337469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7889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3.39</a:t>
            </a:r>
            <a:endParaRPr lang="ko-KR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2537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타인의 교통법규 위반</a:t>
            </a:r>
            <a:endParaRPr lang="ko-KR" sz="1400" dirty="0"/>
          </a:p>
        </p:txBody>
      </p:sp>
      <p:sp>
        <p:nvSpPr>
          <p:cNvPr id="22" name="Shape 20"/>
          <p:cNvSpPr/>
          <p:nvPr/>
        </p:nvSpPr>
        <p:spPr>
          <a:xfrm>
            <a:off x="5318760" y="33299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329940"/>
            <a:ext cx="3307933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2461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3.36</a:t>
            </a:r>
            <a:endParaRPr lang="ko-KR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7109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교통 체증·이동시간 지연</a:t>
            </a:r>
            <a:endParaRPr lang="ko-KR" sz="1400" dirty="0"/>
          </a:p>
        </p:txBody>
      </p:sp>
      <p:sp>
        <p:nvSpPr>
          <p:cNvPr id="26" name="Shape 24"/>
          <p:cNvSpPr/>
          <p:nvPr/>
        </p:nvSpPr>
        <p:spPr>
          <a:xfrm>
            <a:off x="5318760" y="37871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3787140"/>
            <a:ext cx="3219328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7033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3.27</a:t>
            </a:r>
            <a:endParaRPr lang="ko-KR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1681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뒤차의 안전거리 미확보</a:t>
            </a:r>
            <a:endParaRPr lang="ko-KR" sz="1400" dirty="0"/>
          </a:p>
        </p:txBody>
      </p:sp>
      <p:sp>
        <p:nvSpPr>
          <p:cNvPr id="30" name="Shape 28"/>
          <p:cNvSpPr/>
          <p:nvPr/>
        </p:nvSpPr>
        <p:spPr>
          <a:xfrm>
            <a:off x="5318760" y="42443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244340"/>
            <a:ext cx="3071652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1605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3.12</a:t>
            </a:r>
            <a:endParaRPr lang="ko-KR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70560" y="46253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앞차의 지나친 서행</a:t>
            </a:r>
            <a:endParaRPr lang="ko-KR" sz="1400" dirty="0"/>
          </a:p>
        </p:txBody>
      </p:sp>
      <p:sp>
        <p:nvSpPr>
          <p:cNvPr id="34" name="Shape 32"/>
          <p:cNvSpPr/>
          <p:nvPr/>
        </p:nvSpPr>
        <p:spPr>
          <a:xfrm>
            <a:off x="5318760" y="4701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18760" y="4701540"/>
            <a:ext cx="2983047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439400" y="46177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3.03</a:t>
            </a:r>
            <a:endParaRPr lang="ko-KR" sz="1400" dirty="0"/>
          </a:p>
        </p:txBody>
      </p:sp>
      <p:sp>
        <p:nvSpPr>
          <p:cNvPr id="37" name="Shape 35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확인된 점</a:t>
            </a:r>
            <a:endParaRPr lang="ko-KR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응답자들도 타인의 적대적 표현과 돌발 행동에서 강한 불쾌감을 경험했다.</a:t>
            </a:r>
            <a:endParaRPr lang="ko-KR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결과 2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분노가 발생했을 때 어떻게 반응하는가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표현 방식별 평균 · 5점 척도</a:t>
            </a:r>
            <a:endParaRPr lang="ko-KR" sz="140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기술통계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13360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13360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2.5</a:t>
            </a:r>
            <a:endParaRPr lang="ko-KR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13360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ko-KR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43840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혼잣말</a:t>
            </a:r>
            <a:endParaRPr lang="ko-KR" sz="1400" dirty="0"/>
          </a:p>
        </p:txBody>
      </p:sp>
      <p:sp>
        <p:nvSpPr>
          <p:cNvPr id="14" name="Shape 12"/>
          <p:cNvSpPr/>
          <p:nvPr/>
        </p:nvSpPr>
        <p:spPr>
          <a:xfrm>
            <a:off x="5318760" y="251460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514600"/>
            <a:ext cx="3367004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43078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3.42</a:t>
            </a:r>
            <a:endParaRPr lang="ko-KR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95656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욕설</a:t>
            </a:r>
            <a:endParaRPr lang="ko-KR" sz="1400" dirty="0"/>
          </a:p>
        </p:txBody>
      </p:sp>
      <p:sp>
        <p:nvSpPr>
          <p:cNvPr id="18" name="Shape 16"/>
          <p:cNvSpPr/>
          <p:nvPr/>
        </p:nvSpPr>
        <p:spPr>
          <a:xfrm>
            <a:off x="5318760" y="303276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3032760"/>
            <a:ext cx="2569555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94894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2.61</a:t>
            </a:r>
            <a:endParaRPr lang="ko-KR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47472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경적 사용</a:t>
            </a:r>
            <a:endParaRPr lang="ko-KR" sz="1400" dirty="0"/>
          </a:p>
        </p:txBody>
      </p:sp>
      <p:sp>
        <p:nvSpPr>
          <p:cNvPr id="22" name="Shape 20"/>
          <p:cNvSpPr/>
          <p:nvPr/>
        </p:nvSpPr>
        <p:spPr>
          <a:xfrm>
            <a:off x="5318760" y="355092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550920"/>
            <a:ext cx="2116684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46710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2.15</a:t>
            </a:r>
            <a:endParaRPr lang="ko-KR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99288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공격적 운전 경험</a:t>
            </a:r>
            <a:endParaRPr lang="ko-KR" sz="1400" dirty="0"/>
          </a:p>
        </p:txBody>
      </p:sp>
      <p:sp>
        <p:nvSpPr>
          <p:cNvPr id="26" name="Shape 24"/>
          <p:cNvSpPr/>
          <p:nvPr/>
        </p:nvSpPr>
        <p:spPr>
          <a:xfrm>
            <a:off x="5318760" y="406908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4069080"/>
            <a:ext cx="1939473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98526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1.97</a:t>
            </a:r>
            <a:endParaRPr lang="ko-KR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5110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보복 행동</a:t>
            </a:r>
            <a:endParaRPr lang="ko-KR" sz="1400" dirty="0"/>
          </a:p>
        </p:txBody>
      </p:sp>
      <p:sp>
        <p:nvSpPr>
          <p:cNvPr id="30" name="Shape 28"/>
          <p:cNvSpPr/>
          <p:nvPr/>
        </p:nvSpPr>
        <p:spPr>
          <a:xfrm>
            <a:off x="5318760" y="45872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587240"/>
            <a:ext cx="1585051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5034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1.61</a:t>
            </a:r>
            <a:endParaRPr lang="ko-KR" sz="1400" dirty="0"/>
          </a:p>
        </p:txBody>
      </p:sp>
      <p:sp>
        <p:nvSpPr>
          <p:cNvPr id="33" name="Shape 31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확인된 점</a:t>
            </a:r>
            <a:endParaRPr lang="ko-KR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분노는 실제 보복 행동보다 차량 내부의 혼잣말과 욕설로 먼저 나타나는 경향이 있었다.</a:t>
            </a:r>
            <a:endParaRPr lang="ko-KR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결과 3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있으면 분노 표현을 조절하는가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존재에 따른 변화 · 5점 척도</a:t>
            </a:r>
            <a:endParaRPr lang="ko-KR" sz="140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자기보고 응답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13360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13360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2.5</a:t>
            </a:r>
            <a:endParaRPr lang="ko-KR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13360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ko-KR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43840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 표현 조절</a:t>
            </a:r>
            <a:endParaRPr lang="ko-KR" sz="1400" dirty="0"/>
          </a:p>
        </p:txBody>
      </p:sp>
      <p:sp>
        <p:nvSpPr>
          <p:cNvPr id="14" name="Shape 12"/>
          <p:cNvSpPr/>
          <p:nvPr/>
        </p:nvSpPr>
        <p:spPr>
          <a:xfrm>
            <a:off x="5318760" y="251460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514600"/>
            <a:ext cx="3997086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43078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4.06</a:t>
            </a:r>
            <a:endParaRPr lang="ko-KR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95656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화나는 상황에서 행동 참음</a:t>
            </a:r>
            <a:endParaRPr lang="ko-KR" sz="1400" dirty="0"/>
          </a:p>
        </p:txBody>
      </p:sp>
      <p:sp>
        <p:nvSpPr>
          <p:cNvPr id="18" name="Shape 16"/>
          <p:cNvSpPr/>
          <p:nvPr/>
        </p:nvSpPr>
        <p:spPr>
          <a:xfrm>
            <a:off x="5318760" y="303276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3032760"/>
            <a:ext cx="3967551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94894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4.03</a:t>
            </a:r>
            <a:endParaRPr lang="ko-KR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47472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행동 변화 지각</a:t>
            </a:r>
            <a:endParaRPr lang="ko-KR" sz="1400" dirty="0"/>
          </a:p>
        </p:txBody>
      </p:sp>
      <p:sp>
        <p:nvSpPr>
          <p:cNvPr id="22" name="Shape 20"/>
          <p:cNvSpPr/>
          <p:nvPr/>
        </p:nvSpPr>
        <p:spPr>
          <a:xfrm>
            <a:off x="5318760" y="355092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550920"/>
            <a:ext cx="3465454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46710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3.52</a:t>
            </a:r>
            <a:endParaRPr lang="ko-KR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99288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반응에 따른 행동 변화</a:t>
            </a:r>
            <a:endParaRPr lang="ko-KR" sz="1400" dirty="0"/>
          </a:p>
        </p:txBody>
      </p:sp>
      <p:sp>
        <p:nvSpPr>
          <p:cNvPr id="26" name="Shape 24"/>
          <p:cNvSpPr/>
          <p:nvPr/>
        </p:nvSpPr>
        <p:spPr>
          <a:xfrm>
            <a:off x="5318760" y="406908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4069080"/>
            <a:ext cx="2746766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98526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2.79</a:t>
            </a:r>
            <a:endParaRPr lang="ko-KR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5110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오히려 감정 표현 증가</a:t>
            </a:r>
            <a:endParaRPr lang="ko-KR" sz="1400" dirty="0"/>
          </a:p>
        </p:txBody>
      </p:sp>
      <p:sp>
        <p:nvSpPr>
          <p:cNvPr id="30" name="Shape 28"/>
          <p:cNvSpPr/>
          <p:nvPr/>
        </p:nvSpPr>
        <p:spPr>
          <a:xfrm>
            <a:off x="5318760" y="45872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587240"/>
            <a:ext cx="1939473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5034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1.97</a:t>
            </a:r>
            <a:endParaRPr lang="ko-KR" sz="1400" dirty="0"/>
          </a:p>
        </p:txBody>
      </p:sp>
      <p:sp>
        <p:nvSpPr>
          <p:cNvPr id="33" name="Shape 31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확인된 점</a:t>
            </a:r>
            <a:endParaRPr lang="ko-KR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응답자 다수도 동승자가 있을 때 감정 표현과 행동을 조절한다고 응답했다.</a:t>
            </a:r>
            <a:endParaRPr lang="ko-KR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핵심 결과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완화되는가: 시선보다 안전 책임감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가정은 시선 의식이었으나, 예비조사에서는 안전 책임감이 더 크게 나타났다.</a:t>
            </a:r>
            <a:endParaRPr lang="ko-KR" sz="140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영향 이유 단일 선택 · N=33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31720"/>
            <a:ext cx="70104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동승자의 안전에 대한 책임감</a:t>
            </a:r>
            <a:endParaRPr lang="ko-KR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3154680"/>
            <a:ext cx="6705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63.6%</a:t>
            </a:r>
            <a:endParaRPr lang="ko-KR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541520"/>
            <a:ext cx="53340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21명 / 33명</a:t>
            </a:r>
            <a:endParaRPr lang="ko-KR" sz="1400" dirty="0"/>
          </a:p>
        </p:txBody>
      </p:sp>
      <p:sp>
        <p:nvSpPr>
          <p:cNvPr id="13" name="Shape 11"/>
          <p:cNvSpPr/>
          <p:nvPr/>
        </p:nvSpPr>
        <p:spPr>
          <a:xfrm>
            <a:off x="7924800" y="2346960"/>
            <a:ext cx="15240" cy="269748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2369820"/>
            <a:ext cx="3200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시선·체면 관련 응답</a:t>
            </a:r>
            <a:endParaRPr lang="ko-KR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009900"/>
            <a:ext cx="3200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모습을 보이고 싶음</a:t>
            </a:r>
            <a:endParaRPr lang="ko-KR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80562"/>
            <a:ext cx="3200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9.1% · 3명</a:t>
            </a:r>
            <a:endParaRPr lang="ko-KR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4137660"/>
            <a:ext cx="3200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사람이 보고 있음</a:t>
            </a:r>
            <a:endParaRPr lang="ko-KR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4408322"/>
            <a:ext cx="3200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6.1% · 2명</a:t>
            </a:r>
            <a:endParaRPr lang="ko-KR" sz="1400" dirty="0"/>
          </a:p>
        </p:txBody>
      </p:sp>
      <p:sp>
        <p:nvSpPr>
          <p:cNvPr id="19" name="Shape 17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전환</a:t>
            </a:r>
            <a:endParaRPr lang="ko-KR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동승자는 감시하는 시선보다, 운전자가 보호해야 할 사람으로 경험될 가능성이 크다.</a:t>
            </a:r>
            <a:endParaRPr lang="ko-KR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결과 4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영향을 미치는 이유 전체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큰 이유를 선택한 응답 비율 · 합계는 반올림으로 100%와 다를 수 있음</a:t>
            </a:r>
            <a:endParaRPr lang="ko-KR" sz="140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단일 선택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</a:t>
            </a:r>
            <a:endParaRPr lang="ko-KR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</a:t>
            </a:r>
            <a:endParaRPr lang="ko-KR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3393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책임감 · 21명</a:t>
            </a:r>
            <a:endParaRPr lang="ko-KR" sz="1400" dirty="0"/>
          </a:p>
        </p:txBody>
      </p:sp>
      <p:sp>
        <p:nvSpPr>
          <p:cNvPr id="14" name="Shape 12"/>
          <p:cNvSpPr/>
          <p:nvPr/>
        </p:nvSpPr>
        <p:spPr>
          <a:xfrm>
            <a:off x="5318760" y="2415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415540"/>
            <a:ext cx="3130723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3317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63.6%</a:t>
            </a:r>
            <a:endParaRPr lang="ko-KR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7965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영향을 거의 받지 않음 · 4명</a:t>
            </a:r>
            <a:endParaRPr lang="ko-KR" sz="1400" dirty="0"/>
          </a:p>
        </p:txBody>
      </p:sp>
      <p:sp>
        <p:nvSpPr>
          <p:cNvPr id="18" name="Shape 16"/>
          <p:cNvSpPr/>
          <p:nvPr/>
        </p:nvSpPr>
        <p:spPr>
          <a:xfrm>
            <a:off x="5318760" y="28727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2872740"/>
            <a:ext cx="595625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7889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12.1%</a:t>
            </a:r>
            <a:endParaRPr lang="ko-KR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2537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모습을 보이고 싶음 · 3명</a:t>
            </a:r>
            <a:endParaRPr lang="ko-KR" sz="1400" dirty="0"/>
          </a:p>
        </p:txBody>
      </p:sp>
      <p:sp>
        <p:nvSpPr>
          <p:cNvPr id="22" name="Shape 20"/>
          <p:cNvSpPr/>
          <p:nvPr/>
        </p:nvSpPr>
        <p:spPr>
          <a:xfrm>
            <a:off x="5318760" y="33299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329940"/>
            <a:ext cx="447949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2461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9.1%</a:t>
            </a:r>
            <a:endParaRPr lang="ko-KR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7109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사람이 보고 있음 · 2명</a:t>
            </a:r>
            <a:endParaRPr lang="ko-KR" sz="1400" dirty="0"/>
          </a:p>
        </p:txBody>
      </p:sp>
      <p:sp>
        <p:nvSpPr>
          <p:cNvPr id="26" name="Shape 24"/>
          <p:cNvSpPr/>
          <p:nvPr/>
        </p:nvSpPr>
        <p:spPr>
          <a:xfrm>
            <a:off x="5318760" y="37871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3787140"/>
            <a:ext cx="300274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7033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6.1%</a:t>
            </a:r>
            <a:endParaRPr lang="ko-KR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1681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감정을 공유함 · 2명</a:t>
            </a:r>
            <a:endParaRPr lang="ko-KR" sz="1400" dirty="0"/>
          </a:p>
        </p:txBody>
      </p:sp>
      <p:sp>
        <p:nvSpPr>
          <p:cNvPr id="30" name="Shape 28"/>
          <p:cNvSpPr/>
          <p:nvPr/>
        </p:nvSpPr>
        <p:spPr>
          <a:xfrm>
            <a:off x="5318760" y="42443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244340"/>
            <a:ext cx="300274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1605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6.1%</a:t>
            </a:r>
            <a:endParaRPr lang="ko-KR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70560" y="46253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동승자의 반응이나 말 · 1명</a:t>
            </a:r>
            <a:endParaRPr lang="ko-KR" sz="1400" dirty="0"/>
          </a:p>
        </p:txBody>
      </p:sp>
      <p:sp>
        <p:nvSpPr>
          <p:cNvPr id="34" name="Shape 32"/>
          <p:cNvSpPr/>
          <p:nvPr/>
        </p:nvSpPr>
        <p:spPr>
          <a:xfrm>
            <a:off x="5318760" y="4701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18760" y="4701540"/>
            <a:ext cx="147676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439400" y="46177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3.0%</a:t>
            </a:r>
            <a:endParaRPr lang="ko-KR" sz="1400" dirty="0"/>
          </a:p>
        </p:txBody>
      </p:sp>
      <p:sp>
        <p:nvSpPr>
          <p:cNvPr id="37" name="Shape 35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확인할 점</a:t>
            </a:r>
            <a:endParaRPr lang="ko-KR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책임감은 가장 빈번한 응답이며, 인과적 기제는 후속 연구 과제다.</a:t>
            </a:r>
            <a:endParaRPr lang="ko-KR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결과 5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누가 탔을 때 가장 조절되는가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가족이 가장 많았고, 유형 차이를 느끼지 않는 응답도 나타났다.</a:t>
            </a:r>
            <a:endParaRPr lang="ko-KR" sz="140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단일 선택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</a:t>
            </a:r>
            <a:endParaRPr lang="ko-KR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</a:t>
            </a:r>
            <a:endParaRPr lang="ko-KR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3393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 · 11명</a:t>
            </a:r>
            <a:endParaRPr lang="ko-KR" sz="1400" dirty="0"/>
          </a:p>
        </p:txBody>
      </p:sp>
      <p:sp>
        <p:nvSpPr>
          <p:cNvPr id="14" name="Shape 12"/>
          <p:cNvSpPr/>
          <p:nvPr/>
        </p:nvSpPr>
        <p:spPr>
          <a:xfrm>
            <a:off x="5318760" y="2415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415540"/>
            <a:ext cx="1639199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3317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33.3%</a:t>
            </a:r>
            <a:endParaRPr lang="ko-KR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7965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유형에 따른 차이 없음 · 9명</a:t>
            </a:r>
            <a:endParaRPr lang="ko-KR" sz="1400" dirty="0"/>
          </a:p>
        </p:txBody>
      </p:sp>
      <p:sp>
        <p:nvSpPr>
          <p:cNvPr id="18" name="Shape 16"/>
          <p:cNvSpPr/>
          <p:nvPr/>
        </p:nvSpPr>
        <p:spPr>
          <a:xfrm>
            <a:off x="5318760" y="28727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2872740"/>
            <a:ext cx="1343848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7889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27.3%</a:t>
            </a:r>
            <a:endParaRPr lang="ko-KR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2537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낯선 사람 · 5명</a:t>
            </a:r>
            <a:endParaRPr lang="ko-KR" sz="1400" dirty="0"/>
          </a:p>
        </p:txBody>
      </p:sp>
      <p:sp>
        <p:nvSpPr>
          <p:cNvPr id="22" name="Shape 20"/>
          <p:cNvSpPr/>
          <p:nvPr/>
        </p:nvSpPr>
        <p:spPr>
          <a:xfrm>
            <a:off x="5318760" y="33299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329940"/>
            <a:ext cx="748223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2461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15.2%</a:t>
            </a:r>
            <a:endParaRPr lang="ko-KR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7109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연인 · 4명</a:t>
            </a:r>
            <a:endParaRPr lang="ko-KR" sz="1400" dirty="0"/>
          </a:p>
        </p:txBody>
      </p:sp>
      <p:sp>
        <p:nvSpPr>
          <p:cNvPr id="26" name="Shape 24"/>
          <p:cNvSpPr/>
          <p:nvPr/>
        </p:nvSpPr>
        <p:spPr>
          <a:xfrm>
            <a:off x="5318760" y="37871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3787140"/>
            <a:ext cx="595625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7033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12.1%</a:t>
            </a:r>
            <a:endParaRPr lang="ko-KR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1681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직장 동료 · 3명</a:t>
            </a:r>
            <a:endParaRPr lang="ko-KR" sz="1400" dirty="0"/>
          </a:p>
        </p:txBody>
      </p:sp>
      <p:sp>
        <p:nvSpPr>
          <p:cNvPr id="30" name="Shape 28"/>
          <p:cNvSpPr/>
          <p:nvPr/>
        </p:nvSpPr>
        <p:spPr>
          <a:xfrm>
            <a:off x="5318760" y="42443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244340"/>
            <a:ext cx="447949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1605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9.1%</a:t>
            </a:r>
            <a:endParaRPr lang="ko-KR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70560" y="46253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친구 · 1명</a:t>
            </a:r>
            <a:endParaRPr lang="ko-KR" sz="1400" dirty="0"/>
          </a:p>
        </p:txBody>
      </p:sp>
      <p:sp>
        <p:nvSpPr>
          <p:cNvPr id="34" name="Shape 32"/>
          <p:cNvSpPr/>
          <p:nvPr/>
        </p:nvSpPr>
        <p:spPr>
          <a:xfrm>
            <a:off x="5318760" y="4701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18760" y="4701540"/>
            <a:ext cx="147676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439400" y="46177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3.0%</a:t>
            </a:r>
            <a:endParaRPr lang="ko-KR" sz="1400" dirty="0"/>
          </a:p>
        </p:txBody>
      </p:sp>
      <p:sp>
        <p:nvSpPr>
          <p:cNvPr id="37" name="Shape 35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후속 분석</a:t>
            </a:r>
            <a:endParaRPr lang="ko-KR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관계의 친밀도와 보호 책임감이 어떻게 연결되는지 살펴본다.</a:t>
            </a:r>
            <a:endParaRPr lang="ko-KR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설문 인사이트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결과값에서 도출한 연구 초점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예비조사 결과는 동승자 존재와 책임감의 관계를 연구할 필요성을 보여준다.</a:t>
            </a:r>
            <a:endParaRPr lang="ko-KR" sz="140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793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인사이트 1</a:t>
            </a:r>
            <a:endParaRPr lang="ko-KR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793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분노는 경적·상향등·손짓처럼 타인의 적대적 표현에서 가장 강하게 나타났다.</a:t>
            </a:r>
            <a:endParaRPr lang="ko-KR" sz="1400" dirty="0"/>
          </a:p>
        </p:txBody>
      </p:sp>
      <p:sp>
        <p:nvSpPr>
          <p:cNvPr id="12" name="Shape 10"/>
          <p:cNvSpPr/>
          <p:nvPr/>
        </p:nvSpPr>
        <p:spPr>
          <a:xfrm>
            <a:off x="670560" y="28117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108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인사이트 2</a:t>
            </a:r>
            <a:endParaRPr lang="ko-KR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108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분노는 보복 행동보다 혼잣말, 욕설 등 차량 내부 표현으로 먼저 나타나는 경향이 있었다.</a:t>
            </a:r>
            <a:endParaRPr lang="ko-KR" sz="1400" dirty="0"/>
          </a:p>
        </p:txBody>
      </p:sp>
      <p:sp>
        <p:nvSpPr>
          <p:cNvPr id="15" name="Shape 13"/>
          <p:cNvSpPr/>
          <p:nvPr/>
        </p:nvSpPr>
        <p:spPr>
          <a:xfrm>
            <a:off x="670560" y="35433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6423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인사이트 3</a:t>
            </a:r>
            <a:endParaRPr lang="ko-KR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6423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있을 때 감정 표현 조절과 행동 억제가 모두 높게 응답되었다.</a:t>
            </a:r>
            <a:endParaRPr lang="ko-KR" sz="1400" dirty="0"/>
          </a:p>
        </p:txBody>
      </p:sp>
      <p:sp>
        <p:nvSpPr>
          <p:cNvPr id="18" name="Shape 16"/>
          <p:cNvSpPr/>
          <p:nvPr/>
        </p:nvSpPr>
        <p:spPr>
          <a:xfrm>
            <a:off x="670560" y="42748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37388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인사이트 4</a:t>
            </a:r>
            <a:endParaRPr lang="ko-KR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37388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조절 이유는 시선 의식보다 동승자의 안전에 대한 책임감이 가장 크게 나타났다.</a:t>
            </a:r>
            <a:endParaRPr lang="ko-KR" sz="1400" dirty="0"/>
          </a:p>
        </p:txBody>
      </p:sp>
      <p:sp>
        <p:nvSpPr>
          <p:cNvPr id="21" name="Shape 19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초점</a:t>
            </a:r>
            <a:endParaRPr lang="ko-KR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존재가 책임감과 감정 표현 조절로 이어지는 과정을 연구한다.</a:t>
            </a:r>
            <a:endParaRPr lang="ko-KR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선행연구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이론적 배경: 다층적 분석 프레임워크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관점만으로는 운전 중 분노 조절과 탈억제 행동의 차이를 충분히 설명하기 어렵다.</a:t>
            </a:r>
            <a:endParaRPr lang="ko-KR" sz="140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Goffman(1959), Cottrell(1972), 윤보영·이순철(2011) 기반 정리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28600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75844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인문학적 관점</a:t>
            </a:r>
            <a:endParaRPr lang="ko-KR" sz="2400" dirty="0"/>
          </a:p>
        </p:txBody>
      </p:sp>
      <p:sp>
        <p:nvSpPr>
          <p:cNvPr id="12" name="Shape 10"/>
          <p:cNvSpPr/>
          <p:nvPr/>
        </p:nvSpPr>
        <p:spPr>
          <a:xfrm>
            <a:off x="670560" y="364236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84048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Goffman(1959)의 자아 연출 이론을</a:t>
            </a:r>
            <a:endParaRPr lang="ko-KR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411114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바탕으로, 시선이 있는 공간과 시선이</a:t>
            </a:r>
            <a:endParaRPr lang="ko-KR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70560" y="438180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약화된 공간에서 행동 양식이 달라지는</a:t>
            </a:r>
            <a:endParaRPr lang="ko-KR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0560" y="4652467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구조를 본다.</a:t>
            </a:r>
            <a:endParaRPr lang="ko-KR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429760" y="228600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429760" y="275844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사회심리학적 관점</a:t>
            </a:r>
            <a:endParaRPr lang="ko-KR" sz="2400" dirty="0"/>
          </a:p>
        </p:txBody>
      </p:sp>
      <p:sp>
        <p:nvSpPr>
          <p:cNvPr id="19" name="Shape 17"/>
          <p:cNvSpPr/>
          <p:nvPr/>
        </p:nvSpPr>
        <p:spPr>
          <a:xfrm>
            <a:off x="4429760" y="364236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29760" y="384048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Cottrell(1972)의 평가 불안이론을 통해,</a:t>
            </a:r>
            <a:endParaRPr lang="ko-KR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429760" y="411114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타인의 존재 자체보다 평가 가능성 인식이</a:t>
            </a:r>
            <a:endParaRPr lang="ko-KR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429760" y="438180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 억제에 영향을 준다는 점을 본다.</a:t>
            </a:r>
            <a:endParaRPr lang="ko-KR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188960" y="228600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188960" y="275844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개인심리학적 관점</a:t>
            </a:r>
            <a:endParaRPr lang="ko-KR" sz="2400" dirty="0"/>
          </a:p>
        </p:txBody>
      </p:sp>
      <p:sp>
        <p:nvSpPr>
          <p:cNvPr id="25" name="Shape 23"/>
          <p:cNvSpPr/>
          <p:nvPr/>
        </p:nvSpPr>
        <p:spPr>
          <a:xfrm>
            <a:off x="8188960" y="364236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88960" y="384048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윤보영·이순철(2011)의 정서표현갈등</a:t>
            </a:r>
            <a:endParaRPr lang="ko-KR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188960" y="411114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논의를 통해, 억제된 정서와 개인차가 난폭</a:t>
            </a:r>
            <a:endParaRPr lang="ko-KR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188960" y="438180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행동으로 이어질 가능성을 본다.</a:t>
            </a:r>
            <a:endParaRPr lang="ko-KR" sz="1400" dirty="0"/>
          </a:p>
        </p:txBody>
      </p:sp>
      <p:sp>
        <p:nvSpPr>
          <p:cNvPr id="29" name="Shape 27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 구조</a:t>
            </a:r>
            <a:endParaRPr lang="ko-KR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상황 → 타인의 평가에 대한 의식 → 개인의 심리 특성으로 이어지는 3단계 구조로 살펴본다.</a:t>
            </a:r>
            <a:endParaRPr lang="ko-KR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인문학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자아 연출 이론: 무대와 시선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Goffman(1959)은 타인과 만날 때의 행동을 관객 앞에서 하는 연기에 비유한다.</a:t>
            </a:r>
            <a:endParaRPr lang="ko-KR" sz="140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Goffman, The Presentation of Self in Everyday Life, 1959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24028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개념</a:t>
            </a:r>
            <a:endParaRPr lang="ko-KR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24028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인간은 타인의 시선이 있는 곳에서 자신의 인상을 관리하고, 사회적으로 적절한 모습을 연출한다.</a:t>
            </a:r>
            <a:endParaRPr lang="ko-KR" sz="1400" dirty="0"/>
          </a:p>
        </p:txBody>
      </p:sp>
      <p:sp>
        <p:nvSpPr>
          <p:cNvPr id="12" name="Shape 10"/>
          <p:cNvSpPr/>
          <p:nvPr/>
        </p:nvSpPr>
        <p:spPr>
          <a:xfrm>
            <a:off x="670560" y="28727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718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전면 영역</a:t>
            </a:r>
            <a:endParaRPr lang="ko-KR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718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타인의 시선과 사회적 규범이 있는 공간이다. 타인에게 보여줄 모습을 의식하며 말과 행동을</a:t>
            </a:r>
            <a:endParaRPr lang="ko-KR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215640" y="3242462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조절한다.</a:t>
            </a:r>
            <a:endParaRPr lang="ko-KR" sz="1400" dirty="0"/>
          </a:p>
        </p:txBody>
      </p:sp>
      <p:sp>
        <p:nvSpPr>
          <p:cNvPr id="16" name="Shape 14"/>
          <p:cNvSpPr/>
          <p:nvPr/>
        </p:nvSpPr>
        <p:spPr>
          <a:xfrm>
            <a:off x="670560" y="36042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0560" y="37033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후면 영역</a:t>
            </a:r>
            <a:endParaRPr lang="ko-KR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215640" y="37033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타인의 시선을 덜 의식하는 공간이다. 남에게 보일 모습을 덜 신경 쓰며, 참았던 감정을 드러낼 수 있다.</a:t>
            </a:r>
            <a:endParaRPr lang="ko-KR" sz="1400" dirty="0"/>
          </a:p>
        </p:txBody>
      </p:sp>
      <p:sp>
        <p:nvSpPr>
          <p:cNvPr id="19" name="Shape 17"/>
          <p:cNvSpPr/>
          <p:nvPr/>
        </p:nvSpPr>
        <p:spPr>
          <a:xfrm>
            <a:off x="670560" y="43357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0560" y="44348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적용</a:t>
            </a:r>
            <a:endParaRPr lang="ko-KR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215640" y="44348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차량은 공적인 도로 위에 있지만, 혼자 탄 운전자는 차 안을 타인의 시선을 덜 의식하는 공간으로 느낄 수</a:t>
            </a:r>
            <a:endParaRPr lang="ko-KR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215640" y="4705502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있다.</a:t>
            </a:r>
            <a:endParaRPr lang="ko-KR" sz="1400" dirty="0"/>
          </a:p>
        </p:txBody>
      </p:sp>
      <p:sp>
        <p:nvSpPr>
          <p:cNvPr id="23" name="Shape 21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 지점</a:t>
            </a:r>
            <a:endParaRPr lang="ko-KR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있으면 운전자는 다른 사람에게 보이는 자신의 모습을 의식해 말과 행동을 조절할 수 있다.</a:t>
            </a:r>
            <a:endParaRPr lang="ko-KR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사회심리학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불안이론: 타인의 평가를 의식하는 마음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Cottrell(1972)은 타인의 단순한 존재보다 평가 가능성이 사회적 억제의 핵심이라고 보았다.</a:t>
            </a:r>
            <a:endParaRPr lang="ko-KR" sz="140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Cottrell, Social Facilitation, 1972; Zajonc, 1965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793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이론적 차별성</a:t>
            </a:r>
            <a:endParaRPr lang="ko-KR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793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Zajonc(1965)는 타인의 물리적 존재만으로 각성이 발생한다고 보았으나, Cottrell은 평가 가능성이 핵심</a:t>
            </a:r>
            <a:endParaRPr lang="ko-KR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215640" y="2449982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동인이라고 설명했다.</a:t>
            </a:r>
            <a:endParaRPr lang="ko-KR" sz="1400" dirty="0"/>
          </a:p>
        </p:txBody>
      </p:sp>
      <p:sp>
        <p:nvSpPr>
          <p:cNvPr id="13" name="Shape 11"/>
          <p:cNvSpPr/>
          <p:nvPr/>
        </p:nvSpPr>
        <p:spPr>
          <a:xfrm>
            <a:off x="670560" y="28346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0560" y="29337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가능성 인식</a:t>
            </a:r>
            <a:endParaRPr lang="ko-KR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215640" y="29337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타인이 나를 볼 수 있고 판단할 수 있다고 느끼면 평가 불안이 발생하고, 사회적 규범을 따르려는 경향이</a:t>
            </a:r>
            <a:endParaRPr lang="ko-KR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215640" y="3204362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강화된다.</a:t>
            </a:r>
            <a:endParaRPr lang="ko-KR" sz="1400" dirty="0"/>
          </a:p>
        </p:txBody>
      </p:sp>
      <p:sp>
        <p:nvSpPr>
          <p:cNvPr id="17" name="Shape 15"/>
          <p:cNvSpPr/>
          <p:nvPr/>
        </p:nvSpPr>
        <p:spPr>
          <a:xfrm>
            <a:off x="670560" y="35890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0560" y="368808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가능성 약화</a:t>
            </a:r>
            <a:endParaRPr lang="ko-KR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215640" y="368808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신원이 드러나지 않거나 시선이 차단된 상황에서는 평가 불안이 줄어들고, 행동을 억제하던 사회적 통제도</a:t>
            </a:r>
            <a:endParaRPr lang="ko-KR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3958742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약해질 수 있다.</a:t>
            </a:r>
            <a:endParaRPr lang="ko-KR" sz="1400" dirty="0"/>
          </a:p>
        </p:txBody>
      </p:sp>
      <p:sp>
        <p:nvSpPr>
          <p:cNvPr id="21" name="Shape 19"/>
          <p:cNvSpPr/>
          <p:nvPr/>
        </p:nvSpPr>
        <p:spPr>
          <a:xfrm>
            <a:off x="670560" y="43434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0560" y="44424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적용</a:t>
            </a:r>
            <a:endParaRPr lang="ko-KR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215640" y="44424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운전할 때는 평가 가능성이 낮아지고, 동승자가 있을 때는 평가 가능성과 관계적 책임이 함께 활성화될 수</a:t>
            </a:r>
            <a:endParaRPr lang="ko-KR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215640" y="4713122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있다.</a:t>
            </a:r>
            <a:endParaRPr lang="ko-KR" sz="1400" dirty="0"/>
          </a:p>
        </p:txBody>
      </p:sp>
      <p:sp>
        <p:nvSpPr>
          <p:cNvPr id="25" name="Shape 23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 지점</a:t>
            </a:r>
            <a:endParaRPr lang="ko-KR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동승자의 영향은 타인의 평가를 의식하는 마음과 안전을 지켜야 한다는 책임감으로 살펴볼 수 있다.</a:t>
            </a:r>
            <a:endParaRPr lang="ko-KR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개인심리학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정서표현갈등과 개인차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윤보영·이순철(2011)은 익명상황 민감군의 정서표현갈등과 난폭운전 가능성을 연결해 설명한다.</a:t>
            </a:r>
            <a:endParaRPr lang="ko-KR" sz="140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윤보영·이순철, 익명상황의 운전행동과 운전분노 및 정서표현갈등과의 관계, 2011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488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문제</a:t>
            </a:r>
            <a:endParaRPr lang="ko-KR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488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신원이 드러나지 않고 평가받을 걱정이 적은 상황에서, 왜 일부 사람은 억제를 풀고 난폭하게 행동하는가?</a:t>
            </a:r>
            <a:endParaRPr lang="ko-KR" sz="1400" dirty="0"/>
          </a:p>
        </p:txBody>
      </p:sp>
      <p:sp>
        <p:nvSpPr>
          <p:cNvPr id="12" name="Shape 10"/>
          <p:cNvSpPr/>
          <p:nvPr/>
        </p:nvSpPr>
        <p:spPr>
          <a:xfrm>
            <a:off x="670560" y="28270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2608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변인</a:t>
            </a:r>
            <a:endParaRPr lang="ko-KR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2608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정서표현갈등은 감정을 표현하고 싶으면서도 참아야 한다고 느끼는 갈등이다. 자기방어적 양가성은 상처받을</a:t>
            </a:r>
            <a:endParaRPr lang="ko-KR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215640" y="3196742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두려움 때문에 감정을 억누르는 성향을 뜻한다.</a:t>
            </a:r>
            <a:endParaRPr lang="ko-KR" sz="1400" dirty="0"/>
          </a:p>
        </p:txBody>
      </p:sp>
      <p:sp>
        <p:nvSpPr>
          <p:cNvPr id="16" name="Shape 14"/>
          <p:cNvSpPr/>
          <p:nvPr/>
        </p:nvSpPr>
        <p:spPr>
          <a:xfrm>
            <a:off x="670560" y="36042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0560" y="37033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실증 결과</a:t>
            </a:r>
            <a:endParaRPr lang="ko-KR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215640" y="37033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익명상황에 민감한 난폭운전·일탈 유발 집단은 평소 정서표현갈등, 특히 자기방어적 양가성 수준이 유의미하게</a:t>
            </a:r>
            <a:endParaRPr lang="ko-KR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215640" y="3973982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높게 나타났다.</a:t>
            </a:r>
            <a:endParaRPr lang="ko-KR" sz="1400" dirty="0"/>
          </a:p>
        </p:txBody>
      </p:sp>
      <p:sp>
        <p:nvSpPr>
          <p:cNvPr id="20" name="Shape 18"/>
          <p:cNvSpPr/>
          <p:nvPr/>
        </p:nvSpPr>
        <p:spPr>
          <a:xfrm>
            <a:off x="670560" y="43815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0560" y="44805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적용</a:t>
            </a:r>
            <a:endParaRPr lang="ko-KR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215640" y="44805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불안이 낮아진 운전 환경은 억제된 감정을 가진 개인에게 분노 표현이 강화되는 심리적 계기가 될 수 있다.</a:t>
            </a:r>
            <a:endParaRPr lang="ko-KR" sz="1400" dirty="0"/>
          </a:p>
        </p:txBody>
      </p:sp>
      <p:sp>
        <p:nvSpPr>
          <p:cNvPr id="23" name="Shape 21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 지점</a:t>
            </a:r>
            <a:endParaRPr lang="ko-KR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동승자의 존재는 운전자가 참았던 감정을 드러내는 방식을 다시 조절하게 하는 계기가 된다.</a:t>
            </a:r>
            <a:endParaRPr lang="ko-KR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통합 모델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선행연구 기반 통합 매개 모델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상황, 타인의 평가에 대한 의식, 개인의 심리 특성을 연결해 운전 행동의 차이를 설명한다.</a:t>
            </a:r>
            <a:endParaRPr lang="ko-KR" sz="140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Goffman(1959), Cottrell(1972), 윤보영·이순철(2011) 기반 연구자 재구성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400300"/>
            <a:ext cx="2057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상황적 조건</a:t>
            </a:r>
            <a:endParaRPr lang="ko-KR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44240" y="2400300"/>
            <a:ext cx="2057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사회적 기제</a:t>
            </a:r>
            <a:endParaRPr lang="ko-KR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400300"/>
            <a:ext cx="2057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개인적 특성</a:t>
            </a:r>
            <a:endParaRPr lang="ko-KR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91600" y="2400300"/>
            <a:ext cx="2057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행동적 결과</a:t>
            </a:r>
            <a:endParaRPr lang="ko-KR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2987040"/>
            <a:ext cx="20574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익명 상황</a:t>
            </a:r>
            <a:endParaRPr lang="ko-KR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70560" y="3438144"/>
            <a:ext cx="20574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후면 영역</a:t>
            </a:r>
            <a:endParaRPr lang="ko-KR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3444240" y="2987040"/>
            <a:ext cx="20574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불안</a:t>
            </a:r>
            <a:endParaRPr lang="ko-KR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3444240" y="3438144"/>
            <a:ext cx="20574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통제 해제</a:t>
            </a:r>
            <a:endParaRPr lang="ko-KR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987040"/>
            <a:ext cx="20574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정서갈등</a:t>
            </a:r>
            <a:endParaRPr lang="ko-KR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438144"/>
            <a:ext cx="20574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개인차</a:t>
            </a:r>
            <a:endParaRPr lang="ko-KR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8991600" y="2987040"/>
            <a:ext cx="20574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억제 풀림</a:t>
            </a:r>
            <a:endParaRPr lang="ko-KR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8991600" y="3438144"/>
            <a:ext cx="20574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난폭 반응</a:t>
            </a:r>
            <a:endParaRPr lang="ko-KR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2849880" y="3147060"/>
            <a:ext cx="3962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ko-KR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5623560" y="3147060"/>
            <a:ext cx="3962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ko-KR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8397240" y="3147060"/>
            <a:ext cx="3962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ko-KR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4191000"/>
            <a:ext cx="20574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Goffman</a:t>
            </a:r>
            <a:endParaRPr lang="ko-KR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70560" y="4416552"/>
            <a:ext cx="20574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후면 영역</a:t>
            </a:r>
            <a:endParaRPr lang="ko-KR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444240" y="4191000"/>
            <a:ext cx="20574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Cottrell</a:t>
            </a:r>
            <a:endParaRPr lang="ko-KR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444240" y="4416552"/>
            <a:ext cx="20574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가능성</a:t>
            </a:r>
            <a:endParaRPr lang="ko-KR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4191000"/>
            <a:ext cx="20574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윤보영·이순철</a:t>
            </a:r>
            <a:endParaRPr lang="ko-KR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4416552"/>
            <a:ext cx="20574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정서표현갈등(AEQ)</a:t>
            </a:r>
            <a:endParaRPr lang="ko-KR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991600" y="4191000"/>
            <a:ext cx="20574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일탈·난폭 행동</a:t>
            </a:r>
            <a:endParaRPr lang="ko-KR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991600" y="4416552"/>
            <a:ext cx="20574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 표현</a:t>
            </a:r>
            <a:endParaRPr lang="ko-KR" sz="1200" dirty="0"/>
          </a:p>
        </p:txBody>
      </p:sp>
      <p:sp>
        <p:nvSpPr>
          <p:cNvPr id="33" name="Shape 31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학술적 의의</a:t>
            </a:r>
            <a:endParaRPr lang="ko-KR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공간·평가·개인차가 함께 작동하는 운전 분노 조절 모델로 확장한다.</a:t>
            </a:r>
            <a:endParaRPr lang="ko-KR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향후 연구계획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 결과 이후의 연구 진행 방향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해석과 설계 제안은 후속 연구 단계에서 보완한다.</a:t>
            </a:r>
            <a:endParaRPr lang="ko-KR" sz="140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945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선행연구 보완</a:t>
            </a:r>
            <a:endParaRPr lang="ko-KR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945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인문학: 타자·책임·관계 / 심리: 분노 조절·상황 재평가 / 사회: 동승자·체면·감정 동조</a:t>
            </a:r>
            <a:endParaRPr lang="ko-KR" sz="1400" dirty="0"/>
          </a:p>
        </p:txBody>
      </p:sp>
      <p:sp>
        <p:nvSpPr>
          <p:cNvPr id="12" name="Shape 10"/>
          <p:cNvSpPr/>
          <p:nvPr/>
        </p:nvSpPr>
        <p:spPr>
          <a:xfrm>
            <a:off x="670560" y="28879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870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본조사 설계</a:t>
            </a:r>
            <a:endParaRPr lang="ko-KR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870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예비조사 문항을 보완하고 표본 수, 연령대, 운전 경력 범위를 확대한다.</a:t>
            </a:r>
            <a:endParaRPr lang="ko-KR" sz="1400" dirty="0"/>
          </a:p>
        </p:txBody>
      </p:sp>
      <p:sp>
        <p:nvSpPr>
          <p:cNvPr id="15" name="Shape 13"/>
          <p:cNvSpPr/>
          <p:nvPr/>
        </p:nvSpPr>
        <p:spPr>
          <a:xfrm>
            <a:off x="670560" y="36804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7795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분석 방향</a:t>
            </a:r>
            <a:endParaRPr lang="ko-KR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7795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유형, 안전 책임감, 시선 의식, 감정 표현 조절의 관계를 비교한다.</a:t>
            </a:r>
            <a:endParaRPr lang="ko-KR" sz="1400" dirty="0"/>
          </a:p>
        </p:txBody>
      </p:sp>
      <p:sp>
        <p:nvSpPr>
          <p:cNvPr id="18" name="Shape 16"/>
          <p:cNvSpPr/>
          <p:nvPr/>
        </p:nvSpPr>
        <p:spPr>
          <a:xfrm>
            <a:off x="670560" y="44729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5720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AI 설계 검토</a:t>
            </a:r>
            <a:endParaRPr lang="ko-KR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5720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운전할 때도 누군가 함께하는 느낌과 안전 책임감을 떠올리게 하는 AI 인터페이스를 탐색한다.</a:t>
            </a:r>
            <a:endParaRPr lang="ko-KR" sz="1400" dirty="0"/>
          </a:p>
        </p:txBody>
      </p:sp>
      <p:sp>
        <p:nvSpPr>
          <p:cNvPr id="21" name="Shape 19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정리</a:t>
            </a:r>
            <a:endParaRPr lang="ko-KR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발표 범위는 예비조사 결과까지이며, 피드백 후 이론과 설계를 구체화한다.</a:t>
            </a:r>
            <a:endParaRPr lang="ko-KR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동승자 존재와 운전자 분노 조절 | 연구계획</dc:title>
  <dc:subject>교수님 피드백용 연구계획</dc:subject>
  <dc:creator>서종휘</dc:creator>
  <cp:lastModifiedBy>서종휘</cp:lastModifiedBy>
  <cp:revision>1</cp:revision>
  <dcterms:created xsi:type="dcterms:W3CDTF">2026-09-10T19:17:28Z</dcterms:created>
  <dcterms:modified xsi:type="dcterms:W3CDTF">2026-09-10T19:17:28Z</dcterms:modified>
</cp:coreProperties>
</file>