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원제: 동승자 존재가 운전자 분노 조절에 미치는 영향과 차량 내 AI 인터페이스 설계 연구. 홍익대학교 일반대학원 산업디자인과 서종휘.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RESEARCH PROPOSAL · 2026.09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존재와 운전자 분노 조절</a:t>
            </a:r>
            <a:endParaRPr lang="ko-KR" sz="2880" dirty="0"/>
          </a:p>
        </p:txBody>
      </p:sp>
      <p:sp>
        <p:nvSpPr>
          <p:cNvPr id="5" name="Shape 3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홍익대학교 일반대학원 산업디자인과 · 서종휘 · 교수님 피드백용</a:t>
            </a:r>
            <a:endParaRPr lang="ko-KR" sz="1080" dirty="0"/>
          </a:p>
        </p:txBody>
      </p:sp>
      <p:sp>
        <p:nvSpPr>
          <p:cNvPr id="8" name="Text 6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260" dirty="0"/>
          </a:p>
        </p:txBody>
      </p:sp>
      <p:sp>
        <p:nvSpPr>
          <p:cNvPr id="9" name="Text 7"/>
          <p:cNvSpPr txBox="1"/>
          <p:nvPr/>
        </p:nvSpPr>
        <p:spPr>
          <a:xfrm>
            <a:off x="670560" y="2316480"/>
            <a:ext cx="10850880" cy="744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96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내 AI 인터페이스 설계 연구</a:t>
            </a:r>
            <a:endParaRPr lang="ko-KR" sz="3960" dirty="0"/>
          </a:p>
        </p:txBody>
      </p:sp>
      <p:sp>
        <p:nvSpPr>
          <p:cNvPr id="10" name="Text 8"/>
          <p:cNvSpPr txBox="1"/>
          <p:nvPr/>
        </p:nvSpPr>
        <p:spPr>
          <a:xfrm>
            <a:off x="701040" y="3512820"/>
            <a:ext cx="1036320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타자의 존재, 안전 책임감, 감정 조절 경험을 중심으로</a:t>
            </a:r>
            <a:endParaRPr lang="ko-KR" sz="2040" dirty="0"/>
          </a:p>
        </p:txBody>
      </p:sp>
      <p:sp>
        <p:nvSpPr>
          <p:cNvPr id="11" name="Shape 9"/>
          <p:cNvSpPr/>
          <p:nvPr/>
        </p:nvSpPr>
        <p:spPr>
          <a:xfrm>
            <a:off x="670560" y="4396740"/>
            <a:ext cx="609600" cy="3810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0560" y="4724400"/>
            <a:ext cx="10134600" cy="439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3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탄 사람을 보호하려는 책임감은</a:t>
            </a:r>
            <a:endParaRPr lang="ko-KR" sz="234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5164226"/>
            <a:ext cx="10134600" cy="439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3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운전자의 감정 조절과 어떻게 연결되는가?</a:t>
            </a:r>
            <a:endParaRPr lang="ko-KR" sz="23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연구의 출발점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연구의 핵심 질문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동승자와 함께 있을 때 나타나는 감정 조절의 이유에 주목한다.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62200"/>
            <a:ext cx="1085088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4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동승자가 있으면</a:t>
            </a:r>
            <a:endParaRPr lang="ko-KR" sz="342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3005023"/>
            <a:ext cx="1085088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4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화를 표현하는 방식이 달라질까?</a:t>
            </a:r>
            <a:endParaRPr lang="ko-KR" sz="3420" dirty="0"/>
          </a:p>
        </p:txBody>
      </p:sp>
      <p:sp>
        <p:nvSpPr>
          <p:cNvPr id="12" name="Text 10"/>
          <p:cNvSpPr txBox="1"/>
          <p:nvPr/>
        </p:nvSpPr>
        <p:spPr>
          <a:xfrm>
            <a:off x="670560" y="4038600"/>
            <a:ext cx="10850880" cy="394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1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예비조사에서는 ‘동승자의 안전에 대한 책임감’이</a:t>
            </a:r>
            <a:endParaRPr lang="ko-KR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4433316"/>
            <a:ext cx="10850880" cy="394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10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많이 선택된 영향 이유였다.</a:t>
            </a:r>
            <a:endParaRPr lang="ko-KR" sz="2100" dirty="0"/>
          </a:p>
        </p:txBody>
      </p:sp>
      <p:sp>
        <p:nvSpPr>
          <p:cNvPr id="14" name="Shape 12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방향</a:t>
            </a:r>
            <a:endParaRPr lang="ko-KR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경험을 차량 AI의 자기조절 지원 방식으로 연결한다.</a:t>
            </a:r>
            <a:endParaRPr lang="ko-KR" sz="16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배경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자동차는 감정과 관계가 함께 놓이는 공간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공적 도로, 사적 실내, 동승자와의 관계라는 세 층위로 이해한다.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38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공적 도로</a:t>
            </a:r>
            <a:endParaRPr lang="ko-KR" sz="2040" dirty="0"/>
          </a:p>
        </p:txBody>
      </p:sp>
      <p:sp>
        <p:nvSpPr>
          <p:cNvPr id="12" name="Shape 10"/>
          <p:cNvSpPr/>
          <p:nvPr/>
        </p:nvSpPr>
        <p:spPr>
          <a:xfrm>
            <a:off x="6705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끼어들기, 경적, 상향등 등</a:t>
            </a:r>
            <a:endParaRPr lang="ko-KR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행동과 접촉하며</a:t>
            </a:r>
            <a:endParaRPr lang="ko-KR" sz="168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감정적 충돌을 경험한다.</a:t>
            </a:r>
            <a:endParaRPr lang="ko-KR" sz="1680" dirty="0"/>
          </a:p>
        </p:txBody>
      </p:sp>
      <p:sp>
        <p:nvSpPr>
          <p:cNvPr id="16" name="Text 14"/>
          <p:cNvSpPr txBox="1"/>
          <p:nvPr/>
        </p:nvSpPr>
        <p:spPr>
          <a:xfrm>
            <a:off x="44297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380" dirty="0"/>
          </a:p>
        </p:txBody>
      </p:sp>
      <p:sp>
        <p:nvSpPr>
          <p:cNvPr id="17" name="Text 15"/>
          <p:cNvSpPr txBox="1"/>
          <p:nvPr/>
        </p:nvSpPr>
        <p:spPr>
          <a:xfrm>
            <a:off x="44297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사적 실내</a:t>
            </a:r>
            <a:endParaRPr lang="ko-KR" sz="2040" dirty="0"/>
          </a:p>
        </p:txBody>
      </p:sp>
      <p:sp>
        <p:nvSpPr>
          <p:cNvPr id="18" name="Shape 16"/>
          <p:cNvSpPr/>
          <p:nvPr/>
        </p:nvSpPr>
        <p:spPr>
          <a:xfrm>
            <a:off x="44297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297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분노가 혼잣말과 욕설 등</a:t>
            </a:r>
            <a:endParaRPr lang="ko-KR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44297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내부의 표현으로</a:t>
            </a:r>
            <a:endParaRPr lang="ko-KR" sz="1680" dirty="0"/>
          </a:p>
        </p:txBody>
      </p:sp>
      <p:sp>
        <p:nvSpPr>
          <p:cNvPr id="21" name="Text 19"/>
          <p:cNvSpPr txBox="1"/>
          <p:nvPr/>
        </p:nvSpPr>
        <p:spPr>
          <a:xfrm>
            <a:off x="44297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나타날 수 있다.</a:t>
            </a:r>
            <a:endParaRPr lang="ko-KR" sz="1680" dirty="0"/>
          </a:p>
        </p:txBody>
      </p:sp>
      <p:sp>
        <p:nvSpPr>
          <p:cNvPr id="22" name="Text 20"/>
          <p:cNvSpPr txBox="1"/>
          <p:nvPr/>
        </p:nvSpPr>
        <p:spPr>
          <a:xfrm>
            <a:off x="81889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380" dirty="0"/>
          </a:p>
        </p:txBody>
      </p:sp>
      <p:sp>
        <p:nvSpPr>
          <p:cNvPr id="23" name="Text 21"/>
          <p:cNvSpPr txBox="1"/>
          <p:nvPr/>
        </p:nvSpPr>
        <p:spPr>
          <a:xfrm>
            <a:off x="81889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관계적 공간</a:t>
            </a:r>
            <a:endParaRPr lang="ko-KR" sz="2040" dirty="0"/>
          </a:p>
        </p:txBody>
      </p:sp>
      <p:sp>
        <p:nvSpPr>
          <p:cNvPr id="24" name="Shape 22"/>
          <p:cNvSpPr/>
          <p:nvPr/>
        </p:nvSpPr>
        <p:spPr>
          <a:xfrm>
            <a:off x="81889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89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탑승하면</a:t>
            </a:r>
            <a:endParaRPr lang="ko-KR" sz="1680" dirty="0"/>
          </a:p>
        </p:txBody>
      </p:sp>
      <p:sp>
        <p:nvSpPr>
          <p:cNvPr id="26" name="Text 24"/>
          <p:cNvSpPr txBox="1"/>
          <p:nvPr/>
        </p:nvSpPr>
        <p:spPr>
          <a:xfrm>
            <a:off x="81889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자신의 감정과 함께</a:t>
            </a:r>
            <a:endParaRPr lang="ko-KR" sz="1680" dirty="0"/>
          </a:p>
        </p:txBody>
      </p:sp>
      <p:sp>
        <p:nvSpPr>
          <p:cNvPr id="27" name="Text 25"/>
          <p:cNvSpPr txBox="1"/>
          <p:nvPr/>
        </p:nvSpPr>
        <p:spPr>
          <a:xfrm>
            <a:off x="81889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안전을 고려한다.</a:t>
            </a:r>
            <a:endParaRPr lang="ko-KR" sz="1680" dirty="0"/>
          </a:p>
        </p:txBody>
      </p:sp>
      <p:sp>
        <p:nvSpPr>
          <p:cNvPr id="28" name="Shape 26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해석의 초점</a:t>
            </a:r>
            <a:endParaRPr lang="ko-KR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내부를 감정과 책임이 교차하는 생활공간으로 본다.</a:t>
            </a:r>
            <a:endParaRPr lang="ko-KR" sz="1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문제와 목적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연구가 해결하려는 문제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운전자의 감정 경험을 차량 내 AI 인터페이스 설계로 연결한다.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24790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관찰할 현상</a:t>
            </a:r>
            <a:endParaRPr lang="ko-KR" sz="168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24790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있을 때 감정 표현과 행동을 조절하는 경험</a:t>
            </a:r>
            <a:endParaRPr lang="ko-KR" sz="1680" dirty="0"/>
          </a:p>
        </p:txBody>
      </p:sp>
      <p:sp>
        <p:nvSpPr>
          <p:cNvPr id="12" name="Shape 10"/>
          <p:cNvSpPr/>
          <p:nvPr/>
        </p:nvSpPr>
        <p:spPr>
          <a:xfrm>
            <a:off x="670560" y="28422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4132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설명할 이유</a:t>
            </a:r>
            <a:endParaRPr lang="ko-KR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4132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시선·체면 의식과 안전 책임감이 각각 작동하는 방식</a:t>
            </a:r>
            <a:endParaRPr lang="ko-KR" sz="1680" dirty="0"/>
          </a:p>
        </p:txBody>
      </p:sp>
      <p:sp>
        <p:nvSpPr>
          <p:cNvPr id="15" name="Shape 13"/>
          <p:cNvSpPr/>
          <p:nvPr/>
        </p:nvSpPr>
        <p:spPr>
          <a:xfrm>
            <a:off x="670560" y="35356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3474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설계할 대상</a:t>
            </a:r>
            <a:endParaRPr lang="ko-KR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3474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운전자가 스스로 감정을 조절하도록 돕는 차량 AI</a:t>
            </a:r>
            <a:endParaRPr lang="ko-KR" sz="1680" dirty="0"/>
          </a:p>
        </p:txBody>
      </p:sp>
      <p:sp>
        <p:nvSpPr>
          <p:cNvPr id="18" name="Shape 16"/>
          <p:cNvSpPr/>
          <p:nvPr/>
        </p:nvSpPr>
        <p:spPr>
          <a:xfrm>
            <a:off x="670560" y="42291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32816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확인할 효과</a:t>
            </a:r>
            <a:endParaRPr lang="ko-KR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32816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책임감 환기, 분노 경험, 방해감, 신뢰와 수용성</a:t>
            </a:r>
            <a:endParaRPr lang="ko-KR" sz="1680" dirty="0"/>
          </a:p>
        </p:txBody>
      </p:sp>
      <p:sp>
        <p:nvSpPr>
          <p:cNvPr id="21" name="Shape 19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목적</a:t>
            </a:r>
            <a:endParaRPr lang="ko-KR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경험의 해석을 AI 인터랙션 설계 원칙으로 구체화한다.</a:t>
            </a:r>
            <a:endParaRPr lang="ko-KR" sz="1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연구 문제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관찰에서 해석을 거쳐 설계로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연구계획서의 다섯 가지 질문을 순서대로 연결한다.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4884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RQ 1 · 자극</a:t>
            </a:r>
            <a:endParaRPr lang="ko-KR" sz="168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4884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도로 상황에서 분노와 불쾌감이 강하게 나타나는가?</a:t>
            </a:r>
            <a:endParaRPr lang="ko-KR" sz="1680" dirty="0"/>
          </a:p>
        </p:txBody>
      </p:sp>
      <p:sp>
        <p:nvSpPr>
          <p:cNvPr id="12" name="Shape 10"/>
          <p:cNvSpPr/>
          <p:nvPr/>
        </p:nvSpPr>
        <p:spPr>
          <a:xfrm>
            <a:off x="670560" y="28041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0322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RQ 2 · 표현</a:t>
            </a:r>
            <a:endParaRPr lang="ko-KR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0322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분노는 혼잣말, 욕설, 경적, 공격적 운전으로 어떻게 표출되는가?</a:t>
            </a:r>
            <a:endParaRPr lang="ko-KR" sz="1680" dirty="0"/>
          </a:p>
        </p:txBody>
      </p:sp>
      <p:sp>
        <p:nvSpPr>
          <p:cNvPr id="15" name="Shape 13"/>
          <p:cNvSpPr/>
          <p:nvPr/>
        </p:nvSpPr>
        <p:spPr>
          <a:xfrm>
            <a:off x="670560" y="35585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5760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RQ 3 · 동승자</a:t>
            </a:r>
            <a:endParaRPr lang="ko-KR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5760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동승자의 존재와 유형은 감정 표현 및 행동 조절과 어떻게 연결되는가?</a:t>
            </a:r>
            <a:endParaRPr lang="ko-KR" sz="1680" dirty="0"/>
          </a:p>
        </p:txBody>
      </p:sp>
      <p:sp>
        <p:nvSpPr>
          <p:cNvPr id="18" name="Shape 16"/>
          <p:cNvSpPr/>
          <p:nvPr/>
        </p:nvSpPr>
        <p:spPr>
          <a:xfrm>
            <a:off x="670560" y="43129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1198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RQ 4 · 동기</a:t>
            </a:r>
            <a:endParaRPr lang="ko-KR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1198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책임감과 시선·체면 의식은 조절 이유로 어떻게 나타나는가?</a:t>
            </a:r>
            <a:endParaRPr lang="ko-KR" sz="1680" dirty="0"/>
          </a:p>
        </p:txBody>
      </p:sp>
      <p:sp>
        <p:nvSpPr>
          <p:cNvPr id="21" name="Shape 19"/>
          <p:cNvSpPr/>
          <p:nvPr/>
        </p:nvSpPr>
        <p:spPr>
          <a:xfrm>
            <a:off x="670560" y="50673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516636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RQ 5 · 설계</a:t>
            </a:r>
            <a:endParaRPr lang="ko-KR" sz="168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516636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경험을 책임감과 자기조절을 환기하는 AI로 구현할 수 있는가?</a:t>
            </a:r>
            <a:endParaRPr lang="ko-KR" sz="1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이론적 배경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선행연구와 본 연구의 연결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연구계획서에 수록된 문헌을 역할에 따라 정리했다.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6408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분노 측정</a:t>
            </a:r>
            <a:endParaRPr lang="ko-KR" sz="168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6408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DAS · Deffenbacher et al.(1994) / DAX · Deffenbacher et al.(2002)</a:t>
            </a:r>
            <a:endParaRPr lang="ko-KR" sz="1680" dirty="0"/>
          </a:p>
        </p:txBody>
      </p:sp>
      <p:sp>
        <p:nvSpPr>
          <p:cNvPr id="12" name="Text 10"/>
          <p:cNvSpPr txBox="1"/>
          <p:nvPr/>
        </p:nvSpPr>
        <p:spPr>
          <a:xfrm>
            <a:off x="3215640" y="2479853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운전자 맥락 · 신용균 외(2009)</a:t>
            </a:r>
            <a:endParaRPr lang="ko-KR" sz="1680" dirty="0"/>
          </a:p>
        </p:txBody>
      </p:sp>
      <p:sp>
        <p:nvSpPr>
          <p:cNvPr id="13" name="Shape 11"/>
          <p:cNvSpPr/>
          <p:nvPr/>
        </p:nvSpPr>
        <p:spPr>
          <a:xfrm>
            <a:off x="670560" y="30099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0560" y="310896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조절</a:t>
            </a:r>
            <a:endParaRPr lang="ko-KR" sz="1680" dirty="0"/>
          </a:p>
        </p:txBody>
      </p:sp>
      <p:sp>
        <p:nvSpPr>
          <p:cNvPr id="15" name="Text 13"/>
          <p:cNvSpPr txBox="1"/>
          <p:nvPr/>
        </p:nvSpPr>
        <p:spPr>
          <a:xfrm>
            <a:off x="3215640" y="310896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Gross(1998) / Harris &amp; Nass(2011)</a:t>
            </a:r>
            <a:endParaRPr lang="ko-KR" sz="1680" dirty="0"/>
          </a:p>
        </p:txBody>
      </p:sp>
      <p:sp>
        <p:nvSpPr>
          <p:cNvPr id="16" name="Text 14"/>
          <p:cNvSpPr txBox="1"/>
          <p:nvPr/>
        </p:nvSpPr>
        <p:spPr>
          <a:xfrm>
            <a:off x="3215640" y="3424733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상황의 의미를 재해석하는 감정 조절 관점</a:t>
            </a:r>
            <a:endParaRPr lang="ko-KR" sz="1680" dirty="0"/>
          </a:p>
        </p:txBody>
      </p:sp>
      <p:sp>
        <p:nvSpPr>
          <p:cNvPr id="17" name="Shape 15"/>
          <p:cNvSpPr/>
          <p:nvPr/>
        </p:nvSpPr>
        <p:spPr>
          <a:xfrm>
            <a:off x="670560" y="39547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0560" y="405384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효과</a:t>
            </a:r>
            <a:endParaRPr lang="ko-KR" sz="1680" dirty="0"/>
          </a:p>
        </p:txBody>
      </p:sp>
      <p:sp>
        <p:nvSpPr>
          <p:cNvPr id="19" name="Text 17"/>
          <p:cNvSpPr txBox="1"/>
          <p:nvPr/>
        </p:nvSpPr>
        <p:spPr>
          <a:xfrm>
            <a:off x="3215640" y="405384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Baxter et al.(1990) / Vollrath et al.(2002) / Lee &amp; Abdel-Aty(2008)</a:t>
            </a:r>
            <a:endParaRPr lang="ko-KR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369613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 조건과 운전 행동의 관계</a:t>
            </a:r>
            <a:endParaRPr lang="ko-KR" sz="1680" dirty="0"/>
          </a:p>
        </p:txBody>
      </p:sp>
      <p:sp>
        <p:nvSpPr>
          <p:cNvPr id="21" name="Shape 19"/>
          <p:cNvSpPr/>
          <p:nvPr/>
        </p:nvSpPr>
        <p:spPr>
          <a:xfrm>
            <a:off x="670560" y="48996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499872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에이전트</a:t>
            </a:r>
            <a:endParaRPr lang="ko-KR" sz="168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499872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Jeon et al.(2015) / Nass &amp; Moon(2000)</a:t>
            </a:r>
            <a:endParaRPr lang="ko-KR" sz="1680" dirty="0"/>
          </a:p>
        </p:txBody>
      </p:sp>
      <p:sp>
        <p:nvSpPr>
          <p:cNvPr id="24" name="Text 22"/>
          <p:cNvSpPr txBox="1"/>
          <p:nvPr/>
        </p:nvSpPr>
        <p:spPr>
          <a:xfrm>
            <a:off x="3215640" y="5314493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내 상호작용과 기술에 대한 사회적 반응</a:t>
            </a:r>
            <a:endParaRPr lang="ko-KR" sz="1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인문학적 해석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동승자를 어떻게 이해할 것인가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‘타자와 책임’은 본 연구에서 탐색할 해석적 관점이다.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38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시선의 타자</a:t>
            </a:r>
            <a:endParaRPr lang="ko-KR" sz="2040" dirty="0"/>
          </a:p>
        </p:txBody>
      </p:sp>
      <p:sp>
        <p:nvSpPr>
          <p:cNvPr id="12" name="Shape 10"/>
          <p:cNvSpPr/>
          <p:nvPr/>
        </p:nvSpPr>
        <p:spPr>
          <a:xfrm>
            <a:off x="6705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누군가 나를 보고 있다는</a:t>
            </a:r>
            <a:endParaRPr lang="ko-KR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인식이 평가, 체면과</a:t>
            </a:r>
            <a:endParaRPr lang="ko-KR" sz="168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연결되는 경험</a:t>
            </a:r>
            <a:endParaRPr lang="ko-KR" sz="1680" dirty="0"/>
          </a:p>
        </p:txBody>
      </p:sp>
      <p:sp>
        <p:nvSpPr>
          <p:cNvPr id="16" name="Text 14"/>
          <p:cNvSpPr txBox="1"/>
          <p:nvPr/>
        </p:nvSpPr>
        <p:spPr>
          <a:xfrm>
            <a:off x="44297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380" dirty="0"/>
          </a:p>
        </p:txBody>
      </p:sp>
      <p:sp>
        <p:nvSpPr>
          <p:cNvPr id="17" name="Text 15"/>
          <p:cNvSpPr txBox="1"/>
          <p:nvPr/>
        </p:nvSpPr>
        <p:spPr>
          <a:xfrm>
            <a:off x="44297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관계의 타자</a:t>
            </a:r>
            <a:endParaRPr lang="ko-KR" sz="2040" dirty="0"/>
          </a:p>
        </p:txBody>
      </p:sp>
      <p:sp>
        <p:nvSpPr>
          <p:cNvPr id="18" name="Shape 16"/>
          <p:cNvSpPr/>
          <p:nvPr/>
        </p:nvSpPr>
        <p:spPr>
          <a:xfrm>
            <a:off x="44297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297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있던 실내가</a:t>
            </a:r>
            <a:endParaRPr lang="ko-KR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44297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누군가와 함께하는</a:t>
            </a:r>
            <a:endParaRPr lang="ko-KR" sz="1680" dirty="0"/>
          </a:p>
        </p:txBody>
      </p:sp>
      <p:sp>
        <p:nvSpPr>
          <p:cNvPr id="21" name="Text 19"/>
          <p:cNvSpPr txBox="1"/>
          <p:nvPr/>
        </p:nvSpPr>
        <p:spPr>
          <a:xfrm>
            <a:off x="44297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공간으로 바뀌는 경험</a:t>
            </a:r>
            <a:endParaRPr lang="ko-KR" sz="1680" dirty="0"/>
          </a:p>
        </p:txBody>
      </p:sp>
      <p:sp>
        <p:nvSpPr>
          <p:cNvPr id="22" name="Text 20"/>
          <p:cNvSpPr txBox="1"/>
          <p:nvPr/>
        </p:nvSpPr>
        <p:spPr>
          <a:xfrm>
            <a:off x="81889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380" dirty="0"/>
          </a:p>
        </p:txBody>
      </p:sp>
      <p:sp>
        <p:nvSpPr>
          <p:cNvPr id="23" name="Text 21"/>
          <p:cNvSpPr txBox="1"/>
          <p:nvPr/>
        </p:nvSpPr>
        <p:spPr>
          <a:xfrm>
            <a:off x="81889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책임의 타자</a:t>
            </a:r>
            <a:endParaRPr lang="ko-KR" sz="2040" dirty="0"/>
          </a:p>
        </p:txBody>
      </p:sp>
      <p:sp>
        <p:nvSpPr>
          <p:cNvPr id="24" name="Shape 22"/>
          <p:cNvSpPr/>
          <p:nvPr/>
        </p:nvSpPr>
        <p:spPr>
          <a:xfrm>
            <a:off x="81889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89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탄 사람의 안전을</a:t>
            </a:r>
            <a:endParaRPr lang="ko-KR" sz="1680" dirty="0"/>
          </a:p>
        </p:txBody>
      </p:sp>
      <p:sp>
        <p:nvSpPr>
          <p:cNvPr id="26" name="Text 24"/>
          <p:cNvSpPr txBox="1"/>
          <p:nvPr/>
        </p:nvSpPr>
        <p:spPr>
          <a:xfrm>
            <a:off x="81889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책임져야 한다고</a:t>
            </a:r>
            <a:endParaRPr lang="ko-KR" sz="1680" dirty="0"/>
          </a:p>
        </p:txBody>
      </p:sp>
      <p:sp>
        <p:nvSpPr>
          <p:cNvPr id="27" name="Text 25"/>
          <p:cNvSpPr txBox="1"/>
          <p:nvPr/>
        </p:nvSpPr>
        <p:spPr>
          <a:xfrm>
            <a:off x="81889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느끼는 경험</a:t>
            </a:r>
            <a:endParaRPr lang="ko-KR" sz="1680" dirty="0"/>
          </a:p>
        </p:txBody>
      </p:sp>
      <p:sp>
        <p:nvSpPr>
          <p:cNvPr id="28" name="Shape 26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후속 과제</a:t>
            </a:r>
            <a:endParaRPr lang="ko-KR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관점을 뒷받침할 인문학 문헌과 실제 경험 자료를 보완한다.</a:t>
            </a:r>
            <a:endParaRPr lang="ko-KR" sz="1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예비조사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 설문조사 개요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상황에서의 감정 및 행동 변화 조사 · 유효 응답 33명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286000"/>
            <a:ext cx="2484120" cy="721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8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33명</a:t>
            </a:r>
            <a:endParaRPr lang="ko-KR" sz="384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3223260"/>
            <a:ext cx="251460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유효 응답</a:t>
            </a:r>
            <a:endParaRPr lang="ko-KR" sz="162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2286000"/>
            <a:ext cx="2484120" cy="721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8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69.7%</a:t>
            </a:r>
            <a:endParaRPr lang="ko-KR" sz="384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3223260"/>
            <a:ext cx="251460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20대 비중</a:t>
            </a:r>
            <a:endParaRPr lang="ko-KR" sz="1620" dirty="0"/>
          </a:p>
        </p:txBody>
      </p:sp>
      <p:sp>
        <p:nvSpPr>
          <p:cNvPr id="14" name="Text 12"/>
          <p:cNvSpPr txBox="1"/>
          <p:nvPr/>
        </p:nvSpPr>
        <p:spPr>
          <a:xfrm>
            <a:off x="6248400" y="2286000"/>
            <a:ext cx="2484120" cy="721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8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90.9%</a:t>
            </a:r>
            <a:endParaRPr lang="ko-KR" sz="3840" dirty="0"/>
          </a:p>
        </p:txBody>
      </p:sp>
      <p:sp>
        <p:nvSpPr>
          <p:cNvPr id="15" name="Text 13"/>
          <p:cNvSpPr txBox="1"/>
          <p:nvPr/>
        </p:nvSpPr>
        <p:spPr>
          <a:xfrm>
            <a:off x="6248400" y="3223260"/>
            <a:ext cx="251460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 빈도: 가끔~항상</a:t>
            </a:r>
            <a:endParaRPr lang="ko-KR" sz="1620" dirty="0"/>
          </a:p>
        </p:txBody>
      </p:sp>
      <p:sp>
        <p:nvSpPr>
          <p:cNvPr id="16" name="Text 14"/>
          <p:cNvSpPr txBox="1"/>
          <p:nvPr/>
        </p:nvSpPr>
        <p:spPr>
          <a:xfrm>
            <a:off x="9037320" y="2286000"/>
            <a:ext cx="2484120" cy="721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8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42.4%</a:t>
            </a:r>
            <a:endParaRPr lang="ko-KR" sz="3840" dirty="0"/>
          </a:p>
        </p:txBody>
      </p:sp>
      <p:sp>
        <p:nvSpPr>
          <p:cNvPr id="17" name="Text 15"/>
          <p:cNvSpPr txBox="1"/>
          <p:nvPr/>
        </p:nvSpPr>
        <p:spPr>
          <a:xfrm>
            <a:off x="9037320" y="3223260"/>
            <a:ext cx="251460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목적: 출퇴근</a:t>
            </a:r>
            <a:endParaRPr lang="ko-KR" sz="1620" dirty="0"/>
          </a:p>
        </p:txBody>
      </p:sp>
      <p:sp>
        <p:nvSpPr>
          <p:cNvPr id="18" name="Shape 16"/>
          <p:cNvSpPr/>
          <p:nvPr/>
        </p:nvSpPr>
        <p:spPr>
          <a:xfrm>
            <a:off x="670560" y="40386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206240"/>
            <a:ext cx="10850880" cy="3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7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여성 18명 · 남성 15명  |  최근 6개월 이내 운전 경험이 있는 성인</a:t>
            </a:r>
            <a:endParaRPr lang="ko-KR" sz="1740" dirty="0"/>
          </a:p>
        </p:txBody>
      </p:sp>
      <p:sp>
        <p:nvSpPr>
          <p:cNvPr id="20" name="Text 18"/>
          <p:cNvSpPr txBox="1"/>
          <p:nvPr/>
        </p:nvSpPr>
        <p:spPr>
          <a:xfrm>
            <a:off x="670560" y="481584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DAS·K-DAS 참고 재구성 문항 / 5점 척도 / 유형·이유 선택 / 정성 경험</a:t>
            </a:r>
            <a:endParaRPr lang="ko-KR" sz="162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563118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원척도 전체를 그대로 적용한 검사가 아니며, 리워드용 개인정보는 분석과 분리한다.</a:t>
            </a:r>
            <a:endParaRPr lang="ko-KR" sz="14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결과 1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높은 분노 유발 상황은 적대적 표현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상황별 평균 · 5점 척도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기술통계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034540"/>
            <a:ext cx="381000" cy="2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14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034540"/>
            <a:ext cx="381000" cy="2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</a:t>
            </a:r>
            <a:endParaRPr lang="ko-KR" sz="114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034540"/>
            <a:ext cx="381000" cy="2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ko-KR" sz="114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3393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적대적 표현: 경적·상향등·손짓</a:t>
            </a:r>
            <a:endParaRPr lang="ko-KR" sz="1620" dirty="0"/>
          </a:p>
        </p:txBody>
      </p:sp>
      <p:sp>
        <p:nvSpPr>
          <p:cNvPr id="14" name="Shape 12"/>
          <p:cNvSpPr/>
          <p:nvPr/>
        </p:nvSpPr>
        <p:spPr>
          <a:xfrm>
            <a:off x="5318760" y="2415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415540"/>
            <a:ext cx="3819876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3317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3.88</a:t>
            </a:r>
            <a:endParaRPr lang="ko-KR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7965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갑작스러운 끼어들기</a:t>
            </a:r>
            <a:endParaRPr lang="ko-KR" sz="1620" dirty="0"/>
          </a:p>
        </p:txBody>
      </p:sp>
      <p:sp>
        <p:nvSpPr>
          <p:cNvPr id="18" name="Shape 16"/>
          <p:cNvSpPr/>
          <p:nvPr/>
        </p:nvSpPr>
        <p:spPr>
          <a:xfrm>
            <a:off x="5318760" y="28727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2872740"/>
            <a:ext cx="3337469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7889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3.39</a:t>
            </a:r>
            <a:endParaRPr lang="ko-KR" sz="168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2537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교통법규 위반</a:t>
            </a:r>
            <a:endParaRPr lang="ko-KR" sz="1620" dirty="0"/>
          </a:p>
        </p:txBody>
      </p:sp>
      <p:sp>
        <p:nvSpPr>
          <p:cNvPr id="22" name="Shape 20"/>
          <p:cNvSpPr/>
          <p:nvPr/>
        </p:nvSpPr>
        <p:spPr>
          <a:xfrm>
            <a:off x="5318760" y="33299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329940"/>
            <a:ext cx="330793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2461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3.36</a:t>
            </a:r>
            <a:endParaRPr lang="ko-KR" sz="168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7109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교통 체증·이동시간 지연</a:t>
            </a:r>
            <a:endParaRPr lang="ko-KR" sz="1620" dirty="0"/>
          </a:p>
        </p:txBody>
      </p:sp>
      <p:sp>
        <p:nvSpPr>
          <p:cNvPr id="26" name="Shape 24"/>
          <p:cNvSpPr/>
          <p:nvPr/>
        </p:nvSpPr>
        <p:spPr>
          <a:xfrm>
            <a:off x="5318760" y="37871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3787140"/>
            <a:ext cx="3219328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7033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3.27</a:t>
            </a:r>
            <a:endParaRPr lang="ko-KR" sz="168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1681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뒤차의 안전거리 미확보</a:t>
            </a:r>
            <a:endParaRPr lang="ko-KR" sz="1620" dirty="0"/>
          </a:p>
        </p:txBody>
      </p:sp>
      <p:sp>
        <p:nvSpPr>
          <p:cNvPr id="30" name="Shape 28"/>
          <p:cNvSpPr/>
          <p:nvPr/>
        </p:nvSpPr>
        <p:spPr>
          <a:xfrm>
            <a:off x="5318760" y="42443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244340"/>
            <a:ext cx="3071652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1605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3.12</a:t>
            </a:r>
            <a:endParaRPr lang="ko-KR" sz="1680" dirty="0"/>
          </a:p>
        </p:txBody>
      </p:sp>
      <p:sp>
        <p:nvSpPr>
          <p:cNvPr id="33" name="Text 31"/>
          <p:cNvSpPr txBox="1"/>
          <p:nvPr/>
        </p:nvSpPr>
        <p:spPr>
          <a:xfrm>
            <a:off x="670560" y="46253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앞차의 지나친 서행</a:t>
            </a:r>
            <a:endParaRPr lang="ko-KR" sz="1620" dirty="0"/>
          </a:p>
        </p:txBody>
      </p:sp>
      <p:sp>
        <p:nvSpPr>
          <p:cNvPr id="34" name="Shape 32"/>
          <p:cNvSpPr/>
          <p:nvPr/>
        </p:nvSpPr>
        <p:spPr>
          <a:xfrm>
            <a:off x="5318760" y="4701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18760" y="4701540"/>
            <a:ext cx="2983047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39400" y="46177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3.03</a:t>
            </a:r>
            <a:endParaRPr lang="ko-KR" sz="1680" dirty="0"/>
          </a:p>
        </p:txBody>
      </p:sp>
      <p:sp>
        <p:nvSpPr>
          <p:cNvPr id="37" name="Shape 35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</a:t>
            </a:r>
            <a:endParaRPr lang="ko-KR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 평균은 적대적 표현에서 가장 높았다.</a:t>
            </a:r>
            <a:endParaRPr lang="ko-KR" sz="16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결과 2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표현은 혼잣말과 욕설에서 높았다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 방식별 평균 · 5점 척도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기술통계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133600"/>
            <a:ext cx="381000" cy="2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14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133600"/>
            <a:ext cx="381000" cy="2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</a:t>
            </a:r>
            <a:endParaRPr lang="ko-KR" sz="114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133600"/>
            <a:ext cx="381000" cy="2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ko-KR" sz="114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43840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혼잣말</a:t>
            </a:r>
            <a:endParaRPr lang="ko-KR" sz="1620" dirty="0"/>
          </a:p>
        </p:txBody>
      </p:sp>
      <p:sp>
        <p:nvSpPr>
          <p:cNvPr id="14" name="Shape 12"/>
          <p:cNvSpPr/>
          <p:nvPr/>
        </p:nvSpPr>
        <p:spPr>
          <a:xfrm>
            <a:off x="5318760" y="251460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514600"/>
            <a:ext cx="3367004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43078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3.42</a:t>
            </a:r>
            <a:endParaRPr lang="ko-KR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95656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욕설</a:t>
            </a:r>
            <a:endParaRPr lang="ko-KR" sz="1620" dirty="0"/>
          </a:p>
        </p:txBody>
      </p:sp>
      <p:sp>
        <p:nvSpPr>
          <p:cNvPr id="18" name="Shape 16"/>
          <p:cNvSpPr/>
          <p:nvPr/>
        </p:nvSpPr>
        <p:spPr>
          <a:xfrm>
            <a:off x="5318760" y="303276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3032760"/>
            <a:ext cx="2569555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94894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2.61</a:t>
            </a:r>
            <a:endParaRPr lang="ko-KR" sz="168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47472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경적 사용</a:t>
            </a:r>
            <a:endParaRPr lang="ko-KR" sz="1620" dirty="0"/>
          </a:p>
        </p:txBody>
      </p:sp>
      <p:sp>
        <p:nvSpPr>
          <p:cNvPr id="22" name="Shape 20"/>
          <p:cNvSpPr/>
          <p:nvPr/>
        </p:nvSpPr>
        <p:spPr>
          <a:xfrm>
            <a:off x="5318760" y="355092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550920"/>
            <a:ext cx="211668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46710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2.15</a:t>
            </a:r>
            <a:endParaRPr lang="ko-KR" sz="168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99288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공격적 운전 경험</a:t>
            </a:r>
            <a:endParaRPr lang="ko-KR" sz="1620" dirty="0"/>
          </a:p>
        </p:txBody>
      </p:sp>
      <p:sp>
        <p:nvSpPr>
          <p:cNvPr id="26" name="Shape 24"/>
          <p:cNvSpPr/>
          <p:nvPr/>
        </p:nvSpPr>
        <p:spPr>
          <a:xfrm>
            <a:off x="5318760" y="406908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4069080"/>
            <a:ext cx="193947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98526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1.97</a:t>
            </a:r>
            <a:endParaRPr lang="ko-KR" sz="168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5110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보복 행동</a:t>
            </a:r>
            <a:endParaRPr lang="ko-KR" sz="1620" dirty="0"/>
          </a:p>
        </p:txBody>
      </p:sp>
      <p:sp>
        <p:nvSpPr>
          <p:cNvPr id="30" name="Shape 28"/>
          <p:cNvSpPr/>
          <p:nvPr/>
        </p:nvSpPr>
        <p:spPr>
          <a:xfrm>
            <a:off x="5318760" y="45872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587240"/>
            <a:ext cx="1585051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5034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1.61</a:t>
            </a:r>
            <a:endParaRPr lang="ko-KR" sz="1680" dirty="0"/>
          </a:p>
        </p:txBody>
      </p:sp>
      <p:sp>
        <p:nvSpPr>
          <p:cNvPr id="33" name="Shape 31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단서</a:t>
            </a:r>
            <a:endParaRPr lang="ko-KR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행동과 함께 차량 내부의 감정 표현 경험을 살펴본다.</a:t>
            </a:r>
            <a:endParaRPr lang="ko-KR" sz="16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결과 3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 시 감정 표현과 행동을 조절했다고 응답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존재에 따른 변화 · 5점 척도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자기보고 응답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133600"/>
            <a:ext cx="381000" cy="2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14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133600"/>
            <a:ext cx="381000" cy="2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</a:t>
            </a:r>
            <a:endParaRPr lang="ko-KR" sz="114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133600"/>
            <a:ext cx="381000" cy="2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ko-KR" sz="114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43840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표현 조절</a:t>
            </a:r>
            <a:endParaRPr lang="ko-KR" sz="1620" dirty="0"/>
          </a:p>
        </p:txBody>
      </p:sp>
      <p:sp>
        <p:nvSpPr>
          <p:cNvPr id="14" name="Shape 12"/>
          <p:cNvSpPr/>
          <p:nvPr/>
        </p:nvSpPr>
        <p:spPr>
          <a:xfrm>
            <a:off x="5318760" y="251460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514600"/>
            <a:ext cx="3997086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43078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4.06</a:t>
            </a:r>
            <a:endParaRPr lang="ko-KR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95656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화나는 상황에서 행동 참음</a:t>
            </a:r>
            <a:endParaRPr lang="ko-KR" sz="1620" dirty="0"/>
          </a:p>
        </p:txBody>
      </p:sp>
      <p:sp>
        <p:nvSpPr>
          <p:cNvPr id="18" name="Shape 16"/>
          <p:cNvSpPr/>
          <p:nvPr/>
        </p:nvSpPr>
        <p:spPr>
          <a:xfrm>
            <a:off x="5318760" y="303276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3032760"/>
            <a:ext cx="3967551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94894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4.03</a:t>
            </a:r>
            <a:endParaRPr lang="ko-KR" sz="168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47472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행동 변화 지각</a:t>
            </a:r>
            <a:endParaRPr lang="ko-KR" sz="1620" dirty="0"/>
          </a:p>
        </p:txBody>
      </p:sp>
      <p:sp>
        <p:nvSpPr>
          <p:cNvPr id="22" name="Shape 20"/>
          <p:cNvSpPr/>
          <p:nvPr/>
        </p:nvSpPr>
        <p:spPr>
          <a:xfrm>
            <a:off x="5318760" y="355092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550920"/>
            <a:ext cx="346545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46710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3.52</a:t>
            </a:r>
            <a:endParaRPr lang="ko-KR" sz="168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99288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반응에 따른 행동 변화</a:t>
            </a:r>
            <a:endParaRPr lang="ko-KR" sz="1620" dirty="0"/>
          </a:p>
        </p:txBody>
      </p:sp>
      <p:sp>
        <p:nvSpPr>
          <p:cNvPr id="26" name="Shape 24"/>
          <p:cNvSpPr/>
          <p:nvPr/>
        </p:nvSpPr>
        <p:spPr>
          <a:xfrm>
            <a:off x="5318760" y="406908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4069080"/>
            <a:ext cx="2746766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98526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2.79</a:t>
            </a:r>
            <a:endParaRPr lang="ko-KR" sz="168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5110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오히려 감정 표현 증가</a:t>
            </a:r>
            <a:endParaRPr lang="ko-KR" sz="1620" dirty="0"/>
          </a:p>
        </p:txBody>
      </p:sp>
      <p:sp>
        <p:nvSpPr>
          <p:cNvPr id="30" name="Shape 28"/>
          <p:cNvSpPr/>
          <p:nvPr/>
        </p:nvSpPr>
        <p:spPr>
          <a:xfrm>
            <a:off x="5318760" y="45872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587240"/>
            <a:ext cx="193947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5034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1.97</a:t>
            </a:r>
            <a:endParaRPr lang="ko-KR" sz="1680" dirty="0"/>
          </a:p>
        </p:txBody>
      </p:sp>
      <p:sp>
        <p:nvSpPr>
          <p:cNvPr id="33" name="Shape 31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해석 범위</a:t>
            </a:r>
            <a:endParaRPr lang="ko-KR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표현·행동의 조절 응답만으로 분노 자체의 감소를 단정하지 않는다.</a:t>
            </a:r>
            <a:endParaRPr lang="ko-KR" sz="16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핵심 결과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많이 선택한 이유는 안전 책임감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 예상했던 시선 의식과 실제 응답을 비교한다.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영향 이유 단일 선택 · N=33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31720"/>
            <a:ext cx="7010400" cy="428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2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동승자의 안전에 대한 책임감</a:t>
            </a:r>
            <a:endParaRPr lang="ko-KR" sz="228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994660"/>
            <a:ext cx="6705600" cy="1375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32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63.6%</a:t>
            </a:r>
            <a:endParaRPr lang="ko-KR" sz="732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541520"/>
            <a:ext cx="5334000" cy="349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86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21명 / 33명</a:t>
            </a:r>
            <a:endParaRPr lang="ko-KR" sz="1860" dirty="0"/>
          </a:p>
        </p:txBody>
      </p:sp>
      <p:sp>
        <p:nvSpPr>
          <p:cNvPr id="13" name="Shape 11"/>
          <p:cNvSpPr/>
          <p:nvPr/>
        </p:nvSpPr>
        <p:spPr>
          <a:xfrm>
            <a:off x="7924800" y="2346960"/>
            <a:ext cx="15240" cy="269748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369820"/>
            <a:ext cx="32004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시선·체면 관련 응답</a:t>
            </a:r>
            <a:endParaRPr lang="ko-KR" sz="168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009900"/>
            <a:ext cx="32004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모습을 보이고 싶음</a:t>
            </a:r>
            <a:endParaRPr lang="ko-KR" sz="168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325673"/>
            <a:ext cx="32004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9.1% · 3명</a:t>
            </a:r>
            <a:endParaRPr lang="ko-KR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4137660"/>
            <a:ext cx="32004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사람이 보고 있음</a:t>
            </a:r>
            <a:endParaRPr lang="ko-KR" sz="168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4453433"/>
            <a:ext cx="32004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6.1% · 2명</a:t>
            </a:r>
            <a:endParaRPr lang="ko-KR" sz="1680" dirty="0"/>
          </a:p>
        </p:txBody>
      </p:sp>
      <p:sp>
        <p:nvSpPr>
          <p:cNvPr id="19" name="Shape 17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연구의 초점</a:t>
            </a:r>
            <a:endParaRPr lang="ko-KR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동승자를 보호하려는 마음이 감정 조절과 연결되는 과정을 탐색한다.</a:t>
            </a:r>
            <a:endParaRPr lang="ko-KR" sz="16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결과 4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영향을 미치는 이유 전체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큰 이유를 선택한 응답 비율 · 합계는 반올림으로 100%와 다를 수 있음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단일 선택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034540"/>
            <a:ext cx="381000" cy="2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14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034540"/>
            <a:ext cx="381000" cy="2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</a:t>
            </a:r>
            <a:endParaRPr lang="ko-KR" sz="114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034540"/>
            <a:ext cx="381000" cy="2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</a:t>
            </a:r>
            <a:endParaRPr lang="ko-KR" sz="114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3393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책임감 · 21명</a:t>
            </a:r>
            <a:endParaRPr lang="ko-KR" sz="1620" dirty="0"/>
          </a:p>
        </p:txBody>
      </p:sp>
      <p:sp>
        <p:nvSpPr>
          <p:cNvPr id="14" name="Shape 12"/>
          <p:cNvSpPr/>
          <p:nvPr/>
        </p:nvSpPr>
        <p:spPr>
          <a:xfrm>
            <a:off x="5318760" y="2415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415540"/>
            <a:ext cx="3130723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3317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63.6%</a:t>
            </a:r>
            <a:endParaRPr lang="ko-KR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7965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영향을 거의 받지 않음 · 4명</a:t>
            </a:r>
            <a:endParaRPr lang="ko-KR" sz="1620" dirty="0"/>
          </a:p>
        </p:txBody>
      </p:sp>
      <p:sp>
        <p:nvSpPr>
          <p:cNvPr id="18" name="Shape 16"/>
          <p:cNvSpPr/>
          <p:nvPr/>
        </p:nvSpPr>
        <p:spPr>
          <a:xfrm>
            <a:off x="5318760" y="28727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2872740"/>
            <a:ext cx="595625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7889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12.1%</a:t>
            </a:r>
            <a:endParaRPr lang="ko-KR" sz="168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2537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모습을 보이고 싶음 · 3명</a:t>
            </a:r>
            <a:endParaRPr lang="ko-KR" sz="1620" dirty="0"/>
          </a:p>
        </p:txBody>
      </p:sp>
      <p:sp>
        <p:nvSpPr>
          <p:cNvPr id="22" name="Shape 20"/>
          <p:cNvSpPr/>
          <p:nvPr/>
        </p:nvSpPr>
        <p:spPr>
          <a:xfrm>
            <a:off x="5318760" y="33299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329940"/>
            <a:ext cx="447949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2461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9.1%</a:t>
            </a:r>
            <a:endParaRPr lang="ko-KR" sz="168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7109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사람이 보고 있음 · 2명</a:t>
            </a:r>
            <a:endParaRPr lang="ko-KR" sz="1620" dirty="0"/>
          </a:p>
        </p:txBody>
      </p:sp>
      <p:sp>
        <p:nvSpPr>
          <p:cNvPr id="26" name="Shape 24"/>
          <p:cNvSpPr/>
          <p:nvPr/>
        </p:nvSpPr>
        <p:spPr>
          <a:xfrm>
            <a:off x="5318760" y="37871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3787140"/>
            <a:ext cx="30027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7033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6.1%</a:t>
            </a:r>
            <a:endParaRPr lang="ko-KR" sz="168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1681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감정을 공유함 · 2명</a:t>
            </a:r>
            <a:endParaRPr lang="ko-KR" sz="1620" dirty="0"/>
          </a:p>
        </p:txBody>
      </p:sp>
      <p:sp>
        <p:nvSpPr>
          <p:cNvPr id="30" name="Shape 28"/>
          <p:cNvSpPr/>
          <p:nvPr/>
        </p:nvSpPr>
        <p:spPr>
          <a:xfrm>
            <a:off x="5318760" y="42443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244340"/>
            <a:ext cx="30027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1605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6.1%</a:t>
            </a:r>
            <a:endParaRPr lang="ko-KR" sz="1680" dirty="0"/>
          </a:p>
        </p:txBody>
      </p:sp>
      <p:sp>
        <p:nvSpPr>
          <p:cNvPr id="33" name="Text 31"/>
          <p:cNvSpPr txBox="1"/>
          <p:nvPr/>
        </p:nvSpPr>
        <p:spPr>
          <a:xfrm>
            <a:off x="670560" y="46253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동승자의 반응이나 말 · 1명</a:t>
            </a:r>
            <a:endParaRPr lang="ko-KR" sz="1620" dirty="0"/>
          </a:p>
        </p:txBody>
      </p:sp>
      <p:sp>
        <p:nvSpPr>
          <p:cNvPr id="34" name="Shape 32"/>
          <p:cNvSpPr/>
          <p:nvPr/>
        </p:nvSpPr>
        <p:spPr>
          <a:xfrm>
            <a:off x="5318760" y="4701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18760" y="4701540"/>
            <a:ext cx="147676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39400" y="46177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3.0%</a:t>
            </a:r>
            <a:endParaRPr lang="ko-KR" sz="1680" dirty="0"/>
          </a:p>
        </p:txBody>
      </p:sp>
      <p:sp>
        <p:nvSpPr>
          <p:cNvPr id="37" name="Shape 35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확인할 점</a:t>
            </a:r>
            <a:endParaRPr lang="ko-KR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책임감은 가장 빈번한 응답이며, 인과적 기제는 후속 연구 과제다.</a:t>
            </a:r>
            <a:endParaRPr lang="ko-KR" sz="16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결과 5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영향력이 큰 동승자 유형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가족이 가장 많았고, 유형 차이를 느끼지 않는 응답도 나타났다.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단일 선택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034540"/>
            <a:ext cx="381000" cy="2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14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034540"/>
            <a:ext cx="381000" cy="2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</a:t>
            </a:r>
            <a:endParaRPr lang="ko-KR" sz="114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034540"/>
            <a:ext cx="381000" cy="214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</a:t>
            </a:r>
            <a:endParaRPr lang="ko-KR" sz="114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3393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 · 11명</a:t>
            </a:r>
            <a:endParaRPr lang="ko-KR" sz="1620" dirty="0"/>
          </a:p>
        </p:txBody>
      </p:sp>
      <p:sp>
        <p:nvSpPr>
          <p:cNvPr id="14" name="Shape 12"/>
          <p:cNvSpPr/>
          <p:nvPr/>
        </p:nvSpPr>
        <p:spPr>
          <a:xfrm>
            <a:off x="5318760" y="2415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415540"/>
            <a:ext cx="1639199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3317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33.3%</a:t>
            </a:r>
            <a:endParaRPr lang="ko-KR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7965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유형에 따른 차이 없음 · 9명</a:t>
            </a:r>
            <a:endParaRPr lang="ko-KR" sz="1620" dirty="0"/>
          </a:p>
        </p:txBody>
      </p:sp>
      <p:sp>
        <p:nvSpPr>
          <p:cNvPr id="18" name="Shape 16"/>
          <p:cNvSpPr/>
          <p:nvPr/>
        </p:nvSpPr>
        <p:spPr>
          <a:xfrm>
            <a:off x="5318760" y="28727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2872740"/>
            <a:ext cx="1343848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7889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27.3%</a:t>
            </a:r>
            <a:endParaRPr lang="ko-KR" sz="168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2537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낯선 사람 · 5명</a:t>
            </a:r>
            <a:endParaRPr lang="ko-KR" sz="1620" dirty="0"/>
          </a:p>
        </p:txBody>
      </p:sp>
      <p:sp>
        <p:nvSpPr>
          <p:cNvPr id="22" name="Shape 20"/>
          <p:cNvSpPr/>
          <p:nvPr/>
        </p:nvSpPr>
        <p:spPr>
          <a:xfrm>
            <a:off x="5318760" y="33299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329940"/>
            <a:ext cx="74822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2461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15.2%</a:t>
            </a:r>
            <a:endParaRPr lang="ko-KR" sz="168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7109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연인 · 4명</a:t>
            </a:r>
            <a:endParaRPr lang="ko-KR" sz="1620" dirty="0"/>
          </a:p>
        </p:txBody>
      </p:sp>
      <p:sp>
        <p:nvSpPr>
          <p:cNvPr id="26" name="Shape 24"/>
          <p:cNvSpPr/>
          <p:nvPr/>
        </p:nvSpPr>
        <p:spPr>
          <a:xfrm>
            <a:off x="5318760" y="37871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3787140"/>
            <a:ext cx="595625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7033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12.1%</a:t>
            </a:r>
            <a:endParaRPr lang="ko-KR" sz="168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1681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직장 동료 · 3명</a:t>
            </a:r>
            <a:endParaRPr lang="ko-KR" sz="1620" dirty="0"/>
          </a:p>
        </p:txBody>
      </p:sp>
      <p:sp>
        <p:nvSpPr>
          <p:cNvPr id="30" name="Shape 28"/>
          <p:cNvSpPr/>
          <p:nvPr/>
        </p:nvSpPr>
        <p:spPr>
          <a:xfrm>
            <a:off x="5318760" y="42443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244340"/>
            <a:ext cx="447949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1605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9.1%</a:t>
            </a:r>
            <a:endParaRPr lang="ko-KR" sz="1680" dirty="0"/>
          </a:p>
        </p:txBody>
      </p:sp>
      <p:sp>
        <p:nvSpPr>
          <p:cNvPr id="33" name="Text 31"/>
          <p:cNvSpPr txBox="1"/>
          <p:nvPr/>
        </p:nvSpPr>
        <p:spPr>
          <a:xfrm>
            <a:off x="670560" y="4625340"/>
            <a:ext cx="440436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친구 · 1명</a:t>
            </a:r>
            <a:endParaRPr lang="ko-KR" sz="1620" dirty="0"/>
          </a:p>
        </p:txBody>
      </p:sp>
      <p:sp>
        <p:nvSpPr>
          <p:cNvPr id="34" name="Shape 32"/>
          <p:cNvSpPr/>
          <p:nvPr/>
        </p:nvSpPr>
        <p:spPr>
          <a:xfrm>
            <a:off x="5318760" y="4701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18760" y="4701540"/>
            <a:ext cx="147676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39400" y="4617720"/>
            <a:ext cx="10820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3.0%</a:t>
            </a:r>
            <a:endParaRPr lang="ko-KR" sz="1680" dirty="0"/>
          </a:p>
        </p:txBody>
      </p:sp>
      <p:sp>
        <p:nvSpPr>
          <p:cNvPr id="37" name="Shape 35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후속 분석</a:t>
            </a:r>
            <a:endParaRPr lang="ko-KR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관계의 친밀도와 보호 책임감이 어떻게 연결되는지 살펴본다.</a:t>
            </a:r>
            <a:endParaRPr lang="ko-KR" sz="16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개념 모델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책임감이 감정 조절로 이어지는가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예비조사에서 도출한 탐색적 가설이며, 인과관계는 검증 전이다.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ko-KR" sz="1260" dirty="0"/>
          </a:p>
        </p:txBody>
      </p:sp>
      <p:sp>
        <p:nvSpPr>
          <p:cNvPr id="10" name="Shape 8"/>
          <p:cNvSpPr/>
          <p:nvPr/>
        </p:nvSpPr>
        <p:spPr>
          <a:xfrm>
            <a:off x="670560" y="2545080"/>
            <a:ext cx="2011680" cy="4572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0560" y="2804160"/>
            <a:ext cx="2011680" cy="3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7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도로 자극</a:t>
            </a:r>
            <a:endParaRPr lang="ko-KR" sz="1740" dirty="0"/>
          </a:p>
        </p:txBody>
      </p:sp>
      <p:sp>
        <p:nvSpPr>
          <p:cNvPr id="12" name="Text 10"/>
          <p:cNvSpPr txBox="1"/>
          <p:nvPr/>
        </p:nvSpPr>
        <p:spPr>
          <a:xfrm>
            <a:off x="670560" y="3733800"/>
            <a:ext cx="2011680" cy="29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6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적대적 표현</a:t>
            </a:r>
            <a:endParaRPr lang="ko-KR" sz="156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4027018"/>
            <a:ext cx="2011680" cy="29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6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끼어들기·지연</a:t>
            </a:r>
            <a:endParaRPr lang="ko-KR" sz="1560" dirty="0"/>
          </a:p>
        </p:txBody>
      </p:sp>
      <p:sp>
        <p:nvSpPr>
          <p:cNvPr id="14" name="Text 12"/>
          <p:cNvSpPr txBox="1"/>
          <p:nvPr/>
        </p:nvSpPr>
        <p:spPr>
          <a:xfrm>
            <a:off x="2567940" y="3139440"/>
            <a:ext cx="2971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ko-KR" sz="1620" dirty="0"/>
          </a:p>
        </p:txBody>
      </p:sp>
      <p:sp>
        <p:nvSpPr>
          <p:cNvPr id="15" name="Shape 13"/>
          <p:cNvSpPr/>
          <p:nvPr/>
        </p:nvSpPr>
        <p:spPr>
          <a:xfrm>
            <a:off x="2865120" y="2545080"/>
            <a:ext cx="2011680" cy="4572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65120" y="2804160"/>
            <a:ext cx="2011680" cy="3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7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경험</a:t>
            </a:r>
            <a:endParaRPr lang="ko-KR" sz="1740" dirty="0"/>
          </a:p>
        </p:txBody>
      </p:sp>
      <p:sp>
        <p:nvSpPr>
          <p:cNvPr id="17" name="Text 15"/>
          <p:cNvSpPr txBox="1"/>
          <p:nvPr/>
        </p:nvSpPr>
        <p:spPr>
          <a:xfrm>
            <a:off x="2865120" y="3733800"/>
            <a:ext cx="2011680" cy="29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6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불쾌감</a:t>
            </a:r>
            <a:endParaRPr lang="ko-KR" sz="1560" dirty="0"/>
          </a:p>
        </p:txBody>
      </p:sp>
      <p:sp>
        <p:nvSpPr>
          <p:cNvPr id="18" name="Text 16"/>
          <p:cNvSpPr txBox="1"/>
          <p:nvPr/>
        </p:nvSpPr>
        <p:spPr>
          <a:xfrm>
            <a:off x="2865120" y="4027018"/>
            <a:ext cx="2011680" cy="29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6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표현·행동 충동</a:t>
            </a:r>
            <a:endParaRPr lang="ko-KR" sz="1560" dirty="0"/>
          </a:p>
        </p:txBody>
      </p:sp>
      <p:sp>
        <p:nvSpPr>
          <p:cNvPr id="19" name="Text 17"/>
          <p:cNvSpPr txBox="1"/>
          <p:nvPr/>
        </p:nvSpPr>
        <p:spPr>
          <a:xfrm>
            <a:off x="4762500" y="3139440"/>
            <a:ext cx="2971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ko-KR" sz="1620" dirty="0"/>
          </a:p>
        </p:txBody>
      </p:sp>
      <p:sp>
        <p:nvSpPr>
          <p:cNvPr id="20" name="Shape 18"/>
          <p:cNvSpPr/>
          <p:nvPr/>
        </p:nvSpPr>
        <p:spPr>
          <a:xfrm>
            <a:off x="5059680" y="2545080"/>
            <a:ext cx="2011680" cy="4572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59680" y="2804160"/>
            <a:ext cx="2011680" cy="3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7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인식</a:t>
            </a:r>
            <a:endParaRPr lang="ko-KR" sz="1740" dirty="0"/>
          </a:p>
        </p:txBody>
      </p:sp>
      <p:sp>
        <p:nvSpPr>
          <p:cNvPr id="22" name="Text 20"/>
          <p:cNvSpPr txBox="1"/>
          <p:nvPr/>
        </p:nvSpPr>
        <p:spPr>
          <a:xfrm>
            <a:off x="5059680" y="3733800"/>
            <a:ext cx="2011680" cy="29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6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있는 타인</a:t>
            </a:r>
            <a:endParaRPr lang="ko-KR" sz="1560" dirty="0"/>
          </a:p>
        </p:txBody>
      </p:sp>
      <p:sp>
        <p:nvSpPr>
          <p:cNvPr id="23" name="Text 21"/>
          <p:cNvSpPr txBox="1"/>
          <p:nvPr/>
        </p:nvSpPr>
        <p:spPr>
          <a:xfrm>
            <a:off x="5059680" y="4027018"/>
            <a:ext cx="2011680" cy="29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6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관계의 인식</a:t>
            </a:r>
            <a:endParaRPr lang="ko-KR" sz="1560" dirty="0"/>
          </a:p>
        </p:txBody>
      </p:sp>
      <p:sp>
        <p:nvSpPr>
          <p:cNvPr id="24" name="Text 22"/>
          <p:cNvSpPr txBox="1"/>
          <p:nvPr/>
        </p:nvSpPr>
        <p:spPr>
          <a:xfrm>
            <a:off x="6957060" y="3139440"/>
            <a:ext cx="2971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ko-KR" sz="1620" dirty="0"/>
          </a:p>
        </p:txBody>
      </p:sp>
      <p:sp>
        <p:nvSpPr>
          <p:cNvPr id="25" name="Shape 23"/>
          <p:cNvSpPr/>
          <p:nvPr/>
        </p:nvSpPr>
        <p:spPr>
          <a:xfrm>
            <a:off x="7254240" y="2545080"/>
            <a:ext cx="2011680" cy="4572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54240" y="2804160"/>
            <a:ext cx="2011680" cy="3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7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책임감</a:t>
            </a:r>
            <a:endParaRPr lang="ko-KR" sz="1740" dirty="0"/>
          </a:p>
        </p:txBody>
      </p:sp>
      <p:sp>
        <p:nvSpPr>
          <p:cNvPr id="27" name="Text 25"/>
          <p:cNvSpPr txBox="1"/>
          <p:nvPr/>
        </p:nvSpPr>
        <p:spPr>
          <a:xfrm>
            <a:off x="7254240" y="3733800"/>
            <a:ext cx="2011680" cy="29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6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보호해야 한다는</a:t>
            </a:r>
            <a:endParaRPr lang="ko-KR" sz="1560" dirty="0"/>
          </a:p>
        </p:txBody>
      </p:sp>
      <p:sp>
        <p:nvSpPr>
          <p:cNvPr id="28" name="Text 26"/>
          <p:cNvSpPr txBox="1"/>
          <p:nvPr/>
        </p:nvSpPr>
        <p:spPr>
          <a:xfrm>
            <a:off x="7254240" y="4027018"/>
            <a:ext cx="2011680" cy="29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6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자기조절 동기</a:t>
            </a:r>
            <a:endParaRPr lang="ko-KR" sz="1560" dirty="0"/>
          </a:p>
        </p:txBody>
      </p:sp>
      <p:sp>
        <p:nvSpPr>
          <p:cNvPr id="29" name="Text 27"/>
          <p:cNvSpPr txBox="1"/>
          <p:nvPr/>
        </p:nvSpPr>
        <p:spPr>
          <a:xfrm>
            <a:off x="9151620" y="3139440"/>
            <a:ext cx="2971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ko-KR" sz="1620" dirty="0"/>
          </a:p>
        </p:txBody>
      </p:sp>
      <p:sp>
        <p:nvSpPr>
          <p:cNvPr id="30" name="Shape 28"/>
          <p:cNvSpPr/>
          <p:nvPr/>
        </p:nvSpPr>
        <p:spPr>
          <a:xfrm>
            <a:off x="9448800" y="2545080"/>
            <a:ext cx="2011680" cy="4572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448800" y="2804160"/>
            <a:ext cx="2011680" cy="3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7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표현·행동 조절</a:t>
            </a:r>
            <a:endParaRPr lang="ko-KR" sz="1740" dirty="0"/>
          </a:p>
        </p:txBody>
      </p:sp>
      <p:sp>
        <p:nvSpPr>
          <p:cNvPr id="32" name="Text 30"/>
          <p:cNvSpPr txBox="1"/>
          <p:nvPr/>
        </p:nvSpPr>
        <p:spPr>
          <a:xfrm>
            <a:off x="9448800" y="3733800"/>
            <a:ext cx="2011680" cy="29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6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 조절</a:t>
            </a:r>
            <a:endParaRPr lang="ko-KR" sz="1560" dirty="0"/>
          </a:p>
        </p:txBody>
      </p:sp>
      <p:sp>
        <p:nvSpPr>
          <p:cNvPr id="33" name="Text 31"/>
          <p:cNvSpPr txBox="1"/>
          <p:nvPr/>
        </p:nvSpPr>
        <p:spPr>
          <a:xfrm>
            <a:off x="9448800" y="4027018"/>
            <a:ext cx="2011680" cy="2932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6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행동 가능성</a:t>
            </a:r>
            <a:endParaRPr lang="ko-KR" sz="1560" dirty="0"/>
          </a:p>
        </p:txBody>
      </p:sp>
      <p:sp>
        <p:nvSpPr>
          <p:cNvPr id="34" name="Shape 32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AI로의 연결</a:t>
            </a:r>
            <a:endParaRPr lang="ko-KR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책임감 환기와 상황 재해석을 돕는 단서를 설계한다.</a:t>
            </a:r>
            <a:endParaRPr lang="ko-KR" sz="16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디자인 원칙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자기조절을 지원하는 세 가지 원칙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경험을 차량 내 AI 인터랙션으로 전환하기 위한 설계 가설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38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낮은 강도의 존재감</a:t>
            </a:r>
            <a:endParaRPr lang="ko-KR" sz="2040" dirty="0"/>
          </a:p>
        </p:txBody>
      </p:sp>
      <p:sp>
        <p:nvSpPr>
          <p:cNvPr id="12" name="Shape 10"/>
          <p:cNvSpPr/>
          <p:nvPr/>
        </p:nvSpPr>
        <p:spPr>
          <a:xfrm>
            <a:off x="6705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조용한 시각·청각 단서로</a:t>
            </a:r>
            <a:endParaRPr lang="ko-KR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함께하는 느낌을 제공한다.</a:t>
            </a:r>
            <a:endParaRPr lang="ko-KR" sz="168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개입 강도와 시점을 조절한다.</a:t>
            </a:r>
            <a:endParaRPr lang="ko-KR" sz="1680" dirty="0"/>
          </a:p>
        </p:txBody>
      </p:sp>
      <p:sp>
        <p:nvSpPr>
          <p:cNvPr id="16" name="Text 14"/>
          <p:cNvSpPr txBox="1"/>
          <p:nvPr/>
        </p:nvSpPr>
        <p:spPr>
          <a:xfrm>
            <a:off x="44297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380" dirty="0"/>
          </a:p>
        </p:txBody>
      </p:sp>
      <p:sp>
        <p:nvSpPr>
          <p:cNvPr id="17" name="Text 15"/>
          <p:cNvSpPr txBox="1"/>
          <p:nvPr/>
        </p:nvSpPr>
        <p:spPr>
          <a:xfrm>
            <a:off x="44297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완충</a:t>
            </a:r>
            <a:endParaRPr lang="ko-KR" sz="2040" dirty="0"/>
          </a:p>
        </p:txBody>
      </p:sp>
      <p:sp>
        <p:nvSpPr>
          <p:cNvPr id="18" name="Shape 16"/>
          <p:cNvSpPr/>
          <p:nvPr/>
        </p:nvSpPr>
        <p:spPr>
          <a:xfrm>
            <a:off x="44297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297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고조 상황에서</a:t>
            </a:r>
            <a:endParaRPr lang="ko-KR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44297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조명·사운드·환기 등을</a:t>
            </a:r>
            <a:endParaRPr lang="ko-KR" sz="1680" dirty="0"/>
          </a:p>
        </p:txBody>
      </p:sp>
      <p:sp>
        <p:nvSpPr>
          <p:cNvPr id="21" name="Text 19"/>
          <p:cNvSpPr txBox="1"/>
          <p:nvPr/>
        </p:nvSpPr>
        <p:spPr>
          <a:xfrm>
            <a:off x="44297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통해 긴장 완화를 돕는다.</a:t>
            </a:r>
            <a:endParaRPr lang="ko-KR" sz="1680" dirty="0"/>
          </a:p>
        </p:txBody>
      </p:sp>
      <p:sp>
        <p:nvSpPr>
          <p:cNvPr id="22" name="Text 20"/>
          <p:cNvSpPr txBox="1"/>
          <p:nvPr/>
        </p:nvSpPr>
        <p:spPr>
          <a:xfrm>
            <a:off x="81889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380" dirty="0"/>
          </a:p>
        </p:txBody>
      </p:sp>
      <p:sp>
        <p:nvSpPr>
          <p:cNvPr id="23" name="Text 21"/>
          <p:cNvSpPr txBox="1"/>
          <p:nvPr/>
        </p:nvSpPr>
        <p:spPr>
          <a:xfrm>
            <a:off x="81889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책임감 환기</a:t>
            </a:r>
            <a:endParaRPr lang="ko-KR" sz="2040" dirty="0"/>
          </a:p>
        </p:txBody>
      </p:sp>
      <p:sp>
        <p:nvSpPr>
          <p:cNvPr id="24" name="Shape 22"/>
          <p:cNvSpPr/>
          <p:nvPr/>
        </p:nvSpPr>
        <p:spPr>
          <a:xfrm>
            <a:off x="81889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89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탄 사람의 안전과</a:t>
            </a:r>
            <a:endParaRPr lang="ko-KR" sz="1680" dirty="0"/>
          </a:p>
        </p:txBody>
      </p:sp>
      <p:sp>
        <p:nvSpPr>
          <p:cNvPr id="26" name="Text 24"/>
          <p:cNvSpPr txBox="1"/>
          <p:nvPr/>
        </p:nvSpPr>
        <p:spPr>
          <a:xfrm>
            <a:off x="81889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도착의 중요성을 떠올리는</a:t>
            </a:r>
            <a:endParaRPr lang="ko-KR" sz="1680" dirty="0"/>
          </a:p>
        </p:txBody>
      </p:sp>
      <p:sp>
        <p:nvSpPr>
          <p:cNvPr id="27" name="Text 25"/>
          <p:cNvSpPr txBox="1"/>
          <p:nvPr/>
        </p:nvSpPr>
        <p:spPr>
          <a:xfrm>
            <a:off x="81889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짧은 메시지를 제안한다.</a:t>
            </a:r>
            <a:endParaRPr lang="ko-KR" sz="1680" dirty="0"/>
          </a:p>
        </p:txBody>
      </p:sp>
      <p:sp>
        <p:nvSpPr>
          <p:cNvPr id="28" name="Shape 26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기준</a:t>
            </a:r>
            <a:endParaRPr lang="ko-KR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방해감·감시받는 느낌·사용자 선택권을 함께 고려한다.</a:t>
            </a:r>
            <a:endParaRPr lang="ko-KR" sz="16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프로토타입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비교할 세 가지 AI 인터랙션 모델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동일한 운전 상황에서 제시 방식에 따른 경험 차이를 비교한다.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38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 · 시각적 존재감</a:t>
            </a:r>
            <a:endParaRPr lang="ko-KR" sz="2040" dirty="0"/>
          </a:p>
        </p:txBody>
      </p:sp>
      <p:sp>
        <p:nvSpPr>
          <p:cNvPr id="12" name="Shape 10"/>
          <p:cNvSpPr/>
          <p:nvPr/>
        </p:nvSpPr>
        <p:spPr>
          <a:xfrm>
            <a:off x="6705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대시보드·클러스터와</a:t>
            </a:r>
            <a:endParaRPr lang="ko-KR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앰비언트 라이트를 활용한다.</a:t>
            </a:r>
            <a:endParaRPr lang="ko-KR" sz="168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안전 상태를 보여주는 빛</a:t>
            </a:r>
            <a:endParaRPr lang="ko-KR" sz="1680" dirty="0"/>
          </a:p>
        </p:txBody>
      </p:sp>
      <p:sp>
        <p:nvSpPr>
          <p:cNvPr id="16" name="Text 14"/>
          <p:cNvSpPr txBox="1"/>
          <p:nvPr/>
        </p:nvSpPr>
        <p:spPr>
          <a:xfrm>
            <a:off x="44297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380" dirty="0"/>
          </a:p>
        </p:txBody>
      </p:sp>
      <p:sp>
        <p:nvSpPr>
          <p:cNvPr id="17" name="Text 15"/>
          <p:cNvSpPr txBox="1"/>
          <p:nvPr/>
        </p:nvSpPr>
        <p:spPr>
          <a:xfrm>
            <a:off x="44297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 · 관계성 음성</a:t>
            </a:r>
            <a:endParaRPr lang="ko-KR" sz="2040" dirty="0"/>
          </a:p>
        </p:txBody>
      </p:sp>
      <p:sp>
        <p:nvSpPr>
          <p:cNvPr id="18" name="Shape 16"/>
          <p:cNvSpPr/>
          <p:nvPr/>
        </p:nvSpPr>
        <p:spPr>
          <a:xfrm>
            <a:off x="44297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297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가까운 사람을 연상시키는</a:t>
            </a:r>
            <a:endParaRPr lang="ko-KR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44297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짧고 부드러운 음성을 쓴다.</a:t>
            </a:r>
            <a:endParaRPr lang="ko-KR" sz="1680" dirty="0"/>
          </a:p>
        </p:txBody>
      </p:sp>
      <p:sp>
        <p:nvSpPr>
          <p:cNvPr id="21" name="Text 19"/>
          <p:cNvSpPr txBox="1"/>
          <p:nvPr/>
        </p:nvSpPr>
        <p:spPr>
          <a:xfrm>
            <a:off x="44297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“천천히 가도 괜찮아요.”</a:t>
            </a:r>
            <a:endParaRPr lang="ko-KR" sz="1680" dirty="0"/>
          </a:p>
        </p:txBody>
      </p:sp>
      <p:sp>
        <p:nvSpPr>
          <p:cNvPr id="22" name="Text 20"/>
          <p:cNvSpPr txBox="1"/>
          <p:nvPr/>
        </p:nvSpPr>
        <p:spPr>
          <a:xfrm>
            <a:off x="81889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380" dirty="0"/>
          </a:p>
        </p:txBody>
      </p:sp>
      <p:sp>
        <p:nvSpPr>
          <p:cNvPr id="23" name="Text 21"/>
          <p:cNvSpPr txBox="1"/>
          <p:nvPr/>
        </p:nvSpPr>
        <p:spPr>
          <a:xfrm>
            <a:off x="81889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 · 가상 동승자</a:t>
            </a:r>
            <a:endParaRPr lang="ko-KR" sz="2040" dirty="0"/>
          </a:p>
        </p:txBody>
      </p:sp>
      <p:sp>
        <p:nvSpPr>
          <p:cNvPr id="24" name="Shape 22"/>
          <p:cNvSpPr/>
          <p:nvPr/>
        </p:nvSpPr>
        <p:spPr>
          <a:xfrm>
            <a:off x="81889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89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맥락에 맞춰</a:t>
            </a:r>
            <a:endParaRPr lang="ko-KR" sz="1680" dirty="0"/>
          </a:p>
        </p:txBody>
      </p:sp>
      <p:sp>
        <p:nvSpPr>
          <p:cNvPr id="26" name="Text 24"/>
          <p:cNvSpPr txBox="1"/>
          <p:nvPr/>
        </p:nvSpPr>
        <p:spPr>
          <a:xfrm>
            <a:off x="81889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대화·음악·환기를 제안한다.</a:t>
            </a:r>
            <a:endParaRPr lang="ko-KR" sz="1680" dirty="0"/>
          </a:p>
        </p:txBody>
      </p:sp>
      <p:sp>
        <p:nvSpPr>
          <p:cNvPr id="27" name="Text 25"/>
          <p:cNvSpPr txBox="1"/>
          <p:nvPr/>
        </p:nvSpPr>
        <p:spPr>
          <a:xfrm>
            <a:off x="81889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긴장 구간의 분위기 조율</a:t>
            </a:r>
            <a:endParaRPr lang="ko-KR" sz="1680" dirty="0"/>
          </a:p>
        </p:txBody>
      </p:sp>
      <p:sp>
        <p:nvSpPr>
          <p:cNvPr id="28" name="Shape 26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지표</a:t>
            </a:r>
            <a:endParaRPr lang="ko-KR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완화감 · 책임감 환기 · 방해감 · 신뢰감 · 수용성</a:t>
            </a:r>
            <a:endParaRPr lang="ko-KR" sz="16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연구 방법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문헌과 경험 자료를 설계·평가로 연결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표본 수와 구체적인 실험 방식은 교수님 피드백을 반영해 확정한다.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5646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문헌연구</a:t>
            </a:r>
            <a:endParaRPr lang="ko-KR" sz="168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5646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분노 척도, 감정 조절, 동승자 효과, 타자·책임, 차량 AI 검토</a:t>
            </a:r>
            <a:endParaRPr lang="ko-KR" sz="1680" dirty="0"/>
          </a:p>
        </p:txBody>
      </p:sp>
      <p:sp>
        <p:nvSpPr>
          <p:cNvPr id="12" name="Shape 10"/>
          <p:cNvSpPr/>
          <p:nvPr/>
        </p:nvSpPr>
        <p:spPr>
          <a:xfrm>
            <a:off x="670560" y="28117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1084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본 설문</a:t>
            </a:r>
            <a:endParaRPr lang="ko-KR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1084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 문항 보완, 표본과 연령대 확대, 동승 관계와 영향 이유 조사</a:t>
            </a:r>
            <a:endParaRPr lang="ko-KR" sz="1680" dirty="0"/>
          </a:p>
        </p:txBody>
      </p:sp>
      <p:sp>
        <p:nvSpPr>
          <p:cNvPr id="15" name="Shape 13"/>
          <p:cNvSpPr/>
          <p:nvPr/>
        </p:nvSpPr>
        <p:spPr>
          <a:xfrm>
            <a:off x="670560" y="35661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6522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분석</a:t>
            </a:r>
            <a:endParaRPr lang="ko-KR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6522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기술통계, 적절한 평균 비교·교차분석, 정성 응답 코딩</a:t>
            </a:r>
            <a:endParaRPr lang="ko-KR" sz="1680" dirty="0"/>
          </a:p>
        </p:txBody>
      </p:sp>
      <p:sp>
        <p:nvSpPr>
          <p:cNvPr id="18" name="Shape 16"/>
          <p:cNvSpPr/>
          <p:nvPr/>
        </p:nvSpPr>
        <p:spPr>
          <a:xfrm>
            <a:off x="670560" y="43205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1960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제작</a:t>
            </a:r>
            <a:endParaRPr lang="ko-KR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1960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가지 AI 모델과 상황별 인터랙션 시나리오 구현</a:t>
            </a:r>
            <a:endParaRPr lang="ko-KR" sz="1680" dirty="0"/>
          </a:p>
        </p:txBody>
      </p:sp>
      <p:sp>
        <p:nvSpPr>
          <p:cNvPr id="21" name="Shape 19"/>
          <p:cNvSpPr/>
          <p:nvPr/>
        </p:nvSpPr>
        <p:spPr>
          <a:xfrm>
            <a:off x="670560" y="50749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517398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평가</a:t>
            </a:r>
            <a:endParaRPr lang="ko-KR" sz="168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517398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시나리오, 목업 또는 주행 시뮬레이션을 활용한 사용자 평가</a:t>
            </a:r>
            <a:endParaRPr lang="ko-KR" sz="16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평가 계획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변화와 인터페이스 경험을 함께 측정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개입 전후의 분노 경험과 표현·행동 억제를 구분해 살펴본다.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38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상황</a:t>
            </a:r>
            <a:endParaRPr lang="ko-KR" sz="2040" dirty="0"/>
          </a:p>
        </p:txBody>
      </p:sp>
      <p:sp>
        <p:nvSpPr>
          <p:cNvPr id="12" name="Shape 10"/>
          <p:cNvSpPr/>
          <p:nvPr/>
        </p:nvSpPr>
        <p:spPr>
          <a:xfrm>
            <a:off x="6705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끼어들기, 경적, 상향등,</a:t>
            </a:r>
            <a:endParaRPr lang="ko-KR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교통 지연 등</a:t>
            </a:r>
            <a:endParaRPr lang="ko-KR" sz="168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유발 운전 시나리오</a:t>
            </a:r>
            <a:endParaRPr lang="ko-KR" sz="1680" dirty="0"/>
          </a:p>
        </p:txBody>
      </p:sp>
      <p:sp>
        <p:nvSpPr>
          <p:cNvPr id="16" name="Text 14"/>
          <p:cNvSpPr txBox="1"/>
          <p:nvPr/>
        </p:nvSpPr>
        <p:spPr>
          <a:xfrm>
            <a:off x="44297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380" dirty="0"/>
          </a:p>
        </p:txBody>
      </p:sp>
      <p:sp>
        <p:nvSpPr>
          <p:cNvPr id="17" name="Text 15"/>
          <p:cNvSpPr txBox="1"/>
          <p:nvPr/>
        </p:nvSpPr>
        <p:spPr>
          <a:xfrm>
            <a:off x="44297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조건</a:t>
            </a:r>
            <a:endParaRPr lang="ko-KR" sz="2040" dirty="0"/>
          </a:p>
        </p:txBody>
      </p:sp>
      <p:sp>
        <p:nvSpPr>
          <p:cNvPr id="18" name="Shape 16"/>
          <p:cNvSpPr/>
          <p:nvPr/>
        </p:nvSpPr>
        <p:spPr>
          <a:xfrm>
            <a:off x="44297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297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없음 / 시각적 존재감 /</a:t>
            </a:r>
            <a:endParaRPr lang="ko-KR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44297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관계성 음성 / 가상 동승자</a:t>
            </a:r>
            <a:endParaRPr lang="ko-KR" sz="1680" dirty="0"/>
          </a:p>
        </p:txBody>
      </p:sp>
      <p:sp>
        <p:nvSpPr>
          <p:cNvPr id="21" name="Text 19"/>
          <p:cNvSpPr txBox="1"/>
          <p:nvPr/>
        </p:nvSpPr>
        <p:spPr>
          <a:xfrm>
            <a:off x="44297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 순서와 자극 강도 고려</a:t>
            </a:r>
            <a:endParaRPr lang="ko-KR" sz="1680" dirty="0"/>
          </a:p>
        </p:txBody>
      </p:sp>
      <p:sp>
        <p:nvSpPr>
          <p:cNvPr id="22" name="Text 20"/>
          <p:cNvSpPr txBox="1"/>
          <p:nvPr/>
        </p:nvSpPr>
        <p:spPr>
          <a:xfrm>
            <a:off x="81889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380" dirty="0"/>
          </a:p>
        </p:txBody>
      </p:sp>
      <p:sp>
        <p:nvSpPr>
          <p:cNvPr id="23" name="Text 21"/>
          <p:cNvSpPr txBox="1"/>
          <p:nvPr/>
        </p:nvSpPr>
        <p:spPr>
          <a:xfrm>
            <a:off x="81889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지표</a:t>
            </a:r>
            <a:endParaRPr lang="ko-KR" sz="2040" dirty="0"/>
          </a:p>
        </p:txBody>
      </p:sp>
      <p:sp>
        <p:nvSpPr>
          <p:cNvPr id="24" name="Shape 22"/>
          <p:cNvSpPr/>
          <p:nvPr/>
        </p:nvSpPr>
        <p:spPr>
          <a:xfrm>
            <a:off x="81889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89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경험·표현 조절</a:t>
            </a:r>
            <a:endParaRPr lang="ko-KR" sz="1680" dirty="0"/>
          </a:p>
        </p:txBody>
      </p:sp>
      <p:sp>
        <p:nvSpPr>
          <p:cNvPr id="26" name="Text 24"/>
          <p:cNvSpPr txBox="1"/>
          <p:nvPr/>
        </p:nvSpPr>
        <p:spPr>
          <a:xfrm>
            <a:off x="81889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책임감 환기·감시받는 느낌</a:t>
            </a:r>
            <a:endParaRPr lang="ko-KR" sz="1680" dirty="0"/>
          </a:p>
        </p:txBody>
      </p:sp>
      <p:sp>
        <p:nvSpPr>
          <p:cNvPr id="27" name="Text 25"/>
          <p:cNvSpPr txBox="1"/>
          <p:nvPr/>
        </p:nvSpPr>
        <p:spPr>
          <a:xfrm>
            <a:off x="81889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방해감·신뢰감·수용성</a:t>
            </a:r>
            <a:endParaRPr lang="ko-KR" sz="1680" dirty="0"/>
          </a:p>
        </p:txBody>
      </p:sp>
      <p:sp>
        <p:nvSpPr>
          <p:cNvPr id="28" name="Shape 26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질문</a:t>
            </a:r>
            <a:endParaRPr lang="ko-KR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AI의 개입이 책임감과 자기조절 경험으로 이어지는가?</a:t>
            </a:r>
            <a:endParaRPr lang="ko-KR" sz="16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기대 기여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학술·인문학·디자인 관점의 기여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아래 항목은 연구 완료 후 기대하는 결과다.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38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학술적 기여</a:t>
            </a:r>
            <a:endParaRPr lang="ko-KR" sz="2040" dirty="0"/>
          </a:p>
        </p:txBody>
      </p:sp>
      <p:sp>
        <p:nvSpPr>
          <p:cNvPr id="12" name="Shape 10"/>
          <p:cNvSpPr/>
          <p:nvPr/>
        </p:nvSpPr>
        <p:spPr>
          <a:xfrm>
            <a:off x="6705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분노와 동승자 효과를</a:t>
            </a:r>
            <a:endParaRPr lang="ko-KR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연결하고, 조절 동기로서</a:t>
            </a:r>
            <a:endParaRPr lang="ko-KR" sz="168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책임감을 탐색한다.</a:t>
            </a:r>
            <a:endParaRPr lang="ko-KR" sz="1680" dirty="0"/>
          </a:p>
        </p:txBody>
      </p:sp>
      <p:sp>
        <p:nvSpPr>
          <p:cNvPr id="16" name="Text 14"/>
          <p:cNvSpPr txBox="1"/>
          <p:nvPr/>
        </p:nvSpPr>
        <p:spPr>
          <a:xfrm>
            <a:off x="44297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380" dirty="0"/>
          </a:p>
        </p:txBody>
      </p:sp>
      <p:sp>
        <p:nvSpPr>
          <p:cNvPr id="17" name="Text 15"/>
          <p:cNvSpPr txBox="1"/>
          <p:nvPr/>
        </p:nvSpPr>
        <p:spPr>
          <a:xfrm>
            <a:off x="44297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인문학적 기여</a:t>
            </a:r>
            <a:endParaRPr lang="ko-KR" sz="2040" dirty="0"/>
          </a:p>
        </p:txBody>
      </p:sp>
      <p:sp>
        <p:nvSpPr>
          <p:cNvPr id="18" name="Shape 16"/>
          <p:cNvSpPr/>
          <p:nvPr/>
        </p:nvSpPr>
        <p:spPr>
          <a:xfrm>
            <a:off x="44297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297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자동차 내부를 감정과</a:t>
            </a:r>
            <a:endParaRPr lang="ko-KR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44297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타인에 대한 책임이</a:t>
            </a:r>
            <a:endParaRPr lang="ko-KR" sz="1680" dirty="0"/>
          </a:p>
        </p:txBody>
      </p:sp>
      <p:sp>
        <p:nvSpPr>
          <p:cNvPr id="21" name="Text 19"/>
          <p:cNvSpPr txBox="1"/>
          <p:nvPr/>
        </p:nvSpPr>
        <p:spPr>
          <a:xfrm>
            <a:off x="44297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교차하는 공간으로 읽는다.</a:t>
            </a:r>
            <a:endParaRPr lang="ko-KR" sz="1680" dirty="0"/>
          </a:p>
        </p:txBody>
      </p:sp>
      <p:sp>
        <p:nvSpPr>
          <p:cNvPr id="22" name="Text 20"/>
          <p:cNvSpPr txBox="1"/>
          <p:nvPr/>
        </p:nvSpPr>
        <p:spPr>
          <a:xfrm>
            <a:off x="8188960" y="2308860"/>
            <a:ext cx="33324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380" dirty="0"/>
          </a:p>
        </p:txBody>
      </p:sp>
      <p:sp>
        <p:nvSpPr>
          <p:cNvPr id="23" name="Text 21"/>
          <p:cNvSpPr txBox="1"/>
          <p:nvPr/>
        </p:nvSpPr>
        <p:spPr>
          <a:xfrm>
            <a:off x="8188960" y="2781300"/>
            <a:ext cx="3332480" cy="383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0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기여</a:t>
            </a:r>
            <a:endParaRPr lang="ko-KR" sz="2040" dirty="0"/>
          </a:p>
        </p:txBody>
      </p:sp>
      <p:sp>
        <p:nvSpPr>
          <p:cNvPr id="24" name="Shape 22"/>
          <p:cNvSpPr/>
          <p:nvPr/>
        </p:nvSpPr>
        <p:spPr>
          <a:xfrm>
            <a:off x="8188960" y="3665220"/>
            <a:ext cx="33324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8960" y="3863340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자기조절을 돕는 차량 AI의</a:t>
            </a:r>
            <a:endParaRPr lang="ko-KR" sz="1680" dirty="0"/>
          </a:p>
        </p:txBody>
      </p:sp>
      <p:sp>
        <p:nvSpPr>
          <p:cNvPr id="26" name="Text 24"/>
          <p:cNvSpPr txBox="1"/>
          <p:nvPr/>
        </p:nvSpPr>
        <p:spPr>
          <a:xfrm>
            <a:off x="8188960" y="4179113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개입 방식과 강도를</a:t>
            </a:r>
            <a:endParaRPr lang="ko-KR" sz="1680" dirty="0"/>
          </a:p>
        </p:txBody>
      </p:sp>
      <p:sp>
        <p:nvSpPr>
          <p:cNvPr id="27" name="Text 25"/>
          <p:cNvSpPr txBox="1"/>
          <p:nvPr/>
        </p:nvSpPr>
        <p:spPr>
          <a:xfrm>
            <a:off x="8188960" y="4494886"/>
            <a:ext cx="333248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HMI 설계 원칙으로 제안한다.</a:t>
            </a:r>
            <a:endParaRPr lang="ko-KR" sz="1680" dirty="0"/>
          </a:p>
        </p:txBody>
      </p:sp>
      <p:sp>
        <p:nvSpPr>
          <p:cNvPr id="28" name="Shape 26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산출물</a:t>
            </a:r>
            <a:endParaRPr lang="ko-KR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경험 분석 · AI 프로토타입 · 감정 조절 지원 설계 가이드</a:t>
            </a:r>
            <a:endParaRPr lang="ko-KR" sz="16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한계와 보완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자료로 말할 수 있는 범위를 구분한다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예비조사의 발견을 본조사와 평가에서 구체적으로 확인한다.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5646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표본의 한계</a:t>
            </a:r>
            <a:endParaRPr lang="ko-KR" sz="168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5646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N=33, 20대 69.7% → 연령과 운전 경력을 고려해 표본 확대</a:t>
            </a:r>
            <a:endParaRPr lang="ko-KR" sz="1680" dirty="0"/>
          </a:p>
        </p:txBody>
      </p:sp>
      <p:sp>
        <p:nvSpPr>
          <p:cNvPr id="12" name="Shape 10"/>
          <p:cNvSpPr/>
          <p:nvPr/>
        </p:nvSpPr>
        <p:spPr>
          <a:xfrm>
            <a:off x="670560" y="28117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1084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자기보고의 한계</a:t>
            </a:r>
            <a:endParaRPr lang="ko-KR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1084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행동과 다를 수 있음 → 시나리오·시뮬레이션 평가로 보완</a:t>
            </a:r>
            <a:endParaRPr lang="ko-KR" sz="1680" dirty="0"/>
          </a:p>
        </p:txBody>
      </p:sp>
      <p:sp>
        <p:nvSpPr>
          <p:cNvPr id="15" name="Shape 13"/>
          <p:cNvSpPr/>
          <p:nvPr/>
        </p:nvSpPr>
        <p:spPr>
          <a:xfrm>
            <a:off x="670560" y="35661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6522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기제 해석의 한계</a:t>
            </a:r>
            <a:endParaRPr lang="ko-KR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6522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선택 이유만으로 인과 추론 불가 → 책임감과 조절 경험을 별도 측정</a:t>
            </a:r>
            <a:endParaRPr lang="ko-KR" sz="1680" dirty="0"/>
          </a:p>
        </p:txBody>
      </p:sp>
      <p:sp>
        <p:nvSpPr>
          <p:cNvPr id="18" name="Shape 16"/>
          <p:cNvSpPr/>
          <p:nvPr/>
        </p:nvSpPr>
        <p:spPr>
          <a:xfrm>
            <a:off x="670560" y="43205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1960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이론의 보완</a:t>
            </a:r>
            <a:endParaRPr lang="ko-KR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1960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타자·책임은 해석적 관점 → 인문학 원전·선행 논문 검토 필요</a:t>
            </a:r>
            <a:endParaRPr lang="ko-KR" sz="1680" dirty="0"/>
          </a:p>
        </p:txBody>
      </p:sp>
      <p:sp>
        <p:nvSpPr>
          <p:cNvPr id="21" name="Shape 19"/>
          <p:cNvSpPr/>
          <p:nvPr/>
        </p:nvSpPr>
        <p:spPr>
          <a:xfrm>
            <a:off x="670560" y="50749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517398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설계의 검증</a:t>
            </a:r>
            <a:endParaRPr lang="ko-KR" sz="168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517398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효과는 아직 가설 → 개입 방식별 수용성과 방해감까지 평가</a:t>
            </a:r>
            <a:endParaRPr lang="ko-KR" sz="16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진행 일정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피드백 이후의 연구 진행 순서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구체적인 기간은 연구 범위와 평가 방식 확정 후 배정한다.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2410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 · 이론과 질문</a:t>
            </a:r>
            <a:endParaRPr lang="ko-KR" sz="168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32410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선행연구 검토 → 연구문제 정교화 → 교수님 피드백 반영</a:t>
            </a:r>
            <a:endParaRPr lang="ko-KR" sz="1680" dirty="0"/>
          </a:p>
        </p:txBody>
      </p:sp>
      <p:sp>
        <p:nvSpPr>
          <p:cNvPr id="12" name="Shape 10"/>
          <p:cNvSpPr/>
          <p:nvPr/>
        </p:nvSpPr>
        <p:spPr>
          <a:xfrm>
            <a:off x="670560" y="29108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00990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 · 본조사</a:t>
            </a:r>
            <a:endParaRPr lang="ko-KR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300990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 문항 보완 → 응답 수집 → 정량·정성 분석</a:t>
            </a:r>
            <a:endParaRPr lang="ko-KR" sz="1680" dirty="0"/>
          </a:p>
        </p:txBody>
      </p:sp>
      <p:sp>
        <p:nvSpPr>
          <p:cNvPr id="15" name="Shape 13"/>
          <p:cNvSpPr/>
          <p:nvPr/>
        </p:nvSpPr>
        <p:spPr>
          <a:xfrm>
            <a:off x="670560" y="35966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9570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 · 설계</a:t>
            </a:r>
            <a:endParaRPr lang="ko-KR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9570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 원칙 도출 → 세 가지 AI 모델 제작</a:t>
            </a:r>
            <a:endParaRPr lang="ko-KR" sz="1680" dirty="0"/>
          </a:p>
        </p:txBody>
      </p:sp>
      <p:sp>
        <p:nvSpPr>
          <p:cNvPr id="18" name="Shape 16"/>
          <p:cNvSpPr/>
          <p:nvPr/>
        </p:nvSpPr>
        <p:spPr>
          <a:xfrm>
            <a:off x="670560" y="42824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38150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4단계 · 검증과 작성</a:t>
            </a:r>
            <a:endParaRPr lang="ko-KR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38150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평가 → 결과 해석 → 설계 가이드와 논문 작성</a:t>
            </a:r>
            <a:endParaRPr lang="ko-KR" sz="1680" dirty="0"/>
          </a:p>
        </p:txBody>
      </p:sp>
      <p:sp>
        <p:nvSpPr>
          <p:cNvPr id="21" name="Shape 19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3440" y="5532120"/>
            <a:ext cx="1203960" cy="281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할 일</a:t>
            </a:r>
            <a:endParaRPr lang="ko-KR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209800" y="5509260"/>
            <a:ext cx="903732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중심축 · 조사 문항 · 평가 방식의 우선순위를 확정한다.</a:t>
            </a:r>
            <a:endParaRPr lang="ko-KR" sz="16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· 교수님 피드백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 면담에서 결정하고 싶은 다섯 가지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연구의 중심축과 검증 범위를 구체화하기 위한 질문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5646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중심축</a:t>
            </a:r>
            <a:endParaRPr lang="ko-KR" sz="168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5646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경험·타자성 해석과 차량 AI/HMI 설계의 비중을 어떻게 둘 것인가?</a:t>
            </a:r>
            <a:endParaRPr lang="ko-KR" sz="1680" dirty="0"/>
          </a:p>
        </p:txBody>
      </p:sp>
      <p:sp>
        <p:nvSpPr>
          <p:cNvPr id="12" name="Shape 10"/>
          <p:cNvSpPr/>
          <p:nvPr/>
        </p:nvSpPr>
        <p:spPr>
          <a:xfrm>
            <a:off x="670560" y="28117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1084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핵심 개념</a:t>
            </a:r>
            <a:endParaRPr lang="ko-KR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1084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책임감을 중심 개념으로 설정하는 것이 타당한가?</a:t>
            </a:r>
            <a:endParaRPr lang="ko-KR" sz="1680" dirty="0"/>
          </a:p>
        </p:txBody>
      </p:sp>
      <p:sp>
        <p:nvSpPr>
          <p:cNvPr id="15" name="Shape 13"/>
          <p:cNvSpPr/>
          <p:nvPr/>
        </p:nvSpPr>
        <p:spPr>
          <a:xfrm>
            <a:off x="670560" y="35661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6522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문헌 범위</a:t>
            </a:r>
            <a:endParaRPr lang="ko-KR" sz="168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6522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심리학·교통안전·HCI·인문학 중 어떤 이론을 중심으로 보완할 것인가?</a:t>
            </a:r>
            <a:endParaRPr lang="ko-KR" sz="1680" dirty="0"/>
          </a:p>
        </p:txBody>
      </p:sp>
      <p:sp>
        <p:nvSpPr>
          <p:cNvPr id="18" name="Shape 16"/>
          <p:cNvSpPr/>
          <p:nvPr/>
        </p:nvSpPr>
        <p:spPr>
          <a:xfrm>
            <a:off x="670560" y="43205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1960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본조사</a:t>
            </a:r>
            <a:endParaRPr lang="ko-KR" sz="168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1960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추가할 문항, 표본 조건, 책임감과 분노 조절의 측정 방식은 무엇인가?</a:t>
            </a:r>
            <a:endParaRPr lang="ko-KR" sz="1680" dirty="0"/>
          </a:p>
        </p:txBody>
      </p:sp>
      <p:sp>
        <p:nvSpPr>
          <p:cNvPr id="21" name="Shape 19"/>
          <p:cNvSpPr/>
          <p:nvPr/>
        </p:nvSpPr>
        <p:spPr>
          <a:xfrm>
            <a:off x="670560" y="50749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5173980"/>
            <a:ext cx="230124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평가 방식</a:t>
            </a:r>
            <a:endParaRPr lang="ko-KR" sz="168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5173980"/>
            <a:ext cx="8305800" cy="315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시나리오, 목업, 주행 시뮬레이션 중 어떤 접근이 적절한가?</a:t>
            </a:r>
            <a:endParaRPr lang="ko-KR" sz="16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· 참고문헌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참고문헌 1 / 2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분노 측정과 감정 조절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서지 출처: 프로젝트 references.bib · 기존 연구계획서 수록 문헌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25980"/>
            <a:ext cx="108508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Deffenbacher et al. (1994)</a:t>
            </a:r>
            <a:endParaRPr lang="ko-KR" sz="138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40792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Development of a driving anger scale.</a:t>
            </a:r>
            <a:endParaRPr lang="ko-KR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670560" y="264475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Psychological Reports, 74(1), 83–91.</a:t>
            </a:r>
            <a:endParaRPr lang="ko-KR" sz="126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910840"/>
            <a:ext cx="108508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Deffenbacher et al. (2002)</a:t>
            </a:r>
            <a:endParaRPr lang="ko-KR" sz="138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319278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driving anger expression inventory: a measure of how people express their anger on the road.</a:t>
            </a:r>
            <a:endParaRPr lang="ko-KR" sz="126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342961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Behaviour Research and Therapy, 40(6), 717–737.</a:t>
            </a:r>
            <a:endParaRPr lang="ko-KR" sz="1260" dirty="0"/>
          </a:p>
        </p:txBody>
      </p:sp>
      <p:sp>
        <p:nvSpPr>
          <p:cNvPr id="16" name="Text 14"/>
          <p:cNvSpPr txBox="1"/>
          <p:nvPr/>
        </p:nvSpPr>
        <p:spPr>
          <a:xfrm>
            <a:off x="670560" y="3695700"/>
            <a:ext cx="108508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신용균·한덕웅·류준범 (2009)</a:t>
            </a:r>
            <a:endParaRPr lang="ko-KR" sz="138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397764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운전분노척도에 의한 과속운전 행동의 예측.</a:t>
            </a:r>
            <a:endParaRPr lang="ko-KR" sz="1260" dirty="0"/>
          </a:p>
        </p:txBody>
      </p:sp>
      <p:sp>
        <p:nvSpPr>
          <p:cNvPr id="18" name="Text 16"/>
          <p:cNvSpPr txBox="1"/>
          <p:nvPr/>
        </p:nvSpPr>
        <p:spPr>
          <a:xfrm>
            <a:off x="670560" y="421447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한국심리학회지: 건강, 14(1), 159–173.</a:t>
            </a:r>
            <a:endParaRPr lang="ko-KR" sz="1260" dirty="0"/>
          </a:p>
        </p:txBody>
      </p:sp>
      <p:sp>
        <p:nvSpPr>
          <p:cNvPr id="19" name="Text 17"/>
          <p:cNvSpPr txBox="1"/>
          <p:nvPr/>
        </p:nvSpPr>
        <p:spPr>
          <a:xfrm>
            <a:off x="670560" y="4480560"/>
            <a:ext cx="108508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Gross (1998)</a:t>
            </a:r>
            <a:endParaRPr lang="ko-KR" sz="1380" dirty="0"/>
          </a:p>
        </p:txBody>
      </p:sp>
      <p:sp>
        <p:nvSpPr>
          <p:cNvPr id="20" name="Text 18"/>
          <p:cNvSpPr txBox="1"/>
          <p:nvPr/>
        </p:nvSpPr>
        <p:spPr>
          <a:xfrm>
            <a:off x="670560" y="476250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Antecedent- and response-focused emotion regulation: Divergent consequences for experience,</a:t>
            </a:r>
            <a:endParaRPr lang="ko-KR" sz="126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499933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expression, and physiology. Journal of Personality and Social Psychology, 74(1), 224–237.</a:t>
            </a:r>
            <a:endParaRPr lang="ko-KR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670560" y="5265420"/>
            <a:ext cx="108508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Harris &amp; Nass (2011)</a:t>
            </a:r>
            <a:endParaRPr lang="ko-KR" sz="1380" dirty="0"/>
          </a:p>
        </p:txBody>
      </p:sp>
      <p:sp>
        <p:nvSpPr>
          <p:cNvPr id="23" name="Text 21"/>
          <p:cNvSpPr txBox="1"/>
          <p:nvPr/>
        </p:nvSpPr>
        <p:spPr>
          <a:xfrm>
            <a:off x="670560" y="554736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Emotion regulation for frustrating driving contexts.</a:t>
            </a:r>
            <a:endParaRPr lang="ko-KR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670560" y="578419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Proceedings of CHI, 749–752.</a:t>
            </a:r>
            <a:endParaRPr lang="ko-KR" sz="126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· 참고문헌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88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참고문헌 2 / 2</a:t>
            </a:r>
            <a:endParaRPr lang="ko-KR" sz="288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379220"/>
            <a:ext cx="10850880" cy="304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효과와 차량 내 에이전트</a:t>
            </a:r>
            <a:endParaRPr lang="ko-KR" sz="162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서지 출처: 프로젝트 references.bib · 기존 연구계획서 수록 문헌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6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</a:t>
            </a:r>
            <a:endParaRPr lang="ko-KR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25980"/>
            <a:ext cx="108508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Baxter et al. (1990)</a:t>
            </a:r>
            <a:endParaRPr lang="ko-KR" sz="138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40792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Social facilitation and driver behaviour.</a:t>
            </a:r>
            <a:endParaRPr lang="ko-KR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670560" y="264475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British Journal of Psychology, 81(3), 351–360.</a:t>
            </a:r>
            <a:endParaRPr lang="ko-KR" sz="126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910840"/>
            <a:ext cx="108508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Vollrath et al. (2002)</a:t>
            </a:r>
            <a:endParaRPr lang="ko-KR" sz="138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319278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How the presence of passengers influences the risk of a collision with another vehicle.</a:t>
            </a:r>
            <a:endParaRPr lang="ko-KR" sz="1260" dirty="0"/>
          </a:p>
        </p:txBody>
      </p:sp>
      <p:sp>
        <p:nvSpPr>
          <p:cNvPr id="15" name="Text 13"/>
          <p:cNvSpPr txBox="1"/>
          <p:nvPr/>
        </p:nvSpPr>
        <p:spPr>
          <a:xfrm>
            <a:off x="670560" y="342961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Accident Analysis and Prevention, 34(5), 649–654.</a:t>
            </a:r>
            <a:endParaRPr lang="ko-KR" sz="1260" dirty="0"/>
          </a:p>
        </p:txBody>
      </p:sp>
      <p:sp>
        <p:nvSpPr>
          <p:cNvPr id="16" name="Text 14"/>
          <p:cNvSpPr txBox="1"/>
          <p:nvPr/>
        </p:nvSpPr>
        <p:spPr>
          <a:xfrm>
            <a:off x="670560" y="3695700"/>
            <a:ext cx="108508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Lee &amp; Abdel-Aty (2008)</a:t>
            </a:r>
            <a:endParaRPr lang="ko-KR" sz="138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397764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Presence of passengers: Does it increase or reduce driver's crash potential?</a:t>
            </a:r>
            <a:endParaRPr lang="ko-KR" sz="1260" dirty="0"/>
          </a:p>
        </p:txBody>
      </p:sp>
      <p:sp>
        <p:nvSpPr>
          <p:cNvPr id="18" name="Text 16"/>
          <p:cNvSpPr txBox="1"/>
          <p:nvPr/>
        </p:nvSpPr>
        <p:spPr>
          <a:xfrm>
            <a:off x="670560" y="421447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Accident Analysis and Prevention, 40(5), 1703–1712.</a:t>
            </a:r>
            <a:endParaRPr lang="ko-KR" sz="1260" dirty="0"/>
          </a:p>
        </p:txBody>
      </p:sp>
      <p:sp>
        <p:nvSpPr>
          <p:cNvPr id="19" name="Text 17"/>
          <p:cNvSpPr txBox="1"/>
          <p:nvPr/>
        </p:nvSpPr>
        <p:spPr>
          <a:xfrm>
            <a:off x="670560" y="4480560"/>
            <a:ext cx="108508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Jeon, Walker, &amp; Gable (2015)</a:t>
            </a:r>
            <a:endParaRPr lang="ko-KR" sz="1380" dirty="0"/>
          </a:p>
        </p:txBody>
      </p:sp>
      <p:sp>
        <p:nvSpPr>
          <p:cNvPr id="20" name="Text 18"/>
          <p:cNvSpPr txBox="1"/>
          <p:nvPr/>
        </p:nvSpPr>
        <p:spPr>
          <a:xfrm>
            <a:off x="670560" y="476250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effects of social interactions with in-vehicle agents on a driver's anger level, driving performance,</a:t>
            </a:r>
            <a:endParaRPr lang="ko-KR" sz="126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499933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situation awareness, and perceived workload. Applied Ergonomics, 50, 185–199.</a:t>
            </a:r>
            <a:endParaRPr lang="ko-KR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670560" y="5265420"/>
            <a:ext cx="10850880" cy="259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Nass &amp; Moon (2000)</a:t>
            </a:r>
            <a:endParaRPr lang="ko-KR" sz="1380" dirty="0"/>
          </a:p>
        </p:txBody>
      </p:sp>
      <p:sp>
        <p:nvSpPr>
          <p:cNvPr id="23" name="Text 21"/>
          <p:cNvSpPr txBox="1"/>
          <p:nvPr/>
        </p:nvSpPr>
        <p:spPr>
          <a:xfrm>
            <a:off x="670560" y="554736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컴퓨터에 대한 사회적 반응 관련 문헌 · 기존 연구계획서 인용</a:t>
            </a:r>
            <a:endParaRPr lang="ko-KR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670560" y="5784190"/>
            <a:ext cx="10850880" cy="236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논문 작성 시 원문과 상세 서지정보 확인 필요</a:t>
            </a:r>
            <a:endParaRPr lang="ko-KR" sz="12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동승자 존재와 운전자 분노 조절 | 연구계획</dc:title>
  <dc:subject>교수님 피드백용 연구계획</dc:subject>
  <dc:creator>서종휘</dc:creator>
  <cp:lastModifiedBy>서종휘</cp:lastModifiedBy>
  <cp:revision>1</cp:revision>
  <dcterms:created xsi:type="dcterms:W3CDTF">2026-09-07T16:46:08Z</dcterms:created>
  <dcterms:modified xsi:type="dcterms:W3CDTF">2026-09-07T16:46:08Z</dcterms:modified>
</cp:coreProperties>
</file>