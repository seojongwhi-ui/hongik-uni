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표지에서는 기술보다 연구의 핵심 관점, 즉 타자의 존재와 책임감을 먼저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교수님께 가장 먼저 던질 질문이다. 이 연구의 독창성은 동승자를 감시자가 아니라 책임감을 일으키는 타자로 본다는 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640080"/>
            <a:ext cx="3200400" cy="3200400"/>
          </a:xfrm>
          <a:prstGeom prst="arc">
            <a:avLst/>
          </a:prstGeom>
          <a:noFill/>
          <a:ln w="25400">
            <a:solidFill>
              <a:srgbClr val="ECE8DF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4434840"/>
            <a:ext cx="2011680" cy="0"/>
          </a:xfrm>
          <a:prstGeom prst="line">
            <a:avLst/>
          </a:prstGeom>
          <a:noFill/>
          <a:ln w="508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864608"/>
            <a:ext cx="2560320" cy="0"/>
          </a:xfrm>
          <a:prstGeom prst="line">
            <a:avLst/>
          </a:prstGeom>
          <a:noFill/>
          <a:ln w="20320">
            <a:solidFill>
              <a:srgbClr val="2E6F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4590288"/>
            <a:ext cx="329184" cy="3291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4120" y="4590288"/>
            <a:ext cx="329184" cy="3291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749808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832104"/>
            <a:ext cx="128930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 피드백용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325880"/>
            <a:ext cx="7680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존재가 운전자 분노 조절에 미치는 영향과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내 AI 인터페이스 설계 연구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2788920"/>
            <a:ext cx="6400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타자의 존재, 안전 책임감, 감정 조절 경험을 중심으로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76656" y="3429000"/>
            <a:ext cx="53035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" y="5120640"/>
            <a:ext cx="4389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홍익대학교 일반대학원 산업디자인과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서종휘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" y="5742432"/>
            <a:ext cx="1097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 Question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 보는 연구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1664208"/>
            <a:ext cx="10515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운전자는 왜 동승자가 있을 때 화를 덜 내는가?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743200"/>
            <a:ext cx="96926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차량 내 AI는 그 조절 경험을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감시나 훈계 없이 어떻게 재현할 수 있는가?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828800" y="4590288"/>
            <a:ext cx="8549640" cy="777240"/>
          </a:xfrm>
          <a:prstGeom prst="roundRect">
            <a:avLst>
              <a:gd name="adj" fmla="val 5294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4590288"/>
            <a:ext cx="82296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57400" y="4754880"/>
            <a:ext cx="8183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전환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5157216"/>
            <a:ext cx="8165592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‘남이 봐서 참는다’에서 ‘함께 탄 사람을 안전하게 데려가야 해서 조절한다’로</a:t>
            </a:r>
            <a:endParaRPr lang="en-US" sz="11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배경: 자동차 내부의 이중성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3337560" cy="3520440"/>
          </a:xfrm>
          <a:prstGeom prst="roundRect">
            <a:avLst>
              <a:gd name="adj" fmla="val 1233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352044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1737360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공적 도로 위의 운전자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2139696"/>
            <a:ext cx="2953512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운전자는 끼어들기, 경적, 상향등, 근접 주행처럼 타인의 행동에 계속 노출된다.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도로는 감정적 충돌이 발생하는 공적 공간이다.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443984" y="1572768"/>
            <a:ext cx="3337560" cy="3520440"/>
          </a:xfrm>
          <a:prstGeom prst="roundRect">
            <a:avLst>
              <a:gd name="adj" fmla="val 1233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43984" y="1572768"/>
            <a:ext cx="82296" cy="3520440"/>
          </a:xfrm>
          <a:prstGeom prst="rect">
            <a:avLst/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72584" y="1737360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사적 실내의 감정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2139696"/>
            <a:ext cx="2953512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내부는 외부와 분리된 사적 공간이다.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분노는 즉각적 공격보다 혼잣말, 욕설, 신체 긴장으로 내부화된다.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174736" y="1572768"/>
            <a:ext cx="3337560" cy="3520440"/>
          </a:xfrm>
          <a:prstGeom prst="roundRect">
            <a:avLst>
              <a:gd name="adj" fmla="val 1233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1572768"/>
            <a:ext cx="82296" cy="3520440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03336" y="1737360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관계적 공간으로의 전환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8403336" y="2139696"/>
            <a:ext cx="2953512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동승자가 타는 순간 차량 내부는 혼자만의 공간이 아니라 타자와 함께 있는 공간이 된다.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감정은 책임과 연결된다.</a:t>
            </a:r>
            <a:endParaRPr lang="en-US" sz="11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문제의식: 현재 차량 AI의 빈 자리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72768"/>
            <a:ext cx="106984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AI는 운전자의 명령은 처리하지만,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운전자의 감정이 안전 행동으로 번지는 순간은 충분히 다루지 못한다.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2907792"/>
            <a:ext cx="987552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4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안내, 음악 재생, 차량 제어 등 기능 수행 중심의 AI가 많다.</a:t>
            </a:r>
            <a:endParaRPr lang="en-US" sz="1540" dirty="0"/>
          </a:p>
          <a:p>
            <a:pPr marL="165100" indent="-165100">
              <a:buSzPct val="100000"/>
              <a:buChar char="•"/>
            </a:pPr>
            <a:r>
              <a:rPr lang="en-US" sz="154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분노는 단순 기분 문제가 아니라 안전 행동과 연결된다.</a:t>
            </a:r>
            <a:endParaRPr lang="en-US" sz="1540" dirty="0"/>
          </a:p>
          <a:p>
            <a:pPr marL="165100" indent="-165100">
              <a:buSzPct val="100000"/>
              <a:buChar char="•"/>
            </a:pPr>
            <a:r>
              <a:rPr lang="en-US" sz="154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분노는 외부 행동보다 차량 내부의 혼잣말·욕설·긴장으로 축적될 수 있다.</a:t>
            </a:r>
            <a:endParaRPr lang="en-US" sz="1540" dirty="0"/>
          </a:p>
          <a:p>
            <a:pPr marL="165100" indent="-165100">
              <a:buSzPct val="100000"/>
              <a:buChar char="•"/>
            </a:pPr>
            <a:r>
              <a:rPr lang="en-US" sz="154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필요한 것은 ‘화를 내지 말라’는 통제가 아니라 감정 재해석과 책임 환기다.</a:t>
            </a:r>
            <a:endParaRPr lang="en-US" sz="1540" dirty="0"/>
          </a:p>
        </p:txBody>
      </p:sp>
      <p:sp>
        <p:nvSpPr>
          <p:cNvPr id="10" name="Shape 8"/>
          <p:cNvSpPr/>
          <p:nvPr/>
        </p:nvSpPr>
        <p:spPr>
          <a:xfrm>
            <a:off x="960120" y="5559552"/>
            <a:ext cx="9875520" cy="502920"/>
          </a:xfrm>
          <a:prstGeom prst="roundRect">
            <a:avLst>
              <a:gd name="adj" fmla="val 8182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5559552"/>
            <a:ext cx="82296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5724144"/>
            <a:ext cx="9509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연구가 해결하려는 지점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6126480"/>
            <a:ext cx="9491472" cy="-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존재의 감정 조절 효과를 차량 내 AI 인터페이스 설계 원칙으로 전환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발견: 예상과 다른 이유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572768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920240"/>
            <a:ext cx="32461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동승자가 있으면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시선이 의식되어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화를 덜 낼 것이다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26280" y="2468880"/>
            <a:ext cx="10972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989320" y="1572768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874520"/>
            <a:ext cx="44348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안전에 대한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책임감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788920"/>
            <a:ext cx="19202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63.6%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3026664"/>
            <a:ext cx="1280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21명 / 33명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4343400"/>
            <a:ext cx="9829800" cy="804672"/>
          </a:xfrm>
          <a:prstGeom prst="roundRect">
            <a:avLst>
              <a:gd name="adj" fmla="val 5114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343400"/>
            <a:ext cx="82296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25880" y="4507992"/>
            <a:ext cx="9464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910328"/>
            <a:ext cx="944575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동승자는 운전자를 감시하는 사람이 아니라, 운전자가 보호해야 할 타자다.</a:t>
            </a:r>
            <a:endParaRPr lang="en-US" sz="118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5650992"/>
            <a:ext cx="8229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차이가 본 연구의 가장 중요한 논문적 출발점이다.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Conceptual Model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모델: 분노가 책임감으로 재해석되는 과정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874520" cy="2057400"/>
          </a:xfrm>
          <a:prstGeom prst="roundRect">
            <a:avLst>
              <a:gd name="adj" fmla="val 2195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74520"/>
            <a:ext cx="82296" cy="2057400"/>
          </a:xfrm>
          <a:prstGeom prst="rect">
            <a:avLst/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039112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 자극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41448"/>
            <a:ext cx="1490472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경적·상향등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끼어들기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교통법규 위반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2441448" y="2889504"/>
            <a:ext cx="310896" cy="0"/>
          </a:xfrm>
          <a:prstGeom prst="line">
            <a:avLst/>
          </a:prstGeom>
          <a:noFill/>
          <a:ln w="19050">
            <a:solidFill>
              <a:srgbClr val="3C46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1874520"/>
            <a:ext cx="1874520" cy="2057400"/>
          </a:xfrm>
          <a:prstGeom prst="roundRect">
            <a:avLst>
              <a:gd name="adj" fmla="val 2195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874520"/>
            <a:ext cx="82296" cy="2057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2039112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 분노</a:t>
            </a:r>
            <a:endParaRPr lang="en-US" sz="132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2441448"/>
            <a:ext cx="1490472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불쾌감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혼잣말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욕설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4773168" y="2889504"/>
            <a:ext cx="310896" cy="0"/>
          </a:xfrm>
          <a:prstGeom prst="line">
            <a:avLst/>
          </a:prstGeom>
          <a:noFill/>
          <a:ln w="19050">
            <a:solidFill>
              <a:srgbClr val="3C46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1874520"/>
            <a:ext cx="1874520" cy="2057400"/>
          </a:xfrm>
          <a:prstGeom prst="roundRect">
            <a:avLst>
              <a:gd name="adj" fmla="val 2195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874520"/>
            <a:ext cx="82296" cy="20574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2039112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존재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441448"/>
            <a:ext cx="1490472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내부가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관계적 공간으로 전환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7104888" y="2889504"/>
            <a:ext cx="310896" cy="0"/>
          </a:xfrm>
          <a:prstGeom prst="line">
            <a:avLst/>
          </a:prstGeom>
          <a:noFill/>
          <a:ln w="19050">
            <a:solidFill>
              <a:srgbClr val="3C465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98080" y="1874520"/>
            <a:ext cx="1874520" cy="2057400"/>
          </a:xfrm>
          <a:prstGeom prst="roundRect">
            <a:avLst>
              <a:gd name="adj" fmla="val 2195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874520"/>
            <a:ext cx="82296" cy="2057400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26680" y="2039112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책임감</a:t>
            </a:r>
            <a:endParaRPr lang="en-US" sz="132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2441448"/>
            <a:ext cx="1490472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보호해야 할 타자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자기조절 동기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9436608" y="2889504"/>
            <a:ext cx="310896" cy="0"/>
          </a:xfrm>
          <a:prstGeom prst="line">
            <a:avLst/>
          </a:prstGeom>
          <a:noFill/>
          <a:ln w="19050">
            <a:solidFill>
              <a:srgbClr val="3C465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29800" y="1874520"/>
            <a:ext cx="1874520" cy="2057400"/>
          </a:xfrm>
          <a:prstGeom prst="roundRect">
            <a:avLst>
              <a:gd name="adj" fmla="val 2195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1874520"/>
            <a:ext cx="82296" cy="2057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0" y="2039112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조절</a:t>
            </a:r>
            <a:endParaRPr lang="en-US" sz="132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2441448"/>
            <a:ext cx="1490472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조절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참음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행동</a:t>
            </a:r>
            <a:endParaRPr lang="en-US" sz="118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5102352"/>
            <a:ext cx="10195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설계의 목표는 이 흐름을 강제로 통제하는 것이 아니라, 안전 책임감을 비침해적으로 환기하는 것이다.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Literature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 기반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536192"/>
            <a:ext cx="2651760" cy="3429000"/>
          </a:xfrm>
          <a:prstGeom prst="roundRect">
            <a:avLst>
              <a:gd name="adj" fmla="val 1552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36192"/>
            <a:ext cx="82296" cy="34290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1700784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분노 측정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103120"/>
            <a:ext cx="2267712" cy="2734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Deffenbacher et al.(1994)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DAX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Deffenbacher et al.(2002)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K-DAS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신용균 외(2009)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3520440" y="1536192"/>
            <a:ext cx="2651760" cy="3429000"/>
          </a:xfrm>
          <a:prstGeom prst="roundRect">
            <a:avLst>
              <a:gd name="adj" fmla="val 1552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536192"/>
            <a:ext cx="82296" cy="3429000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9040" y="1700784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조절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103120"/>
            <a:ext cx="2267712" cy="2734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인지적 재평가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Gross(1998)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좌절 상황의 재해석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Harris &amp; Nass(2011)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400800" y="1536192"/>
            <a:ext cx="2651760" cy="3429000"/>
          </a:xfrm>
          <a:prstGeom prst="roundRect">
            <a:avLst>
              <a:gd name="adj" fmla="val 1552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536192"/>
            <a:ext cx="82296" cy="3429000"/>
          </a:xfrm>
          <a:prstGeom prst="rect">
            <a:avLst/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1700784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효과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103120"/>
            <a:ext cx="2267712" cy="2734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억제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Baxter et al.(1990)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 효과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Vollrath et al.(2002)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Lee &amp; Abdel-Aty(2008)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9281160" y="1536192"/>
            <a:ext cx="2194560" cy="3429000"/>
          </a:xfrm>
          <a:prstGeom prst="roundRect">
            <a:avLst>
              <a:gd name="adj" fmla="val 1875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1536192"/>
            <a:ext cx="82296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0" y="1700784"/>
            <a:ext cx="1828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내 AI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2103120"/>
            <a:ext cx="1810512" cy="2734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반응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Nass &amp; Moon(2000)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In-vehicle agent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Jeon et al.(2015)</a:t>
            </a:r>
            <a:endParaRPr lang="en-US" sz="118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04688"/>
            <a:ext cx="10332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연구는 심리학·교통안전·HCI를 연결하되, 중심 개념을 ‘타자에 대한 책임감’으로 잡는다.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Pilot Survey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 설문조사 개요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205740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1832" y="1737360"/>
            <a:ext cx="1728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N=33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2167128"/>
            <a:ext cx="17282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응답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2441448"/>
            <a:ext cx="17282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6개월 운전 경험자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090672" y="1600200"/>
            <a:ext cx="205740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55264" y="1737360"/>
            <a:ext cx="1728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15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255264" y="2167128"/>
            <a:ext cx="17282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여성/남성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255264" y="2441448"/>
            <a:ext cx="17282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54.5% / 45.5%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04104" y="1600200"/>
            <a:ext cx="205740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68696" y="1737360"/>
            <a:ext cx="1728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69.7%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568696" y="2167128"/>
            <a:ext cx="17282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비중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568696" y="2441448"/>
            <a:ext cx="17282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한계로 후속 보완 필요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717536" y="1600200"/>
            <a:ext cx="205740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82128" y="1737360"/>
            <a:ext cx="1728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90.9%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882128" y="2167128"/>
            <a:ext cx="17282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 경험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882128" y="2441448"/>
            <a:ext cx="17282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가끔~항상 동승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10030968" y="1600200"/>
            <a:ext cx="137160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95560" y="1737360"/>
            <a:ext cx="10424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42.4%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0195560" y="2167128"/>
            <a:ext cx="10424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195560" y="2441448"/>
            <a:ext cx="10424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목적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914400" y="3474720"/>
            <a:ext cx="1014984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47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도구: DAS 및 K-DAS를 참고해 연구 목적에 맞게 재구성한 5점 리커트 문항</a:t>
            </a:r>
            <a:endParaRPr lang="en-US" sz="1470" dirty="0"/>
          </a:p>
          <a:p>
            <a:pPr marL="165100" indent="-165100">
              <a:buSzPct val="100000"/>
              <a:buChar char="•"/>
            </a:pPr>
            <a:r>
              <a:rPr lang="en-US" sz="147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항목: 분노 유발 상황, 감정 표출 방식, 동승자 유무에 따른 변화, 영향 이유, 정성 경험</a:t>
            </a:r>
            <a:endParaRPr lang="en-US" sz="1470" dirty="0"/>
          </a:p>
          <a:p>
            <a:pPr marL="165100" indent="-165100">
              <a:buSzPct val="100000"/>
              <a:buChar char="•"/>
            </a:pPr>
            <a:r>
              <a:rPr lang="en-US" sz="147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문항은 리워드 발송 목적이며 연구 분석 데이터와 분리</a:t>
            </a:r>
            <a:endParaRPr lang="en-US" sz="14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Findings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1: 무엇이 운전자를 화나게 하는가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572768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타인의 적대적 표현(경적/상향등/손짓)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636008" y="1609344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609344"/>
            <a:ext cx="4647712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808208" y="1572768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3.88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121408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갑작스러운 끼어들기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636008" y="2157984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36008" y="2157984"/>
            <a:ext cx="4060759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808208" y="2121408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3.39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2670048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타인의 교통법규 위반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636008" y="2706624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36008" y="2706624"/>
            <a:ext cx="4024823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808208" y="2670048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3.36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218688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 체증 및 이동시간 지연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636008" y="3255264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36008" y="3255264"/>
            <a:ext cx="3917015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808208" y="3218688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3.27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3767328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뒤차 안전거리 미확보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636008" y="3803904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3803904"/>
            <a:ext cx="3737336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808208" y="3767328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3.12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315968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앞차의 지나친 서행 운전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4636008" y="4352544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6008" y="4352544"/>
            <a:ext cx="3629528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808208" y="4315968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05840" y="5193792"/>
            <a:ext cx="10012680" cy="603504"/>
          </a:xfrm>
          <a:prstGeom prst="roundRect">
            <a:avLst>
              <a:gd name="adj" fmla="val 6818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5193792"/>
            <a:ext cx="82296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34440" y="5358384"/>
            <a:ext cx="9646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320" dirty="0"/>
          </a:p>
        </p:txBody>
      </p:sp>
      <p:sp>
        <p:nvSpPr>
          <p:cNvPr id="35" name="Text 33"/>
          <p:cNvSpPr txBox="1"/>
          <p:nvPr/>
        </p:nvSpPr>
        <p:spPr>
          <a:xfrm>
            <a:off x="1234440" y="5760720"/>
            <a:ext cx="9628632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분노는 단순한 지연보다 ‘나를 향한 적대적 표현’에서 가장 강하게 발생한다.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Findings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2: 분노는 어떻게 표출되는가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혼잣말 빈도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636008" y="1664208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664208"/>
            <a:ext cx="4096695" cy="201168"/>
          </a:xfrm>
          <a:prstGeom prst="roundRect">
            <a:avLst>
              <a:gd name="adj" fmla="val 18182"/>
            </a:avLst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808208" y="1627632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194560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욕설 빈도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636008" y="2231136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36008" y="2231136"/>
            <a:ext cx="3126425" cy="201168"/>
          </a:xfrm>
          <a:prstGeom prst="roundRect">
            <a:avLst>
              <a:gd name="adj" fmla="val 18182"/>
            </a:avLst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808208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2761488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경적 사용 빈도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636008" y="2798064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36008" y="2798064"/>
            <a:ext cx="2575408" cy="201168"/>
          </a:xfrm>
          <a:prstGeom prst="roundRect">
            <a:avLst>
              <a:gd name="adj" fmla="val 18182"/>
            </a:avLst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808208" y="2761488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2.15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328416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공격적 운전 경험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636008" y="3364992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36008" y="3364992"/>
            <a:ext cx="2359792" cy="201168"/>
          </a:xfrm>
          <a:prstGeom prst="roundRect">
            <a:avLst>
              <a:gd name="adj" fmla="val 18182"/>
            </a:avLst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808208" y="3328416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1.97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3895344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보복 행동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636008" y="3931920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3931920"/>
            <a:ext cx="1928561" cy="201168"/>
          </a:xfrm>
          <a:prstGeom prst="roundRect">
            <a:avLst>
              <a:gd name="adj" fmla="val 18182"/>
            </a:avLst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808208" y="3895344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05840" y="4983480"/>
            <a:ext cx="10012680" cy="768096"/>
          </a:xfrm>
          <a:prstGeom prst="roundRect">
            <a:avLst>
              <a:gd name="adj" fmla="val 5357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4983480"/>
            <a:ext cx="82296" cy="768096"/>
          </a:xfrm>
          <a:prstGeom prst="rect">
            <a:avLst/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34440" y="5148072"/>
            <a:ext cx="9646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32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550408"/>
            <a:ext cx="9628632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분노는 곧바로 보복 행동으로 나아가기보다, 차량 내부의 혼잣말·욕설·신체 긴장으로 남는다. 따라서 차량 내부의 감정 경험 자체가 연구 대상이 된다.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Findings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3: 동승자는 감정 표현을 줄이는가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표현 조절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636008" y="1664208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664208"/>
            <a:ext cx="4863328" cy="201168"/>
          </a:xfrm>
          <a:prstGeom prst="roundRect">
            <a:avLst>
              <a:gd name="adj" fmla="val 18182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808208" y="1627632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4.06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194560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화나는 상황에서 행동 참음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636008" y="2231136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36008" y="2231136"/>
            <a:ext cx="4827392" cy="201168"/>
          </a:xfrm>
          <a:prstGeom prst="roundRect">
            <a:avLst>
              <a:gd name="adj" fmla="val 18182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808208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4.03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2761488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행동 변화 지각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636008" y="2798064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36008" y="2798064"/>
            <a:ext cx="4216481" cy="201168"/>
          </a:xfrm>
          <a:prstGeom prst="roundRect">
            <a:avLst>
              <a:gd name="adj" fmla="val 18182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808208" y="2761488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328416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반응에 따른 행동 변화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636008" y="3364992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36008" y="3364992"/>
            <a:ext cx="3342041" cy="201168"/>
          </a:xfrm>
          <a:prstGeom prst="roundRect">
            <a:avLst>
              <a:gd name="adj" fmla="val 18182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808208" y="3328416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2.79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3895344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오히려 감정 표현 증가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636008" y="3931920"/>
            <a:ext cx="5989320" cy="201168"/>
          </a:xfrm>
          <a:prstGeom prst="roundRect">
            <a:avLst>
              <a:gd name="adj" fmla="val 18182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3931920"/>
            <a:ext cx="2359792" cy="201168"/>
          </a:xfrm>
          <a:prstGeom prst="roundRect">
            <a:avLst>
              <a:gd name="adj" fmla="val 18182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808208" y="3895344"/>
            <a:ext cx="502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1.97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05840" y="4983480"/>
            <a:ext cx="10012680" cy="768096"/>
          </a:xfrm>
          <a:prstGeom prst="roundRect">
            <a:avLst>
              <a:gd name="adj" fmla="val 5357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4983480"/>
            <a:ext cx="82296" cy="768096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34440" y="5148072"/>
            <a:ext cx="9646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32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550408"/>
            <a:ext cx="9628632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동승자는 분노를 증폭시키기보다 감정 표현 조절과 행동 억제를 강화한다. 여기서 중요한 질문은 ‘왜 조절되는가’이다.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Findings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4: 감시가 아니라 책임감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8680" y="1572768"/>
            <a:ext cx="6126480" cy="283464"/>
          </a:xfrm>
          <a:prstGeom prst="roundRect">
            <a:avLst>
              <a:gd name="adj" fmla="val 12903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572768"/>
            <a:ext cx="6126480" cy="283464"/>
          </a:xfrm>
          <a:prstGeom prst="roundRect">
            <a:avLst>
              <a:gd name="adj" fmla="val 1290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1623060"/>
            <a:ext cx="3794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안전에 대한 책임감</a:t>
            </a:r>
            <a:endParaRPr lang="en-US" sz="940" dirty="0"/>
          </a:p>
        </p:txBody>
      </p:sp>
      <p:sp>
        <p:nvSpPr>
          <p:cNvPr id="11" name="Text 9"/>
          <p:cNvSpPr txBox="1"/>
          <p:nvPr/>
        </p:nvSpPr>
        <p:spPr>
          <a:xfrm>
            <a:off x="7114032" y="1609344"/>
            <a:ext cx="640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63.6%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2084832"/>
            <a:ext cx="6126480" cy="283464"/>
          </a:xfrm>
          <a:prstGeom prst="roundRect">
            <a:avLst>
              <a:gd name="adj" fmla="val 12903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084832"/>
            <a:ext cx="1165572" cy="283464"/>
          </a:xfrm>
          <a:prstGeom prst="roundRect">
            <a:avLst>
              <a:gd name="adj" fmla="val 12903"/>
            </a:avLst>
          </a:prstGeom>
          <a:solidFill>
            <a:srgbClr val="3C4655"/>
          </a:solidFill>
          <a:ln w="12700">
            <a:solidFill>
              <a:srgbClr val="3C46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2135124"/>
            <a:ext cx="3794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영향을 거의 받지 않음</a:t>
            </a:r>
            <a:endParaRPr lang="en-US" sz="94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2121408"/>
            <a:ext cx="640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C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12.1%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2596896"/>
            <a:ext cx="6126480" cy="283464"/>
          </a:xfrm>
          <a:prstGeom prst="roundRect">
            <a:avLst>
              <a:gd name="adj" fmla="val 12903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2596896"/>
            <a:ext cx="876588" cy="283464"/>
          </a:xfrm>
          <a:prstGeom prst="roundRect">
            <a:avLst>
              <a:gd name="adj" fmla="val 12903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2647188"/>
            <a:ext cx="3794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모습을 보여주고 싶은 마음</a:t>
            </a:r>
            <a:endParaRPr lang="en-US" sz="94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2633472"/>
            <a:ext cx="640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3108960"/>
            <a:ext cx="6126480" cy="283464"/>
          </a:xfrm>
          <a:prstGeom prst="roundRect">
            <a:avLst>
              <a:gd name="adj" fmla="val 12903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108960"/>
            <a:ext cx="587603" cy="283464"/>
          </a:xfrm>
          <a:prstGeom prst="roundRect">
            <a:avLst>
              <a:gd name="adj" fmla="val 12903"/>
            </a:avLst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3159252"/>
            <a:ext cx="3794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사람이 나를 보고 있다는 의식</a:t>
            </a:r>
            <a:endParaRPr lang="en-US" sz="94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3145536"/>
            <a:ext cx="640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6.1%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" y="3621024"/>
            <a:ext cx="6126480" cy="283464"/>
          </a:xfrm>
          <a:prstGeom prst="roundRect">
            <a:avLst>
              <a:gd name="adj" fmla="val 12903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621024"/>
            <a:ext cx="587603" cy="283464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" y="3671316"/>
            <a:ext cx="3794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감정을 공유하기 때문</a:t>
            </a:r>
            <a:endParaRPr lang="en-US" sz="94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3657600"/>
            <a:ext cx="640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6.1%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8680" y="4133088"/>
            <a:ext cx="6126480" cy="283464"/>
          </a:xfrm>
          <a:prstGeom prst="roundRect">
            <a:avLst>
              <a:gd name="adj" fmla="val 12903"/>
            </a:avLst>
          </a:prstGeom>
          <a:solidFill>
            <a:srgbClr val="E7E2D8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133088"/>
            <a:ext cx="288985" cy="283464"/>
          </a:xfrm>
          <a:prstGeom prst="roundRect">
            <a:avLst>
              <a:gd name="adj" fmla="val 12903"/>
            </a:avLst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" y="4183380"/>
            <a:ext cx="37947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반응이나 말</a:t>
            </a:r>
            <a:endParaRPr lang="en-US" sz="940" dirty="0"/>
          </a:p>
        </p:txBody>
      </p:sp>
      <p:sp>
        <p:nvSpPr>
          <p:cNvPr id="31" name="Text 29"/>
          <p:cNvSpPr txBox="1"/>
          <p:nvPr/>
        </p:nvSpPr>
        <p:spPr>
          <a:xfrm>
            <a:off x="7114032" y="4169664"/>
            <a:ext cx="640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01000" y="1536192"/>
            <a:ext cx="3154680" cy="1965960"/>
          </a:xfrm>
          <a:prstGeom prst="roundRect">
            <a:avLst>
              <a:gd name="adj" fmla="val 2093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1536192"/>
            <a:ext cx="82296" cy="1965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0" y="1700784"/>
            <a:ext cx="2788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연구의 반전</a:t>
            </a:r>
            <a:endParaRPr lang="en-US" sz="132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2103120"/>
            <a:ext cx="2770632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‘남이 봐서 참는다’보다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‘내가 안전하게 데려가야 한다’가 강했다.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8001000" y="3749040"/>
            <a:ext cx="3154680" cy="1600200"/>
          </a:xfrm>
          <a:prstGeom prst="roundRect">
            <a:avLst>
              <a:gd name="adj" fmla="val 2571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1000" y="3749040"/>
            <a:ext cx="82296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0" y="3913632"/>
            <a:ext cx="2788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함의</a:t>
            </a:r>
            <a:endParaRPr lang="en-US" sz="132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4315968"/>
            <a:ext cx="2770632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감시자보다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책임감을 환기하는 조용한 동승자에 가까워야 한다.</a:t>
            </a:r>
            <a:endParaRPr lang="en-US" sz="11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인문학적 관점: 타자의 존재와 책임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3246120" cy="3611880"/>
          </a:xfrm>
          <a:prstGeom prst="roundRect">
            <a:avLst>
              <a:gd name="adj" fmla="val 1268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00200"/>
            <a:ext cx="82296" cy="3611880"/>
          </a:xfrm>
          <a:prstGeom prst="rect">
            <a:avLst/>
          </a:prstGeom>
          <a:solidFill>
            <a:srgbClr val="3C4655"/>
          </a:solidFill>
          <a:ln w="12700">
            <a:solidFill>
              <a:srgbClr val="3C46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764792"/>
            <a:ext cx="2880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C4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시선의 타자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67128"/>
            <a:ext cx="2862072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타인이 나를 본다.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조절은 평가, 체면, 창피함과 연결된다.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본 조사에서는 부차적 요인으로 나타났다.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480560" y="1600200"/>
            <a:ext cx="3246120" cy="3611880"/>
          </a:xfrm>
          <a:prstGeom prst="roundRect">
            <a:avLst>
              <a:gd name="adj" fmla="val 1268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600200"/>
            <a:ext cx="82296" cy="361188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1764792"/>
            <a:ext cx="2880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관계의 타자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167128"/>
            <a:ext cx="2862072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동승자가 타는 순간 차 안은 혼자만의 공간에서 함께 있는 공간으로 바뀐다.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감정은 관계 속에서 재배치된다.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183880" y="1600200"/>
            <a:ext cx="3246120" cy="3611880"/>
          </a:xfrm>
          <a:prstGeom prst="roundRect">
            <a:avLst>
              <a:gd name="adj" fmla="val 1268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00200"/>
            <a:ext cx="82296" cy="3611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1764792"/>
            <a:ext cx="2880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책임의 타자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167128"/>
            <a:ext cx="2862072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동승자는 보호해야 할 존재다.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운전자의 분노는 ‘내 감정’에서 ‘우리의 안전’ 문제로 재해석된다.</a:t>
            </a:r>
            <a:endParaRPr lang="en-US" sz="118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669280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연구는 운전 분노를 제거해야 할 오류가 아니라, 타자와의 관계 속에서 조절되는 감정 경험으로 본다.</a:t>
            </a:r>
            <a:endParaRPr lang="en-US" sz="13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Direction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내 AI 인터페이스 설계 방향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72768"/>
            <a:ext cx="3337560" cy="3611880"/>
          </a:xfrm>
          <a:prstGeom prst="roundRect">
            <a:avLst>
              <a:gd name="adj" fmla="val 1233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72768"/>
            <a:ext cx="82296" cy="361188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37360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비침해적 존재감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139696"/>
            <a:ext cx="2953512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훈계하거나 감시하지 않는다.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동승자가 옆에 있는 듯한 낮은 강도의 시각·청각 단서를 제공한다.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434840" y="1572768"/>
            <a:ext cx="3337560" cy="3611880"/>
          </a:xfrm>
          <a:prstGeom prst="roundRect">
            <a:avLst>
              <a:gd name="adj" fmla="val 1233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572768"/>
            <a:ext cx="82296" cy="3611880"/>
          </a:xfrm>
          <a:prstGeom prst="rect">
            <a:avLst/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737360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완충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139696"/>
            <a:ext cx="2953512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혼잣말, 욕설, 음성 톤, 조작 압력, 주행 패턴 등 감정 고조 신호에 조명·사운드·온도 반응을 제공한다.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138160" y="1572768"/>
            <a:ext cx="3337560" cy="3611880"/>
          </a:xfrm>
          <a:prstGeom prst="roundRect">
            <a:avLst>
              <a:gd name="adj" fmla="val 1233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572768"/>
            <a:ext cx="82296" cy="3611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1737360"/>
            <a:ext cx="2971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책임감 환기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139696"/>
            <a:ext cx="2953512" cy="2916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운전자가 ‘화내면 안 된다’가 아니라 ‘함께 탄 사람을 안전하게 데려가야 한다’를 떠올리게 한다.</a:t>
            </a:r>
            <a:endParaRPr lang="en-US" sz="11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Prototype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모델 제안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554480"/>
            <a:ext cx="3456432" cy="3520440"/>
          </a:xfrm>
          <a:prstGeom prst="roundRect">
            <a:avLst>
              <a:gd name="adj" fmla="val 1190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54480"/>
            <a:ext cx="82296" cy="352044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719072"/>
            <a:ext cx="30906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시각적 존재감 AI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121408"/>
            <a:ext cx="3072384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대시보드·클러스터·앰비언트 라이트를 통해 조용한 동승자적 존재감을 제공한다.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감정 고조 시 조명 톤 완화, 안전 상태 시각화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370832" y="1554480"/>
            <a:ext cx="3456432" cy="3520440"/>
          </a:xfrm>
          <a:prstGeom prst="roundRect">
            <a:avLst>
              <a:gd name="adj" fmla="val 1190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554480"/>
            <a:ext cx="82296" cy="3520440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9432" y="1719072"/>
            <a:ext cx="30906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관계성 음성 케어 AI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121408"/>
            <a:ext cx="3072384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혹은 가까운 사람을 연상시키는 짧고 부드러운 음성으로 안전을 환기한다.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‘천천히 가도 괜찮아요’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055864" y="1554480"/>
            <a:ext cx="3456432" cy="3520440"/>
          </a:xfrm>
          <a:prstGeom prst="roundRect">
            <a:avLst>
              <a:gd name="adj" fmla="val 1190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55864" y="1554480"/>
            <a:ext cx="82296" cy="3520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84464" y="1719072"/>
            <a:ext cx="30906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가상 동승자 AI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8284464" y="2121408"/>
            <a:ext cx="3072384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맥락을 함께 인식하고 필요 시 분위기 조율과 감정 완충을 수행한다.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긴장 구간에서 대화·음악·환기 제안</a:t>
            </a:r>
            <a:endParaRPr lang="en-US" sz="118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596128"/>
            <a:ext cx="10149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포인트: 분노 완화감, 방해감, 신뢰감, 책임감 환기, 수용성</a:t>
            </a:r>
            <a:endParaRPr lang="en-US" sz="14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방법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8680" y="1600200"/>
            <a:ext cx="438912" cy="43891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2980" y="1723644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618488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문헌연구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1618488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DAS/K-DAS, 감정 조절, 사회적 억제, 동승자 효과, 차량 내 AI 연구 검토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1088136" y="2084832"/>
            <a:ext cx="0" cy="274320"/>
          </a:xfrm>
          <a:prstGeom prst="line">
            <a:avLst/>
          </a:prstGeom>
          <a:noFill/>
          <a:ln w="15240">
            <a:solidFill>
              <a:srgbClr val="ECE8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423160"/>
            <a:ext cx="438912" cy="438912"/>
          </a:xfrm>
          <a:prstGeom prst="ellipse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2980" y="2546604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441448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설문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441448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예비조사 문항 보완, 표본 수와 연령대 확대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1088136" y="2907792"/>
            <a:ext cx="0" cy="274320"/>
          </a:xfrm>
          <a:prstGeom prst="line">
            <a:avLst/>
          </a:prstGeom>
          <a:noFill/>
          <a:ln w="15240">
            <a:solidFill>
              <a:srgbClr val="ECE8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246120"/>
            <a:ext cx="438912" cy="438912"/>
          </a:xfrm>
          <a:prstGeom prst="ellipse">
            <a:avLst/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2980" y="3369564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264408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3264408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기술통계, 평균 비교, 교차분석, 정성 응답 코딩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1088136" y="3730752"/>
            <a:ext cx="0" cy="274320"/>
          </a:xfrm>
          <a:prstGeom prst="line">
            <a:avLst/>
          </a:prstGeom>
          <a:noFill/>
          <a:ln w="15240">
            <a:solidFill>
              <a:srgbClr val="ECE8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069080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2980" y="4192524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087368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971800" y="4087368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3가지 AI 인터랙션 모델 제작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1088136" y="4553712"/>
            <a:ext cx="0" cy="274320"/>
          </a:xfrm>
          <a:prstGeom prst="line">
            <a:avLst/>
          </a:prstGeom>
          <a:noFill/>
          <a:ln w="15240">
            <a:solidFill>
              <a:srgbClr val="ECE8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4892040"/>
            <a:ext cx="438912" cy="43891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2980" y="5015484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4910328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971800" y="4910328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기반 사용성 평가 또는 주행 시뮬레이션 평가</a:t>
            </a:r>
            <a:endParaRPr lang="en-US" sz="12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계획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2971800" cy="3520440"/>
          </a:xfrm>
          <a:prstGeom prst="roundRect">
            <a:avLst>
              <a:gd name="adj" fmla="val 1385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82296" cy="3520440"/>
          </a:xfrm>
          <a:prstGeom prst="rect">
            <a:avLst/>
          </a:prstGeom>
          <a:solidFill>
            <a:srgbClr val="B35C27"/>
          </a:solidFill>
          <a:ln w="12700">
            <a:solidFill>
              <a:srgbClr val="B35C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19072"/>
            <a:ext cx="2606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35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상황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121408"/>
            <a:ext cx="2587752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분노 유발 운전 시나리오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끼어들기, 경적, 상향등, 교통 지연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3886200" y="1554480"/>
            <a:ext cx="3611880" cy="3520440"/>
          </a:xfrm>
          <a:prstGeom prst="roundRect">
            <a:avLst>
              <a:gd name="adj" fmla="val 1169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86200" y="1554480"/>
            <a:ext cx="82296" cy="352044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1719072"/>
            <a:ext cx="3246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조건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121408"/>
            <a:ext cx="3227832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없음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시각적 존재감 AI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관계성 음성 케어 AI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동승자 AI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680960" y="1554480"/>
            <a:ext cx="3749040" cy="3520440"/>
          </a:xfrm>
          <a:prstGeom prst="roundRect">
            <a:avLst>
              <a:gd name="adj" fmla="val 1169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554480"/>
            <a:ext cx="82296" cy="3520440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9560" y="1719072"/>
            <a:ext cx="3383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지표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121408"/>
            <a:ext cx="3364992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주관적 분노 완화감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수용성·방해감·신뢰감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책임감 환기 효과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인터랙션 유형</a:t>
            </a:r>
            <a:endParaRPr lang="en-US" sz="118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532120"/>
            <a:ext cx="10241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평가의 핵심은 ‘AI가 효과적인가’뿐 아니라 ‘감시받는 느낌 없이 책임감을 환기하는가’이다.</a:t>
            </a:r>
            <a:endParaRPr lang="en-US" sz="14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Contribution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결과와 의의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13232" y="1508760"/>
            <a:ext cx="3429000" cy="3886200"/>
          </a:xfrm>
          <a:prstGeom prst="roundRect">
            <a:avLst>
              <a:gd name="adj" fmla="val 1200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508760"/>
            <a:ext cx="82296" cy="38862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1673352"/>
            <a:ext cx="3063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학술적 의의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2075688"/>
            <a:ext cx="3044952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분노 연구와 동승자 효과 연구를 연결한다.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조절의 원인을 시선·체면보다 책임감 중심으로 재해석한다.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370832" y="1508760"/>
            <a:ext cx="3429000" cy="3886200"/>
          </a:xfrm>
          <a:prstGeom prst="roundRect">
            <a:avLst>
              <a:gd name="adj" fmla="val 1200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508760"/>
            <a:ext cx="82296" cy="388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9432" y="1673352"/>
            <a:ext cx="3063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인문학적 의의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075688"/>
            <a:ext cx="3044952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 내부를 감정과 책임이 교차하는 관계적 공간으로 본다.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운전자를 감정과 타자 관계 속의 주체로 이해한다.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028432" y="1508760"/>
            <a:ext cx="3429000" cy="3886200"/>
          </a:xfrm>
          <a:prstGeom prst="roundRect">
            <a:avLst>
              <a:gd name="adj" fmla="val 1200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28432" y="1508760"/>
            <a:ext cx="82296" cy="3886200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57032" y="1673352"/>
            <a:ext cx="3063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의의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8257032" y="2075688"/>
            <a:ext cx="3044952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내 AI를 통제 장치가 아니라 자기조절과 안전 책임감 환기의 매개로 제안한다.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HMI 설계 가이드라인으로 확장한다.</a:t>
            </a:r>
            <a:endParaRPr lang="en-US" sz="11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Limitations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한계와 보완 방향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1037844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 조사 표본은 N=33으로 제한적이며, 20대 응답 비중이 높다.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도로 주행 전체를 장기간 추적한 자료가 아니라 자기보고식 설문에 기반한다.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 효과는 동승자의 연령, 관계, 운전 상황에 따라 다르게 나타날 수 있다.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연구에서 표본 확대, 시나리오 기반 실험, 프로토타입 평가를 통해 타당성을 보완한다.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5193792"/>
            <a:ext cx="9966960" cy="603504"/>
          </a:xfrm>
          <a:prstGeom prst="roundRect">
            <a:avLst>
              <a:gd name="adj" fmla="val 6818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5193792"/>
            <a:ext cx="82296" cy="6035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5358384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교수님께 확인받을 지점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760720"/>
            <a:ext cx="9582912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범위를 UX 설계 중심으로 둘지, 감정 경험과 타자성 해석 중심으로 둘지</a:t>
            </a:r>
            <a:endParaRPr lang="en-US" sz="11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일정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621792" cy="62179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322576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325880" y="2459736"/>
            <a:ext cx="768096" cy="0"/>
          </a:xfrm>
          <a:prstGeom prst="line">
            <a:avLst/>
          </a:prstGeom>
          <a:noFill/>
          <a:ln w="25400">
            <a:solidFill>
              <a:srgbClr val="ECE8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" y="2999232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 검토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2267712" y="2148840"/>
            <a:ext cx="621792" cy="62179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8880" y="2322576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53512" y="2459736"/>
            <a:ext cx="768096" cy="0"/>
          </a:xfrm>
          <a:prstGeom prst="line">
            <a:avLst/>
          </a:prstGeom>
          <a:noFill/>
          <a:ln w="25400">
            <a:solidFill>
              <a:srgbClr val="ECE8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20824" y="2999232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문항 보완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3895344" y="2148840"/>
            <a:ext cx="621792" cy="62179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96512" y="2322576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81144" y="2459736"/>
            <a:ext cx="768096" cy="0"/>
          </a:xfrm>
          <a:prstGeom prst="line">
            <a:avLst/>
          </a:prstGeom>
          <a:noFill/>
          <a:ln w="25400">
            <a:solidFill>
              <a:srgbClr val="ECE8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48456" y="2999232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설문 및 분석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522976" y="2148840"/>
            <a:ext cx="621792" cy="62179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24144" y="2322576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08776" y="2459736"/>
            <a:ext cx="768096" cy="0"/>
          </a:xfrm>
          <a:prstGeom prst="line">
            <a:avLst/>
          </a:prstGeom>
          <a:noFill/>
          <a:ln w="25400">
            <a:solidFill>
              <a:srgbClr val="ECE8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76088" y="2999232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원칙 도출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150608" y="2148840"/>
            <a:ext cx="621792" cy="62179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51776" y="2322576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36408" y="2459736"/>
            <a:ext cx="768096" cy="0"/>
          </a:xfrm>
          <a:prstGeom prst="line">
            <a:avLst/>
          </a:prstGeom>
          <a:noFill/>
          <a:ln w="25400">
            <a:solidFill>
              <a:srgbClr val="ECE8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3720" y="2999232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제작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8778240" y="2148840"/>
            <a:ext cx="621792" cy="621792"/>
          </a:xfrm>
          <a:prstGeom prst="ellipse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79408" y="2322576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464040" y="2459736"/>
            <a:ext cx="768096" cy="0"/>
          </a:xfrm>
          <a:prstGeom prst="line">
            <a:avLst/>
          </a:prstGeom>
          <a:noFill/>
          <a:ln w="25400">
            <a:solidFill>
              <a:srgbClr val="ECE8D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31352" y="2999232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평가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10405872" y="2148840"/>
            <a:ext cx="621792" cy="621792"/>
          </a:xfrm>
          <a:prstGeom prst="ellipse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607040" y="2322576"/>
            <a:ext cx="20116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158984" y="2999232"/>
            <a:ext cx="1143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작성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1097280" y="4800600"/>
            <a:ext cx="9921240" cy="868680"/>
          </a:xfrm>
          <a:prstGeom prst="roundRect">
            <a:avLst>
              <a:gd name="adj" fmla="val 4737"/>
            </a:avLst>
          </a:prstGeom>
          <a:solidFill>
            <a:srgbClr val="FFFDF7"/>
          </a:solidFill>
          <a:ln w="12700">
            <a:solidFill>
              <a:srgbClr val="ECE8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" y="4800600"/>
            <a:ext cx="82296" cy="86868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25880" y="4965192"/>
            <a:ext cx="9555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320" dirty="0"/>
          </a:p>
        </p:txBody>
      </p:sp>
      <p:sp>
        <p:nvSpPr>
          <p:cNvPr id="38" name="Text 36"/>
          <p:cNvSpPr txBox="1"/>
          <p:nvPr/>
        </p:nvSpPr>
        <p:spPr>
          <a:xfrm>
            <a:off x="1325880" y="5367528"/>
            <a:ext cx="9537192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 피드백 반영 → 연구문제 정교화 → 본조사 설계 확정 → 프로토타입 평가 방식 결정</a:t>
            </a:r>
            <a:endParaRPr lang="en-US" sz="11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Feedback Points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교수님께 받고 싶은 피드백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536192"/>
            <a:ext cx="1046988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연구의 중심축을 ‘차량 AI/HMI 설계’와 ‘운전자의 감정 경험·타자성’ 중 어디에 더 둘 것인가</a:t>
            </a:r>
            <a:endParaRPr lang="en-US" sz="1550" dirty="0"/>
          </a:p>
          <a:p>
            <a:pPr marL="165100" indent="-165100">
              <a:buSzPct val="100000"/>
              <a:buChar char="•"/>
            </a:pPr>
            <a:r>
              <a:rPr lang="en-US" sz="15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동승자의 안전 책임감을 핵심 개념으로 설정하는 것이 타당한가</a:t>
            </a:r>
            <a:endParaRPr lang="en-US" sz="1550" dirty="0"/>
          </a:p>
          <a:p>
            <a:pPr marL="165100" indent="-165100">
              <a:buSzPct val="100000"/>
              <a:buChar char="•"/>
            </a:pPr>
            <a:r>
              <a:rPr lang="en-US" sz="15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 범위를 심리학, 교통안전, HCI, 인문학적 공간 해석 중 어디까지 확장할 것인가</a:t>
            </a:r>
            <a:endParaRPr lang="en-US" sz="1550" dirty="0"/>
          </a:p>
          <a:p>
            <a:pPr marL="165100" indent="-165100">
              <a:buSzPct val="100000"/>
              <a:buChar char="•"/>
            </a:pPr>
            <a:r>
              <a:rPr lang="en-US" sz="15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본조사에서 추가해야 할 문항과 표본 조건은 무엇인가</a:t>
            </a:r>
            <a:endParaRPr lang="en-US" sz="1550" dirty="0"/>
          </a:p>
          <a:p>
            <a:pPr marL="165100" indent="-165100">
              <a:buSzPct val="100000"/>
              <a:buChar char="•"/>
            </a:pPr>
            <a:r>
              <a:rPr lang="en-US" sz="15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평가는 영상 시나리오, 저충실도 목업, 주행 시뮬레이션 중 어떤 방식이 적절한가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34747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6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621792"/>
            <a:ext cx="102412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참고문헌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E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0140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86384" y="1417320"/>
            <a:ext cx="1065276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Deffenbacher et al.(1994) - Development of a Driving Anger Scale</a:t>
            </a:r>
            <a:endParaRPr lang="en-US" sz="1350" dirty="0"/>
          </a:p>
          <a:p>
            <a:pPr marL="165100" indent="-165100"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Deffenbacher et al.(2002) - Driving Anger Expression Inventory</a:t>
            </a:r>
            <a:endParaRPr lang="en-US" sz="1350" dirty="0"/>
          </a:p>
          <a:p>
            <a:pPr marL="165100" indent="-165100"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신용균·한덕웅·류준범(2009) - 한국판 운전분노척도(K-DAS)</a:t>
            </a:r>
            <a:endParaRPr lang="en-US" sz="1350" dirty="0"/>
          </a:p>
          <a:p>
            <a:pPr marL="165100" indent="-165100"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Gross(1998) - 감정 조절과 인지적 재평가</a:t>
            </a:r>
            <a:endParaRPr lang="en-US" sz="1350" dirty="0"/>
          </a:p>
          <a:p>
            <a:pPr marL="165100" indent="-165100"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Harris &amp; Nass(2011) - 운전 좌절 상황에서의 감정 재해석 프롬프트</a:t>
            </a:r>
            <a:endParaRPr lang="en-US" sz="1350" dirty="0"/>
          </a:p>
          <a:p>
            <a:pPr marL="165100" indent="-165100"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Baxter et al.(1990), Vollrath et al.(2002), Lee &amp; Abdel-Aty(2008) - 동승자 존재와 운전 행동</a:t>
            </a:r>
            <a:endParaRPr lang="en-US" sz="1350" dirty="0"/>
          </a:p>
          <a:p>
            <a:pPr marL="165100" indent="-165100"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Jeon, Walker, &amp; Gable(2015) - 차량 내 에이전트와 운전자 분노 완화</a:t>
            </a:r>
            <a:endParaRPr lang="en-US" sz="1350" dirty="0"/>
          </a:p>
          <a:p>
            <a:pPr marL="165100" indent="-165100">
              <a:buSzPct val="100000"/>
              <a:buChar char="•"/>
            </a:pPr>
            <a:r>
              <a:rPr lang="en-US" sz="1350" dirty="0">
                <a:solidFill>
                  <a:srgbClr val="171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Nass &amp; Moon(2000) - 컴퓨터에 대한 사회적 반응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홍익대학교 일반대학원 산업디자인과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동승자 존재가 운전자 분노 조절에 미치는 영향과 차량 내 AI 인터페이스 설계 연구</dc:title>
  <dc:subject>교수님 피드백용 연구계획 발표</dc:subject>
  <dc:creator>서종휘</dc:creator>
  <cp:lastModifiedBy>서종휘</cp:lastModifiedBy>
  <cp:revision>1</cp:revision>
  <dcterms:created xsi:type="dcterms:W3CDTF">2026-09-07T16:20:36Z</dcterms:created>
  <dcterms:modified xsi:type="dcterms:W3CDTF">2026-09-07T16:20:36Z</dcterms:modified>
</cp:coreProperties>
</file>