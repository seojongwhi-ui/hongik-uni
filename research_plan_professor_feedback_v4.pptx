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원제: 동승자 존재가 운전자 분노 조절에 미치는 영향과 차량 내 AI 인터페이스 설계 연구. 홍익대학교 일반대학원 산업디자인과 서종휘.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 PROPOSAL · 2026.09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존재와 운전자 분노 조절</a:t>
            </a:r>
            <a:endParaRPr lang="ko-KR" sz="2880" dirty="0"/>
          </a:p>
        </p:txBody>
      </p:sp>
      <p:sp>
        <p:nvSpPr>
          <p:cNvPr id="5" name="Shape 3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홍익대학교 일반대학원 산업디자인과 · 서종휘 · 교수님 피드백용</a:t>
            </a:r>
            <a:endParaRPr lang="ko-KR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60" dirty="0"/>
          </a:p>
        </p:txBody>
      </p:sp>
      <p:sp>
        <p:nvSpPr>
          <p:cNvPr id="9" name="Text 7"/>
          <p:cNvSpPr txBox="1"/>
          <p:nvPr/>
        </p:nvSpPr>
        <p:spPr>
          <a:xfrm>
            <a:off x="670560" y="2316480"/>
            <a:ext cx="10850880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96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 AI 인터페이스 설계 연구</a:t>
            </a:r>
            <a:endParaRPr lang="ko-KR" sz="3960" dirty="0"/>
          </a:p>
        </p:txBody>
      </p:sp>
      <p:sp>
        <p:nvSpPr>
          <p:cNvPr id="10" name="Text 8"/>
          <p:cNvSpPr txBox="1"/>
          <p:nvPr/>
        </p:nvSpPr>
        <p:spPr>
          <a:xfrm>
            <a:off x="701040" y="3512820"/>
            <a:ext cx="1036320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개인적 운전 경험에서 출발한 감정 조절과 AI 설계 연구</a:t>
            </a:r>
            <a:endParaRPr lang="ko-KR" sz="2040" dirty="0"/>
          </a:p>
        </p:txBody>
      </p:sp>
      <p:sp>
        <p:nvSpPr>
          <p:cNvPr id="11" name="Shape 9"/>
          <p:cNvSpPr/>
          <p:nvPr/>
        </p:nvSpPr>
        <p:spPr>
          <a:xfrm>
            <a:off x="670560" y="4396740"/>
            <a:ext cx="609600" cy="3810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0560" y="4724400"/>
            <a:ext cx="10134600" cy="439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3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동승자가 있을 때와 비슷한</a:t>
            </a:r>
            <a:endParaRPr lang="ko-KR" sz="23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5164226"/>
            <a:ext cx="10134600" cy="439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3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 경험을 만들 수 있는가?</a:t>
            </a:r>
            <a:endParaRPr lang="ko-KR" sz="23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출발점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연구자의 일상적 관찰에서 시작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때와 누군가 함께 탈 때의 감정 표현 차이에 주목했다.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10850880" cy="586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1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운전 중 쉽게 화가 나지만,</a:t>
            </a:r>
            <a:endParaRPr lang="ko-KR" sz="312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65755"/>
            <a:ext cx="10850880" cy="586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1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가족이나 다른 사람이 타면</a:t>
            </a:r>
            <a:endParaRPr lang="ko-KR" sz="312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352190"/>
            <a:ext cx="10850880" cy="586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1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화를 덜 내는 내 모습을 발견했다.</a:t>
            </a:r>
            <a:endParaRPr lang="ko-KR" sz="312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343400"/>
            <a:ext cx="1085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원래라면 경적, 욕설, 혼잣말로 반응했을 상황에서도</a:t>
            </a:r>
            <a:endParaRPr lang="ko-KR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681728"/>
            <a:ext cx="1085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표현을 참거나 행동을 조절하게 된다.</a:t>
            </a:r>
            <a:endParaRPr lang="ko-KR" sz="1800" dirty="0"/>
          </a:p>
        </p:txBody>
      </p:sp>
      <p:sp>
        <p:nvSpPr>
          <p:cNvPr id="15" name="Shape 13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문제의식</a:t>
            </a:r>
            <a:endParaRPr lang="ko-KR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변화가 나만의 경험인지, 다른 운전자에게도 나타나는지 확인하고자 했다.</a:t>
            </a:r>
            <a:endParaRPr lang="ko-KR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문제 발견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때의 감정 조절을 어떻게 도울 수 있을까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차량 AI 경험으로 전환할 가능성을 탐색한다.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860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860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표현과 위험한 반응을 줄이게 되는 순간이 있다.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9184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175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175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비슷한 감정 조절 경험을 만들 수 있을까?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649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490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가능성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490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감시자가 아니라 동승자의 존재감과 책임감을 환기할 수 있을까?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381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805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805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표현과 위험 행동을 낮춰 사고 예방 가능성을 높일 수 있을까?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방향</a:t>
            </a:r>
            <a:endParaRPr lang="ko-KR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운전자를 꾸짖는 장치보다, 스스로 조절하게 돕는 동승자적 단서로 접근한다.</a:t>
            </a:r>
            <a:endParaRPr lang="ko-KR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조사 이유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사람들도 나처럼 경험하는지 확인했다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설문은 이론 검증보다 문제 발견과 방향 확인을 위한 예비조사로 진행했다.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1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사람들도 운전 중 화가 나는가?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2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상황에서 특히 화가 나는가?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3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화가 났을 때 어떤 방식으로 반응하는가?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4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화가 줄어드는가, 아니면 같이 동조되어 더 커지는가?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5</a:t>
            </a:r>
            <a:endParaRPr lang="ko-KR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변화의 이유가 시선 의식인지, 안전 책임감인지 확인할 수 있는가?</a:t>
            </a:r>
            <a:endParaRPr lang="ko-KR" sz="1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예비조사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설문조사 개요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상황에서의 감정 및 행동 변화 조사 · 유효 응답 33명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86000"/>
            <a:ext cx="2484120" cy="721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8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33명</a:t>
            </a:r>
            <a:endParaRPr lang="ko-KR" sz="384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223260"/>
            <a:ext cx="25146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응답</a:t>
            </a:r>
            <a:endParaRPr lang="ko-KR" sz="162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2286000"/>
            <a:ext cx="2484120" cy="721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8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69.7%</a:t>
            </a:r>
            <a:endParaRPr lang="ko-KR" sz="384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3223260"/>
            <a:ext cx="25146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비중</a:t>
            </a:r>
            <a:endParaRPr lang="ko-KR" sz="162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286000"/>
            <a:ext cx="2484120" cy="721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8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90.9%</a:t>
            </a:r>
            <a:endParaRPr lang="ko-KR" sz="3840" dirty="0"/>
          </a:p>
        </p:txBody>
      </p:sp>
      <p:sp>
        <p:nvSpPr>
          <p:cNvPr id="15" name="Text 13"/>
          <p:cNvSpPr txBox="1"/>
          <p:nvPr/>
        </p:nvSpPr>
        <p:spPr>
          <a:xfrm>
            <a:off x="6248400" y="3223260"/>
            <a:ext cx="25146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빈도: 가끔~항상</a:t>
            </a:r>
            <a:endParaRPr lang="ko-KR" sz="1620" dirty="0"/>
          </a:p>
        </p:txBody>
      </p:sp>
      <p:sp>
        <p:nvSpPr>
          <p:cNvPr id="16" name="Text 14"/>
          <p:cNvSpPr txBox="1"/>
          <p:nvPr/>
        </p:nvSpPr>
        <p:spPr>
          <a:xfrm>
            <a:off x="9037320" y="2286000"/>
            <a:ext cx="2484120" cy="721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8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42.4%</a:t>
            </a:r>
            <a:endParaRPr lang="ko-KR" sz="3840" dirty="0"/>
          </a:p>
        </p:txBody>
      </p:sp>
      <p:sp>
        <p:nvSpPr>
          <p:cNvPr id="17" name="Text 15"/>
          <p:cNvSpPr txBox="1"/>
          <p:nvPr/>
        </p:nvSpPr>
        <p:spPr>
          <a:xfrm>
            <a:off x="9037320" y="3223260"/>
            <a:ext cx="25146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목적: 출퇴근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670560" y="40386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206240"/>
            <a:ext cx="108508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여성 18명 · 남성 15명  |  최근 6개월 이내 운전 경험이 있는 성인</a:t>
            </a:r>
            <a:endParaRPr lang="ko-KR" sz="174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81584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DAS·K-DAS 참고 재구성 문항 / 5점 척도 / 유형·이유 선택 / 정성 경험</a:t>
            </a:r>
            <a:endParaRPr lang="ko-KR" sz="162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563118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원척도 전체를 그대로 적용한 검사가 아니며, 리워드용 개인정보는 분석과 분리한다.</a:t>
            </a:r>
            <a:endParaRPr lang="ko-KR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1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사람들은 어떤 상황에서 화가 나는가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평균 · 5점 척도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표현: 경적·상향등·손짓</a:t>
            </a:r>
            <a:endParaRPr lang="ko-KR" sz="162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81987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3.88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갑작스러운 끼어들기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333746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3.39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교통법규 위반</a:t>
            </a:r>
            <a:endParaRPr lang="ko-KR" sz="162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330793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3.36</a:t>
            </a:r>
            <a:endParaRPr lang="ko-KR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체증·이동시간 지연</a:t>
            </a:r>
            <a:endParaRPr lang="ko-KR" sz="162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21932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3.27</a:t>
            </a:r>
            <a:endParaRPr lang="ko-KR" sz="168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뒤차의 안전거리 미확보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71652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3.12</a:t>
            </a:r>
            <a:endParaRPr lang="ko-KR" sz="168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앞차의 지나친 서행</a:t>
            </a:r>
            <a:endParaRPr lang="ko-KR" sz="162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2983047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3.03</a:t>
            </a:r>
            <a:endParaRPr lang="ko-KR" sz="168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응답자들도 타인의 적대적 표현과 돌발 행동에서 강한 불쾌감을 경험했다.</a:t>
            </a:r>
            <a:endParaRPr lang="ko-KR" sz="1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2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화가 났을 때 어떻게 반응하는가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방식별 평균 · 5점 척도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혼잣말</a:t>
            </a:r>
            <a:endParaRPr lang="ko-KR" sz="162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367004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3.42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욕설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256955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2.61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경적 사용</a:t>
            </a:r>
            <a:endParaRPr lang="ko-KR" sz="162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211668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2.15</a:t>
            </a:r>
            <a:endParaRPr lang="ko-KR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공격적 운전 경험</a:t>
            </a:r>
            <a:endParaRPr lang="ko-KR" sz="162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68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보복 행동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5850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1.61</a:t>
            </a:r>
            <a:endParaRPr lang="ko-KR" sz="168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실제 보복 행동보다 차량 내부의 혼잣말과 욕설로 먼저 나타나는 경향이 있었다.</a:t>
            </a:r>
            <a:endParaRPr lang="ko-KR" sz="1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3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나처럼 화를 조절하는가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존재에 따른 변화 · 5점 척도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자기보고 응답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표현 조절</a:t>
            </a:r>
            <a:endParaRPr lang="ko-KR" sz="162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99708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4.06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화나는 상황에서 행동 참음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39675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4.03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행동 변화 지각</a:t>
            </a:r>
            <a:endParaRPr lang="ko-KR" sz="162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346545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3.52</a:t>
            </a:r>
            <a:endParaRPr lang="ko-KR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반응에 따른 행동 변화</a:t>
            </a:r>
            <a:endParaRPr lang="ko-KR" sz="162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274676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2.79</a:t>
            </a:r>
            <a:endParaRPr lang="ko-KR" sz="168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오히려 감정 표현 증가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68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 다수도 동승자가 있을 때 감정 표현과 행동을 조절한다고 응답했다.</a:t>
            </a:r>
            <a:endParaRPr lang="ko-KR" sz="1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핵심 결과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줄어드는가: 시선보다 안전 책임감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처음에는 남이 보는 시선 때문일 것이라 예상했지만, 결과는 달랐다.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영향 이유 단일 선택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31720"/>
            <a:ext cx="7010400" cy="428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안전에 대한 책임감</a:t>
            </a:r>
            <a:endParaRPr lang="ko-KR" sz="22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994660"/>
            <a:ext cx="6705600" cy="1375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32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732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41520"/>
            <a:ext cx="5334000" cy="349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21명 / 33명</a:t>
            </a:r>
            <a:endParaRPr lang="ko-KR" sz="1860" dirty="0"/>
          </a:p>
        </p:txBody>
      </p:sp>
      <p:sp>
        <p:nvSpPr>
          <p:cNvPr id="13" name="Shape 11"/>
          <p:cNvSpPr/>
          <p:nvPr/>
        </p:nvSpPr>
        <p:spPr>
          <a:xfrm>
            <a:off x="7924800" y="2346960"/>
            <a:ext cx="15240" cy="269748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369820"/>
            <a:ext cx="32004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시선·체면 관련 응답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09900"/>
            <a:ext cx="32004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325673"/>
            <a:ext cx="32004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 · 3명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137660"/>
            <a:ext cx="32004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</a:t>
            </a:r>
            <a:endParaRPr lang="ko-KR" sz="168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453433"/>
            <a:ext cx="32004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 · 2명</a:t>
            </a:r>
            <a:endParaRPr lang="ko-KR" sz="1680" dirty="0"/>
          </a:p>
        </p:txBody>
      </p:sp>
      <p:sp>
        <p:nvSpPr>
          <p:cNvPr id="19" name="Shape 17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전환</a:t>
            </a:r>
            <a:endParaRPr lang="ko-KR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감시하는 시선보다, 내가 보호해야 할 사람으로 경험될 가능성이 크다.</a:t>
            </a:r>
            <a:endParaRPr lang="ko-KR" sz="1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4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영향을 미치는 이유 전체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큰 이유를 선택한 응답 비율 · 합계는 반올림으로 100%와 다를 수 있음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· 21명</a:t>
            </a:r>
            <a:endParaRPr lang="ko-KR" sz="162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130723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영향을 거의 받지 않음 · 4명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 · 3명</a:t>
            </a:r>
            <a:endParaRPr lang="ko-KR" sz="162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 · 2명</a:t>
            </a:r>
            <a:endParaRPr lang="ko-KR" sz="162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68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감정을 공유함 · 2명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68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반응이나 말 · 1명</a:t>
            </a:r>
            <a:endParaRPr lang="ko-KR" sz="162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68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확인할 점</a:t>
            </a:r>
            <a:endParaRPr lang="ko-KR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책임감은 가장 빈번한 응답이며, 인과적 기제는 후속 연구 과제다.</a:t>
            </a:r>
            <a:endParaRPr lang="ko-KR" sz="1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5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탔을 때 가장 조절되는가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가족이 가장 많았고, 유형 차이를 느끼지 않는 응답도 나타났다.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11명</a:t>
            </a:r>
            <a:endParaRPr lang="ko-KR" sz="162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1639199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33.3%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유형에 따른 차이 없음 · 9명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134384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27.3%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낯선 사람 · 5명</a:t>
            </a:r>
            <a:endParaRPr lang="ko-KR" sz="162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74822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15.2%</a:t>
            </a:r>
            <a:endParaRPr lang="ko-KR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연인 · 4명</a:t>
            </a:r>
            <a:endParaRPr lang="ko-KR" sz="162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68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직장 동료 · 3명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68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· 1명</a:t>
            </a:r>
            <a:endParaRPr lang="ko-KR" sz="162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68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분석</a:t>
            </a:r>
            <a:endParaRPr lang="ko-KR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친밀도와 보호 책임감이 어떻게 연결되는지 살펴본다.</a:t>
            </a:r>
            <a:endParaRPr lang="ko-KR" sz="1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해석 방향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결과를 어떻게 읽을 것인가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지점에서 인문학적·심리적·사회적 선행연구가 필요해진다.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555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경험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555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 내가 화를 덜 표현하는 경험에서 출발했다.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887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870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확인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870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운전자들도 유사하게 표현과 행동을 조절한다고 응답했다.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619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185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발견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185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이유는 남의 시선보다 동승자의 안전 책임감에 가까웠다.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3510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500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필요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500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타인의 존재가 감정 조절과 책임감으로 이어지는지 설명해야 한다.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발표의 요지</a:t>
            </a:r>
            <a:endParaRPr lang="ko-KR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연구는 설문 결과를 바탕으로 동승자를 타자, 관계, 책임의 관점에서 해석한다.</a:t>
            </a:r>
            <a:endParaRPr lang="ko-KR" sz="1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이론적 배경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선행연구와 본 연구의 연결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이후 결과를 설명하기 위해 참고할 문헌의 역할을 정리했다.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640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 측정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640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 · Deffenbacher et al.(1994) / DAX · Deffenbacher et al.(2002)</a:t>
            </a:r>
            <a:endParaRPr lang="ko-KR" sz="1680" dirty="0"/>
          </a:p>
        </p:txBody>
      </p:sp>
      <p:sp>
        <p:nvSpPr>
          <p:cNvPr id="12" name="Text 10"/>
          <p:cNvSpPr txBox="1"/>
          <p:nvPr/>
        </p:nvSpPr>
        <p:spPr>
          <a:xfrm>
            <a:off x="3215640" y="2479853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운전자 맥락 · 신용균 외(2009)</a:t>
            </a:r>
            <a:endParaRPr lang="ko-KR" sz="1680" dirty="0"/>
          </a:p>
        </p:txBody>
      </p:sp>
      <p:sp>
        <p:nvSpPr>
          <p:cNvPr id="13" name="Shape 11"/>
          <p:cNvSpPr/>
          <p:nvPr/>
        </p:nvSpPr>
        <p:spPr>
          <a:xfrm>
            <a:off x="670560" y="30099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0560" y="31089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조절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3215640" y="31089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Gross(1998) / Harris &amp; Nass(2011)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3215640" y="3424733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상황의 의미를 재해석하는 감정 조절 관점</a:t>
            </a:r>
            <a:endParaRPr lang="ko-KR" sz="1680" dirty="0"/>
          </a:p>
        </p:txBody>
      </p:sp>
      <p:sp>
        <p:nvSpPr>
          <p:cNvPr id="17" name="Shape 15"/>
          <p:cNvSpPr/>
          <p:nvPr/>
        </p:nvSpPr>
        <p:spPr>
          <a:xfrm>
            <a:off x="670560" y="3954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0560" y="40538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</a:t>
            </a:r>
            <a:endParaRPr lang="ko-KR" sz="1680" dirty="0"/>
          </a:p>
        </p:txBody>
      </p:sp>
      <p:sp>
        <p:nvSpPr>
          <p:cNvPr id="19" name="Text 17"/>
          <p:cNvSpPr txBox="1"/>
          <p:nvPr/>
        </p:nvSpPr>
        <p:spPr>
          <a:xfrm>
            <a:off x="3215640" y="40538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Baxter et al.(1990) / Vollrath et al.(2002) / Lee &amp; Abdel-Aty(2008)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369613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조건과 운전 행동의 관계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48996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49987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에이전트</a:t>
            </a:r>
            <a:endParaRPr lang="ko-KR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49987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Jeon et al.(2015) / Nass &amp; Moon(2000)</a:t>
            </a:r>
            <a:endParaRPr lang="ko-KR" sz="1680" dirty="0"/>
          </a:p>
        </p:txBody>
      </p:sp>
      <p:sp>
        <p:nvSpPr>
          <p:cNvPr id="24" name="Text 22"/>
          <p:cNvSpPr txBox="1"/>
          <p:nvPr/>
        </p:nvSpPr>
        <p:spPr>
          <a:xfrm>
            <a:off x="3215640" y="5314493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 상호작용과 기술에 대한 사회적 반응</a:t>
            </a:r>
            <a:endParaRPr lang="ko-KR" sz="1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인문학적 해석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감시자가 아니라 보호해야 할 타자다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‘타자와 책임’은 설문 결과를 설명하기 위한 해석적 관점이다.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시선의 타자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누군가 나를 보고 있다는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인식이 평가, 체면과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연결되는 경험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타자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있던 실내가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누군가와 함께하는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공간으로 바뀌는 경험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책임의 타자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탄 사람의 안전을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책임져야 한다고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느끼는 경험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중심 문장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운전자를 감시하는 시선이 아니라, 운전자가 보호해야 할 타자로 경험된다.</a:t>
            </a:r>
            <a:endParaRPr lang="ko-KR" sz="1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원인 해석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동승자는 분노 표현을 줄이게 하는가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결과를 인문학적·심리적·사회적 관점으로 연결한다.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인문학적 관점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단순한 관찰자가 아니라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운전에 의존하는 타자다.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분노보다 보호 책임이 앞선다.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심리적 관점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화나는 상황의 의미가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“내가 당했다”에서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“안전하게 도착해야 한다”로 바뀐다.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관점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 안의 역할이 개인 운전자에서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누군가를 데려다주는 사람으로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바뀐다.</a:t>
            </a:r>
            <a:endParaRPr lang="ko-KR" sz="1680" dirty="0"/>
          </a:p>
        </p:txBody>
      </p:sp>
      <p:sp>
        <p:nvSpPr>
          <p:cNvPr id="28" name="Text 26"/>
          <p:cNvSpPr txBox="1"/>
          <p:nvPr/>
        </p:nvSpPr>
        <p:spPr>
          <a:xfrm>
            <a:off x="8188960" y="4810658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관계에 따라 억제와 동조가 달라진다.</a:t>
            </a:r>
            <a:endParaRPr lang="ko-KR" sz="1680" dirty="0"/>
          </a:p>
        </p:txBody>
      </p:sp>
      <p:sp>
        <p:nvSpPr>
          <p:cNvPr id="29" name="Shape 27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범위</a:t>
            </a:r>
            <a:endParaRPr lang="ko-KR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예비조사는 책임감이 빈번한 이유임을 보여주며, 원인 구조는 본조사에서 검증한다.</a:t>
            </a:r>
            <a:endParaRPr lang="ko-KR" sz="16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공간 해석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자동차는 감정과 관계가 함께 놓이는 공간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공적 도로, 사적 실내, 동승자와의 관계라는 세 층위로 이해한다.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공적 도로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끼어들기, 경적, 상향등 등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행동과 접촉하며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감정적 충돌을 경험한다.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사적 실내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혼잣말과 욕설 등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내부의 표현으로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나타날 수 있다.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관계적 공간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탑승하면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감정과 함께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안전을 고려한다.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초점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내부를 감정과 책임이 교차하는 생활공간으로 본다.</a:t>
            </a:r>
            <a:endParaRPr lang="ko-KR" sz="16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연구 문제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관찰에서 조사, 해석, 설계로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교수님 피드백을 통해 아래 질문의 범위와 우선순위를 정한다.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1 · 자극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도로 상황에서 분노와 불쾌감이 강하게 나타나는가?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2 · 표현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혼잣말, 욕설, 경적, 공격적 운전으로 어떻게 표출되는가?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3 · 동승자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존재와 유형은 감정 표현 및 행동 조절과 어떻게 연결되는가?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4 · 동기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책임감과 시선·체면 의식은 조절 이유로 어떻게 나타나는가?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5 · 설계</a:t>
            </a:r>
            <a:endParaRPr lang="ko-KR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경험을 책임감과 자기조절을 환기하는 AI로 구현할 수 있는가?</a:t>
            </a:r>
            <a:endParaRPr lang="ko-KR" sz="1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개념 모델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책임감이 감정 조절로 이어지는가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예비조사에서 도출한 탐색적 가설이며, 인과관계는 검증 전이다.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ko-KR" sz="1260" dirty="0"/>
          </a:p>
        </p:txBody>
      </p:sp>
      <p:sp>
        <p:nvSpPr>
          <p:cNvPr id="10" name="Shape 8"/>
          <p:cNvSpPr/>
          <p:nvPr/>
        </p:nvSpPr>
        <p:spPr>
          <a:xfrm>
            <a:off x="67056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560" y="2804160"/>
            <a:ext cx="20116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도로 자극</a:t>
            </a:r>
            <a:endParaRPr lang="ko-KR" sz="174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733800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</a:t>
            </a:r>
            <a:endParaRPr lang="ko-KR" sz="156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027018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끼어들기·지연</a:t>
            </a:r>
            <a:endParaRPr lang="ko-KR" sz="1560" dirty="0"/>
          </a:p>
        </p:txBody>
      </p:sp>
      <p:sp>
        <p:nvSpPr>
          <p:cNvPr id="14" name="Text 12"/>
          <p:cNvSpPr txBox="1"/>
          <p:nvPr/>
        </p:nvSpPr>
        <p:spPr>
          <a:xfrm>
            <a:off x="2567940" y="3139440"/>
            <a:ext cx="2971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620" dirty="0"/>
          </a:p>
        </p:txBody>
      </p:sp>
      <p:sp>
        <p:nvSpPr>
          <p:cNvPr id="15" name="Shape 13"/>
          <p:cNvSpPr/>
          <p:nvPr/>
        </p:nvSpPr>
        <p:spPr>
          <a:xfrm>
            <a:off x="286512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65120" y="2804160"/>
            <a:ext cx="20116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경험</a:t>
            </a:r>
            <a:endParaRPr lang="ko-KR" sz="1740" dirty="0"/>
          </a:p>
        </p:txBody>
      </p:sp>
      <p:sp>
        <p:nvSpPr>
          <p:cNvPr id="17" name="Text 15"/>
          <p:cNvSpPr txBox="1"/>
          <p:nvPr/>
        </p:nvSpPr>
        <p:spPr>
          <a:xfrm>
            <a:off x="2865120" y="3733800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불쾌감</a:t>
            </a:r>
            <a:endParaRPr lang="ko-KR" sz="1560" dirty="0"/>
          </a:p>
        </p:txBody>
      </p:sp>
      <p:sp>
        <p:nvSpPr>
          <p:cNvPr id="18" name="Text 16"/>
          <p:cNvSpPr txBox="1"/>
          <p:nvPr/>
        </p:nvSpPr>
        <p:spPr>
          <a:xfrm>
            <a:off x="2865120" y="4027018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표현·행동 충동</a:t>
            </a:r>
            <a:endParaRPr lang="ko-KR" sz="1560" dirty="0"/>
          </a:p>
        </p:txBody>
      </p:sp>
      <p:sp>
        <p:nvSpPr>
          <p:cNvPr id="19" name="Text 17"/>
          <p:cNvSpPr txBox="1"/>
          <p:nvPr/>
        </p:nvSpPr>
        <p:spPr>
          <a:xfrm>
            <a:off x="4762500" y="3139440"/>
            <a:ext cx="2971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620" dirty="0"/>
          </a:p>
        </p:txBody>
      </p:sp>
      <p:sp>
        <p:nvSpPr>
          <p:cNvPr id="20" name="Shape 18"/>
          <p:cNvSpPr/>
          <p:nvPr/>
        </p:nvSpPr>
        <p:spPr>
          <a:xfrm>
            <a:off x="505968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59680" y="2804160"/>
            <a:ext cx="20116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인식</a:t>
            </a:r>
            <a:endParaRPr lang="ko-KR" sz="1740" dirty="0"/>
          </a:p>
        </p:txBody>
      </p:sp>
      <p:sp>
        <p:nvSpPr>
          <p:cNvPr id="22" name="Text 20"/>
          <p:cNvSpPr txBox="1"/>
          <p:nvPr/>
        </p:nvSpPr>
        <p:spPr>
          <a:xfrm>
            <a:off x="5059680" y="3733800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있는 타인</a:t>
            </a:r>
            <a:endParaRPr lang="ko-KR" sz="1560" dirty="0"/>
          </a:p>
        </p:txBody>
      </p:sp>
      <p:sp>
        <p:nvSpPr>
          <p:cNvPr id="23" name="Text 21"/>
          <p:cNvSpPr txBox="1"/>
          <p:nvPr/>
        </p:nvSpPr>
        <p:spPr>
          <a:xfrm>
            <a:off x="5059680" y="4027018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인식</a:t>
            </a:r>
            <a:endParaRPr lang="ko-KR" sz="1560" dirty="0"/>
          </a:p>
        </p:txBody>
      </p:sp>
      <p:sp>
        <p:nvSpPr>
          <p:cNvPr id="24" name="Text 22"/>
          <p:cNvSpPr txBox="1"/>
          <p:nvPr/>
        </p:nvSpPr>
        <p:spPr>
          <a:xfrm>
            <a:off x="6957060" y="3139440"/>
            <a:ext cx="2971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620" dirty="0"/>
          </a:p>
        </p:txBody>
      </p:sp>
      <p:sp>
        <p:nvSpPr>
          <p:cNvPr id="25" name="Shape 23"/>
          <p:cNvSpPr/>
          <p:nvPr/>
        </p:nvSpPr>
        <p:spPr>
          <a:xfrm>
            <a:off x="7254240" y="2545080"/>
            <a:ext cx="2011680" cy="4572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54240" y="2804160"/>
            <a:ext cx="20116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</a:t>
            </a:r>
            <a:endParaRPr lang="ko-KR" sz="1740" dirty="0"/>
          </a:p>
        </p:txBody>
      </p:sp>
      <p:sp>
        <p:nvSpPr>
          <p:cNvPr id="27" name="Text 25"/>
          <p:cNvSpPr txBox="1"/>
          <p:nvPr/>
        </p:nvSpPr>
        <p:spPr>
          <a:xfrm>
            <a:off x="7254240" y="3733800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보호해야 한다는</a:t>
            </a:r>
            <a:endParaRPr lang="ko-KR" sz="1560" dirty="0"/>
          </a:p>
        </p:txBody>
      </p:sp>
      <p:sp>
        <p:nvSpPr>
          <p:cNvPr id="28" name="Text 26"/>
          <p:cNvSpPr txBox="1"/>
          <p:nvPr/>
        </p:nvSpPr>
        <p:spPr>
          <a:xfrm>
            <a:off x="7254240" y="4027018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 동기</a:t>
            </a:r>
            <a:endParaRPr lang="ko-KR" sz="1560" dirty="0"/>
          </a:p>
        </p:txBody>
      </p:sp>
      <p:sp>
        <p:nvSpPr>
          <p:cNvPr id="29" name="Text 27"/>
          <p:cNvSpPr txBox="1"/>
          <p:nvPr/>
        </p:nvSpPr>
        <p:spPr>
          <a:xfrm>
            <a:off x="9151620" y="3139440"/>
            <a:ext cx="2971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944880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48800" y="2804160"/>
            <a:ext cx="20116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표현·행동 조절</a:t>
            </a:r>
            <a:endParaRPr lang="ko-KR" sz="1740" dirty="0"/>
          </a:p>
        </p:txBody>
      </p:sp>
      <p:sp>
        <p:nvSpPr>
          <p:cNvPr id="32" name="Text 30"/>
          <p:cNvSpPr txBox="1"/>
          <p:nvPr/>
        </p:nvSpPr>
        <p:spPr>
          <a:xfrm>
            <a:off x="9448800" y="3733800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조절</a:t>
            </a:r>
            <a:endParaRPr lang="ko-KR" sz="1560" dirty="0"/>
          </a:p>
        </p:txBody>
      </p:sp>
      <p:sp>
        <p:nvSpPr>
          <p:cNvPr id="33" name="Text 31"/>
          <p:cNvSpPr txBox="1"/>
          <p:nvPr/>
        </p:nvSpPr>
        <p:spPr>
          <a:xfrm>
            <a:off x="9448800" y="4027018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행동 가능성</a:t>
            </a:r>
            <a:endParaRPr lang="ko-KR" sz="1560" dirty="0"/>
          </a:p>
        </p:txBody>
      </p:sp>
      <p:sp>
        <p:nvSpPr>
          <p:cNvPr id="34" name="Shape 32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AI로의 연결</a:t>
            </a:r>
            <a:endParaRPr lang="ko-KR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환기와 상황 재해석을 돕는 단서를 설계한다.</a:t>
            </a:r>
            <a:endParaRPr lang="ko-KR" sz="16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디자인 원칙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자기조절을 지원하는 세 가지 원칙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경험을 차량 내 AI 인터랙션으로 전환하기 위한 설계 가설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강도의 존재감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조용한 시각·청각 단서로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함께하는 느낌을 제공한다.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강도와 시점을 조절한다.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완충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고조 상황에서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조명·사운드·환기 등을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 긴장 완화를 돕는다.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환기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탄 사람의 안전과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도착의 중요성을 떠올리는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메시지를 제안한다.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기준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방해감·감시받는 느낌·사용자 선택권을 함께 고려한다.</a:t>
            </a:r>
            <a:endParaRPr lang="ko-KR" sz="16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프로토타입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비교할 세 가지 AI 인터랙션 모델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운전 상황에서 제시 방식에 따른 경험 차이를 비교한다.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· 시각적 존재감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대시보드·클러스터와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앰비언트 라이트를 활용한다.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안전 상태를 보여주는 빛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· 관계성 음성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가까운 사람을 연상시키는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짧고 부드러운 음성을 쓴다.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“천천히 가도 괜찮아요.”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· 가상 동승자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맥락에 맞춰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대화·음악·환기를 제안한다.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긴장 구간의 분위기 조율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지표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완화감 · 책임감 환기 · 방해감 · 신뢰감 · 수용성</a:t>
            </a:r>
            <a:endParaRPr lang="ko-KR" sz="16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연구 방법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문헌과 경험 자료를 설계·평가로 연결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 수와 구체적인 실험 방식은 교수님 피드백을 반영해 확정한다.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문헌연구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 척도, 감정 조절, 동승자 효과, 타자·책임, 차량 AI 검토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본 설문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문항 보완, 표본과 연령대 확대, 동승 관계와 영향 이유 조사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분석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기술통계, 적절한 평균 비교·교차분석, 정성 응답 코딩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제작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AI 모델과 상황별 인터랙션 시나리오 구현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</a:t>
            </a:r>
            <a:endParaRPr lang="ko-KR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시나리오, 목업 또는 주행 시뮬레이션을 활용한 사용자 평가</a:t>
            </a:r>
            <a:endParaRPr lang="ko-KR" sz="1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 계획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변화와 인터페이스 경험을 함께 측정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전후의 분노 경험과 표현·행동 억제를 구분해 살펴본다.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상황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끼어들기, 경적, 상향등,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지연 등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유발 운전 시나리오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조건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없음 / 시각적 존재감 /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관계성 음성 / 가상 동승자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순서와 자극 강도 고려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지표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경험·표현 조절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환기·감시받는 느낌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방해감·신뢰감·수용성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개입이 책임감과 자기조절 경험으로 이어지는가?</a:t>
            </a:r>
            <a:endParaRPr lang="ko-KR" sz="16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기대 기여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학술·인문학·디자인 관점의 기여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아래 항목은 연구 완료 후 기대하는 결과다.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 기여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분노와 동승자 효과를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연결하고, 조절 동기로서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책임감을 탐색한다.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인문학적 기여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 내부를 감정과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타인에 대한 책임이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교차하는 공간으로 읽는다.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기여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자기조절을 돕는 차량 AI의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방식과 강도를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HMI 설계 원칙으로 제안한다.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 분석 · AI 프로토타입 · 감정 조절 지원 설계 가이드</a:t>
            </a:r>
            <a:endParaRPr lang="ko-KR" sz="16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한계와 보완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자료로 말할 수 있는 범위를 구분한다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예비조사의 발견을 본조사와 평가에서 구체적으로 확인한다.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표본의 한계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N=33, 20대 69.7% → 연령과 운전 경력을 고려해 표본 확대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자기보고의 한계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행동과 다를 수 있음 → 시나리오·시뮬레이션 평가로 보완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기제 해석의 한계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선택 이유만으로 인과 추론 불가 → 책임감과 조절 경험을 별도 측정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이론의 보완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타자·책임은 해석적 관점 → 인문학 원전·선행 논문 검토 필요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설계의 검증</a:t>
            </a:r>
            <a:endParaRPr lang="ko-KR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효과는 아직 가설 → 개입 방식별 수용성과 방해감까지 평가</a:t>
            </a:r>
            <a:endParaRPr lang="ko-KR" sz="1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진행 일정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이후의 연구 진행 순서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기간은 연구 범위와 평가 방식 확정 후 배정한다.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241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· 이론과 질문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3241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검토 → 연구문제 정교화 → 교수님 피드백 반영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9108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099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· 본조사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099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문항 보완 → 응답 수집 → 정량·정성 분석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966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957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· 설계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957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원칙 도출 → 세 가지 AI 모델 제작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2824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3815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· 검증과 작성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3815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평가 → 결과 해석 → 설계 가이드와 논문 작성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할 일</a:t>
            </a:r>
            <a:endParaRPr lang="ko-KR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중심축 · 조사 문항 · 평가 방식의 우선순위를 확정한다.</a:t>
            </a:r>
            <a:endParaRPr lang="ko-KR" sz="16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교수님 피드백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면담에서 결정하고 싶은 다섯 가지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중심축과 검증 범위를 구체화하기 위한 질문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중심축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경험·타자성 해석과 차량 AI/HMI 설계의 비중을 어떻게 둘 것인가?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핵심 개념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책임감을 중심 개념으로 설정하는 것이 타당한가?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문헌 범위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심리학·교통안전·HCI·인문학 중 어떤 이론을 중심으로 보완할 것인가?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본조사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추가할 문항, 표본 조건, 책임감과 분노 조절의 측정 방식은 무엇인가?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 방식</a:t>
            </a:r>
            <a:endParaRPr lang="ko-KR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시나리오, 목업, 주행 시뮬레이션 중 어떤 접근이 적절한가?</a:t>
            </a:r>
            <a:endParaRPr lang="ko-KR" sz="16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· 참고문헌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참고문헌 1 / 2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 측정과 감정 조절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 출처: 프로젝트 references.bib · 기존 연구계획서 수록 문헌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2598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Deffenbacher et al. (1994)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40792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Development of a driving anger scale.</a:t>
            </a:r>
            <a:endParaRPr lang="ko-KR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264475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Psychological Reports, 74(1), 83–91.</a:t>
            </a:r>
            <a:endParaRPr lang="ko-KR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91084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Deffenbacher et al. (2002)</a:t>
            </a:r>
            <a:endParaRPr lang="ko-KR" sz="13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319278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driving anger expression inventory: a measure of how people express their anger on the road.</a:t>
            </a:r>
            <a:endParaRPr lang="ko-KR" sz="126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342961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Behaviour Research and Therapy, 40(6), 717–737.</a:t>
            </a:r>
            <a:endParaRPr lang="ko-KR" sz="1260" dirty="0"/>
          </a:p>
        </p:txBody>
      </p:sp>
      <p:sp>
        <p:nvSpPr>
          <p:cNvPr id="16" name="Text 14"/>
          <p:cNvSpPr txBox="1"/>
          <p:nvPr/>
        </p:nvSpPr>
        <p:spPr>
          <a:xfrm>
            <a:off x="670560" y="369570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신용균·한덕웅·류준범 (2009)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397764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운전분노척도에 의한 과속운전 행동의 예측.</a:t>
            </a:r>
            <a:endParaRPr lang="ko-KR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670560" y="421447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한국심리학회지: 건강, 14(1), 159–173.</a:t>
            </a:r>
            <a:endParaRPr lang="ko-KR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670560" y="448056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 (1998)</a:t>
            </a:r>
            <a:endParaRPr lang="ko-KR" sz="138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76250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Antecedent- and response-focused emotion regulation: Divergent consequences for experience,</a:t>
            </a:r>
            <a:endParaRPr lang="ko-KR" sz="126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499933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expression, and physiology. Journal of Personality and Social Psychology, 74(1), 224–237.</a:t>
            </a:r>
            <a:endParaRPr lang="ko-KR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70560" y="526542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Harris &amp; Nass (2011)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670560" y="554736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Emotion regulation for frustrating driving contexts.</a:t>
            </a:r>
            <a:endParaRPr lang="ko-KR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670560" y="578419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Proceedings of CHI, 749–752.</a:t>
            </a:r>
            <a:endParaRPr lang="ko-KR" sz="12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· 참고문헌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참고문헌 2 / 2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효과와 차량 내 에이전트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 출처: 프로젝트 references.bib · 기존 연구계획서 수록 문헌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2598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Baxter et al. (1990)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40792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Social facilitation and driver behaviour.</a:t>
            </a:r>
            <a:endParaRPr lang="ko-KR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264475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British Journal of Psychology, 81(3), 351–360.</a:t>
            </a:r>
            <a:endParaRPr lang="ko-KR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91084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Vollrath et al. (2002)</a:t>
            </a:r>
            <a:endParaRPr lang="ko-KR" sz="13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319278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the presence of passengers influences the risk of a collision with another vehicle.</a:t>
            </a:r>
            <a:endParaRPr lang="ko-KR" sz="126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342961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Accident Analysis and Prevention, 34(5), 649–654.</a:t>
            </a:r>
            <a:endParaRPr lang="ko-KR" sz="1260" dirty="0"/>
          </a:p>
        </p:txBody>
      </p:sp>
      <p:sp>
        <p:nvSpPr>
          <p:cNvPr id="16" name="Text 14"/>
          <p:cNvSpPr txBox="1"/>
          <p:nvPr/>
        </p:nvSpPr>
        <p:spPr>
          <a:xfrm>
            <a:off x="670560" y="369570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Lee &amp; Abdel-Aty (2008)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397764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Presence of passengers: Does it increase or reduce driver's crash potential?</a:t>
            </a:r>
            <a:endParaRPr lang="ko-KR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670560" y="421447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Accident Analysis and Prevention, 40(5), 1703–1712.</a:t>
            </a:r>
            <a:endParaRPr lang="ko-KR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670560" y="448056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Jeon, Walker, &amp; Gable (2015)</a:t>
            </a:r>
            <a:endParaRPr lang="ko-KR" sz="138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76250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effects of social interactions with in-vehicle agents on a driver's anger level, driving performance,</a:t>
            </a:r>
            <a:endParaRPr lang="ko-KR" sz="126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499933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situation awareness, and perceived workload. Applied Ergonomics, 50, 185–199.</a:t>
            </a:r>
            <a:endParaRPr lang="ko-KR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70560" y="526542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Nass &amp; Moon (2000)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670560" y="554736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컴퓨터에 대한 사회적 반응 관련 문헌 · 기존 연구계획서 인용</a:t>
            </a:r>
            <a:endParaRPr lang="ko-KR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670560" y="578419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논문 작성 시 원문과 상세 서지정보 확인 필요</a:t>
            </a:r>
            <a:endParaRPr lang="ko-KR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동승자 존재와 운전자 분노 조절 | 연구계획</dc:title>
  <dc:subject>교수님 피드백용 연구계획</dc:subject>
  <dc:creator>서종휘</dc:creator>
  <cp:lastModifiedBy>서종휘</cp:lastModifiedBy>
  <cp:revision>1</cp:revision>
  <dcterms:created xsi:type="dcterms:W3CDTF">2026-09-07T17:20:46Z</dcterms:created>
  <dcterms:modified xsi:type="dcterms:W3CDTF">2026-09-07T17:20:46Z</dcterms:modified>
</cp:coreProperties>
</file>