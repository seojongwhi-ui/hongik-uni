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원제: 동승자 존재가 운전자 분노 조절에 미치는 영향과 차량 내 AI 인터페이스 설계 연구. 홍익대학교 일반대학원 산업디자인과 서종휘.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RESEARCH PROPOSAL · 2026.09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존재와 운전자 분노 조절</a:t>
            </a:r>
            <a:endParaRPr lang="ko-KR" sz="3600" dirty="0"/>
          </a:p>
        </p:txBody>
      </p:sp>
      <p:sp>
        <p:nvSpPr>
          <p:cNvPr id="5" name="Shape 3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홍익대학교 일반대학원 산업디자인과 · 서종휘 · 교수님 피드백용</a:t>
            </a:r>
            <a:endParaRPr lang="ko-KR" sz="1080" dirty="0"/>
          </a:p>
        </p:txBody>
      </p:sp>
      <p:sp>
        <p:nvSpPr>
          <p:cNvPr id="8" name="Text 6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</a:t>
            </a:r>
            <a:endParaRPr lang="ko-KR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70560" y="237744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 AI 인터페이스 설계 연구</a:t>
            </a:r>
            <a:endParaRPr lang="ko-KR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701040" y="3512820"/>
            <a:ext cx="103632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 확인된 동승자 효과와 AI 설계 연구</a:t>
            </a:r>
            <a:endParaRPr lang="ko-KR" sz="1440" dirty="0"/>
          </a:p>
        </p:txBody>
      </p:sp>
      <p:sp>
        <p:nvSpPr>
          <p:cNvPr id="11" name="Shape 9"/>
          <p:cNvSpPr/>
          <p:nvPr/>
        </p:nvSpPr>
        <p:spPr>
          <a:xfrm>
            <a:off x="670560" y="4396740"/>
            <a:ext cx="609600" cy="3810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70560" y="4724400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동승자가 있을 때와 비슷한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5175504"/>
            <a:ext cx="101346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자기조절 경험을 만들 수 있는가?</a:t>
            </a:r>
            <a:endParaRPr lang="ko-KR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발표 구성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연구의 전개 순서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배경에서 예비조사 결과와 향후 연구계획으로 이어지는 구조다.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연구 배경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 경험과 동승자 존재에 따른 자기조절 현상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조사 목적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해당 현상이 다른 운전자에게도 나타나는지 예비조사로 확인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설문 개요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특성, 문항 구성, 분석 범위 정리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설문 결과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유발 상황, 반응 방식, 동승자 영향과 변화 이유 제시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5. 향후 연구계획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선행연구 보완, 본조사, AI 인터페이스 설계와 평가 방향 정리</a:t>
            </a:r>
            <a:endParaRPr lang="ko-KR" sz="14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배경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관찰된 현상에서 출발한 문제의식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때와 누군가 함께 탈 때의 감정 표현 차이에 주목했다.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중 분노가 발생하는 상황에서도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2630424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때는 감정 표현과 행동이</a:t>
            </a:r>
            <a:endParaRPr lang="ko-KR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670560" y="3081528"/>
            <a:ext cx="108508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상대적으로 조절되는 경험이 관찰되었다.</a:t>
            </a:r>
            <a:endParaRPr lang="ko-KR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 경험은 단순한 예절이나 체면의 문제가 아니라,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70560" y="4476902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차량 내부의 관계와 안전 책임이 운전자의 반응을 바꾸는 현상일 수 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문제의식</a:t>
            </a:r>
            <a:endParaRPr lang="ko-KR" sz="2400" dirty="0"/>
          </a:p>
        </p:txBody>
      </p:sp>
      <p:sp>
        <p:nvSpPr>
          <p:cNvPr id="17" name="Text 15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이러한 변화가 다른 운전자에게도 나타나는지 예비조사를 통해 확인하고자 했다.</a:t>
            </a:r>
            <a:endParaRPr lang="ko-KR" sz="14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연구 목적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때의 감정 조절을 어떻게 도울 수 있을까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차량 AI 경험으로 전환할 가능성을 탐색한다.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286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경험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286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표현과 위험한 반응을 줄이게 되는 순간이 있다.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918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3017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질문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3017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때도 비슷한 감정 조절 경험을 만들 수 있을까?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49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49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가능성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49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AI가 감시자가 아니라 동승자의 존재감과 책임감을 환기할 수 있을까?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815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80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기대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80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 표현과 위험 행동을 낮춰 사고 예방 가능성을 높일 수 있을까?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설계 방향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AI는 운전자를 꾸짖는 장치보다, 스스로 조절하게 돕는 동승자적 단서로 접근한다.</a:t>
            </a:r>
            <a:endParaRPr lang="ko-KR" sz="144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01 · 조사 이유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효과를 예비조사로 확인했다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설문은 이론 검증보다 문제 발견과 방향 확인을 위한 예비조사로 진행했다.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05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48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1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48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운전자들은 운전 중 분노를 경험하는가?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041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032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2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032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어떤 상황에서 특히 강하게 나타나는가?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585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576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3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576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어떤 방식으로 반응하는가?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3129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4119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4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4119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분노 표현을 낮추는가, 혹은 감정 동조를 통해 높이는가?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067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70560" y="5166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 5</a:t>
            </a:r>
            <a:endParaRPr lang="ko-KR" sz="1440" dirty="0"/>
          </a:p>
        </p:txBody>
      </p:sp>
      <p:sp>
        <p:nvSpPr>
          <p:cNvPr id="23" name="Text 21"/>
          <p:cNvSpPr txBox="1"/>
          <p:nvPr/>
        </p:nvSpPr>
        <p:spPr>
          <a:xfrm>
            <a:off x="3215640" y="5166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그 변화의 이유가 시선 의식인지, 안전 책임감인지 확인할 수 있는가?</a:t>
            </a:r>
            <a:endParaRPr lang="ko-KR" sz="14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예비조사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설문조사 개요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상황에서의 감정 및 행동 변화 조사 · 유효 응답 33명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06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33명</a:t>
            </a:r>
            <a:endParaRPr lang="ko-KR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유효 응답</a:t>
            </a:r>
            <a:endParaRPr lang="ko-KR" sz="1440" dirty="0"/>
          </a:p>
        </p:txBody>
      </p:sp>
      <p:sp>
        <p:nvSpPr>
          <p:cNvPr id="12" name="Text 10"/>
          <p:cNvSpPr txBox="1"/>
          <p:nvPr/>
        </p:nvSpPr>
        <p:spPr>
          <a:xfrm>
            <a:off x="345948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69.7%</a:t>
            </a:r>
            <a:endParaRPr lang="ko-KR" sz="3600" dirty="0"/>
          </a:p>
        </p:txBody>
      </p:sp>
      <p:sp>
        <p:nvSpPr>
          <p:cNvPr id="13" name="Text 11"/>
          <p:cNvSpPr txBox="1"/>
          <p:nvPr/>
        </p:nvSpPr>
        <p:spPr>
          <a:xfrm>
            <a:off x="345948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20대 비중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624840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90.9%</a:t>
            </a:r>
            <a:endParaRPr lang="ko-KR" sz="3600" dirty="0"/>
          </a:p>
        </p:txBody>
      </p:sp>
      <p:sp>
        <p:nvSpPr>
          <p:cNvPr id="15" name="Text 13"/>
          <p:cNvSpPr txBox="1"/>
          <p:nvPr/>
        </p:nvSpPr>
        <p:spPr>
          <a:xfrm>
            <a:off x="624840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 빈도: 가끔~항상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9037320" y="2377440"/>
            <a:ext cx="248412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42.4%</a:t>
            </a:r>
            <a:endParaRPr lang="ko-KR" sz="3600" dirty="0"/>
          </a:p>
        </p:txBody>
      </p:sp>
      <p:sp>
        <p:nvSpPr>
          <p:cNvPr id="17" name="Text 15"/>
          <p:cNvSpPr txBox="1"/>
          <p:nvPr/>
        </p:nvSpPr>
        <p:spPr>
          <a:xfrm>
            <a:off x="9037320" y="3223260"/>
            <a:ext cx="25146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주요 목적: 출퇴근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0386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2062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여성 18명 · 남성 15명  |  최근 6개월 이내 운전 경험이 있는 성인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670560" y="481584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DAS·K-DAS 참고 재구성 문항 / 5점 척도 / 유형·이유 선택 / 정성 경험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563118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원척도 전체를 그대로 적용한 검사가 아니며, 리워드용 개인정보는 분석과 분리한다.</a:t>
            </a:r>
            <a:endParaRPr lang="ko-KR" sz="144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1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운전자는 어떤 상황에서 분노를 경험하는가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상황별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07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적대적 표현: 경적·상향등·손짓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81987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3.88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갑작스러운 끼어들기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333746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3.39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타인의 교통법규 위반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330793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3.36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교통 체증·이동시간 지연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21932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3.27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뒤차의 안전거리 미확보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71652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3.12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앞차의 지나친 서행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2983047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3.03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응답자들도 타인의 적대적 표현과 돌발 행동에서 강한 불쾌감을 경험했다.</a:t>
            </a:r>
            <a:endParaRPr lang="ko-KR" sz="144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2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분노가 발생했을 때 어떻게 반응하는가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표현 방식별 평균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기술통계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08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혼잣말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367004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3.42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욕설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256955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2.61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경적 사용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211668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2.15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공격적 운전 경험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보복 행동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5850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1.61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실제 보복 행동보다 차량 내부의 혼잣말과 욕설로 먼저 나타나는 경향이 있었다.</a:t>
            </a:r>
            <a:endParaRPr lang="ko-KR" sz="144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3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있으면 분노 표현을 조절하는가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존재에 따른 변화 · 5점 척도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자기보고 응답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09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2.5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13360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43840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감정 표현 조절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51460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514600"/>
            <a:ext cx="3997086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43078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4.06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95656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화나는 상황에서 행동 참음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303276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3032760"/>
            <a:ext cx="3967551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94894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4.03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47472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행동 변화 지각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55092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550920"/>
            <a:ext cx="346545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46710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3.52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99288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반응에 따른 행동 변화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406908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4069080"/>
            <a:ext cx="274676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98526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2.79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5110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오히려 감정 표현 증가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5872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587240"/>
            <a:ext cx="193947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5034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1.97</a:t>
            </a:r>
            <a:endParaRPr lang="ko-KR" sz="1440" dirty="0"/>
          </a:p>
        </p:txBody>
      </p:sp>
      <p:sp>
        <p:nvSpPr>
          <p:cNvPr id="33" name="Shape 31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확인된 점</a:t>
            </a:r>
            <a:endParaRPr lang="ko-KR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응답자 다수도 동승자가 있을 때 감정 표현과 행동을 조절한다고 응답했다.</a:t>
            </a:r>
            <a:endParaRPr lang="ko-KR" sz="144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핵심 결과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왜 완화되는가: 시선보다 안전 책임감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초기 가정은 시선 의식이었으나, 예비조사에서는 안전 책임감이 더 크게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영향 이유 단일 선택 · N=33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331720"/>
            <a:ext cx="701040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안전에 대한 책임감</a:t>
            </a:r>
            <a:endParaRPr lang="ko-KR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70560" y="3154680"/>
            <a:ext cx="6705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36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" y="4541520"/>
            <a:ext cx="53340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21명 / 33명</a:t>
            </a:r>
            <a:endParaRPr lang="ko-KR" sz="1440" dirty="0"/>
          </a:p>
        </p:txBody>
      </p:sp>
      <p:sp>
        <p:nvSpPr>
          <p:cNvPr id="13" name="Shape 11"/>
          <p:cNvSpPr/>
          <p:nvPr/>
        </p:nvSpPr>
        <p:spPr>
          <a:xfrm>
            <a:off x="7924800" y="2346960"/>
            <a:ext cx="15240" cy="269748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321040" y="236982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시선·체면 관련 응답</a:t>
            </a:r>
            <a:endParaRPr lang="ko-KR" sz="1440" dirty="0"/>
          </a:p>
        </p:txBody>
      </p:sp>
      <p:sp>
        <p:nvSpPr>
          <p:cNvPr id="15" name="Text 13"/>
          <p:cNvSpPr txBox="1"/>
          <p:nvPr/>
        </p:nvSpPr>
        <p:spPr>
          <a:xfrm>
            <a:off x="8321040" y="300990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</a:t>
            </a:r>
            <a:endParaRPr lang="ko-KR" sz="144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328056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 · 3명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137660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</a:t>
            </a:r>
            <a:endParaRPr lang="ko-KR" sz="144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4408322"/>
            <a:ext cx="3200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 · 2명</a:t>
            </a:r>
            <a:endParaRPr lang="ko-KR" sz="1440" dirty="0"/>
          </a:p>
        </p:txBody>
      </p:sp>
      <p:sp>
        <p:nvSpPr>
          <p:cNvPr id="19" name="Shape 17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핵심 전환</a:t>
            </a:r>
            <a:endParaRPr lang="ko-KR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동승자는 감시하는 시선보다, 운전자가 보호해야 할 사람으로 경험될 가능성이 크다.</a:t>
            </a:r>
            <a:endParaRPr lang="ko-KR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4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영향을 미치는 이유 전체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가장 큰 이유를 선택한 응답 비율 · 합계는 반올림으로 100%와 다를 수 있음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11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안전 책임감 · 21명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3130723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63.6%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영향을 거의 받지 않음 · 4명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좋은 모습을 보이고 싶음 · 3명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다른 사람이 보고 있음 · 2명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함께 감정을 공유함 · 2명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300274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6.1%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동승자의 반응이나 말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확인할 점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책임감은 가장 빈번한 응답이며, 인과적 기제는 후속 연구 과제다.</a:t>
            </a:r>
            <a:endParaRPr lang="ko-KR" sz="144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02 · 결과 5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누가 탔을 때 가장 조절되는가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가족이 가장 많았고, 유형 차이를 느끼지 않는 응답도 나타났다.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출처: 설문결과_통계분석보고서 · N=33 · 단일 선택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16636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</a:t>
            </a:r>
            <a:endParaRPr lang="ko-KR" sz="1080" dirty="0"/>
          </a:p>
        </p:txBody>
      </p:sp>
      <p:sp>
        <p:nvSpPr>
          <p:cNvPr id="11" name="Text 9"/>
          <p:cNvSpPr txBox="1"/>
          <p:nvPr/>
        </p:nvSpPr>
        <p:spPr>
          <a:xfrm>
            <a:off x="762762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50</a:t>
            </a:r>
            <a:endParaRPr lang="ko-KR" sz="1080" dirty="0"/>
          </a:p>
        </p:txBody>
      </p:sp>
      <p:sp>
        <p:nvSpPr>
          <p:cNvPr id="12" name="Text 10"/>
          <p:cNvSpPr txBox="1"/>
          <p:nvPr/>
        </p:nvSpPr>
        <p:spPr>
          <a:xfrm>
            <a:off x="10088880" y="2034540"/>
            <a:ext cx="3810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100</a:t>
            </a:r>
            <a:endParaRPr lang="ko-KR" sz="1080" dirty="0"/>
          </a:p>
        </p:txBody>
      </p:sp>
      <p:sp>
        <p:nvSpPr>
          <p:cNvPr id="13" name="Text 11"/>
          <p:cNvSpPr txBox="1"/>
          <p:nvPr/>
        </p:nvSpPr>
        <p:spPr>
          <a:xfrm>
            <a:off x="670560" y="2339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가족 · 11명</a:t>
            </a:r>
            <a:endParaRPr lang="ko-KR" sz="1440" dirty="0"/>
          </a:p>
        </p:txBody>
      </p:sp>
      <p:sp>
        <p:nvSpPr>
          <p:cNvPr id="14" name="Shape 12"/>
          <p:cNvSpPr/>
          <p:nvPr/>
        </p:nvSpPr>
        <p:spPr>
          <a:xfrm>
            <a:off x="5318760" y="2415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18760" y="2415540"/>
            <a:ext cx="1639199" cy="175260"/>
          </a:xfrm>
          <a:prstGeom prst="rect">
            <a:avLst/>
          </a:prstGeom>
          <a:solidFill>
            <a:srgbClr val="087E83"/>
          </a:solidFill>
          <a:ln w="12700">
            <a:solidFill>
              <a:srgbClr val="087E83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439400" y="2331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33.3%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670560" y="27965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유형에 따른 차이 없음 · 9명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5318760" y="28727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318760" y="2872740"/>
            <a:ext cx="1343848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10439400" y="27889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27.3%</a:t>
            </a:r>
            <a:endParaRPr lang="ko-KR" sz="1440" dirty="0"/>
          </a:p>
        </p:txBody>
      </p:sp>
      <p:sp>
        <p:nvSpPr>
          <p:cNvPr id="21" name="Text 19"/>
          <p:cNvSpPr txBox="1"/>
          <p:nvPr/>
        </p:nvSpPr>
        <p:spPr>
          <a:xfrm>
            <a:off x="670560" y="32537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낯선 사람 · 5명</a:t>
            </a:r>
            <a:endParaRPr lang="ko-KR" sz="1440" dirty="0"/>
          </a:p>
        </p:txBody>
      </p:sp>
      <p:sp>
        <p:nvSpPr>
          <p:cNvPr id="22" name="Shape 20"/>
          <p:cNvSpPr/>
          <p:nvPr/>
        </p:nvSpPr>
        <p:spPr>
          <a:xfrm>
            <a:off x="5318760" y="33299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318760" y="3329940"/>
            <a:ext cx="748223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10439400" y="32461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15.2%</a:t>
            </a:r>
            <a:endParaRPr lang="ko-KR" sz="1440" dirty="0"/>
          </a:p>
        </p:txBody>
      </p:sp>
      <p:sp>
        <p:nvSpPr>
          <p:cNvPr id="25" name="Text 23"/>
          <p:cNvSpPr txBox="1"/>
          <p:nvPr/>
        </p:nvSpPr>
        <p:spPr>
          <a:xfrm>
            <a:off x="670560" y="37109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연인 · 4명</a:t>
            </a:r>
            <a:endParaRPr lang="ko-KR" sz="1440" dirty="0"/>
          </a:p>
        </p:txBody>
      </p:sp>
      <p:sp>
        <p:nvSpPr>
          <p:cNvPr id="26" name="Shape 24"/>
          <p:cNvSpPr/>
          <p:nvPr/>
        </p:nvSpPr>
        <p:spPr>
          <a:xfrm>
            <a:off x="5318760" y="37871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18760" y="3787140"/>
            <a:ext cx="595625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439400" y="37033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12.1%</a:t>
            </a:r>
            <a:endParaRPr lang="ko-KR" sz="1440" dirty="0"/>
          </a:p>
        </p:txBody>
      </p:sp>
      <p:sp>
        <p:nvSpPr>
          <p:cNvPr id="29" name="Text 27"/>
          <p:cNvSpPr txBox="1"/>
          <p:nvPr/>
        </p:nvSpPr>
        <p:spPr>
          <a:xfrm>
            <a:off x="670560" y="41681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직장 동료 · 3명</a:t>
            </a:r>
            <a:endParaRPr lang="ko-KR" sz="1440" dirty="0"/>
          </a:p>
        </p:txBody>
      </p:sp>
      <p:sp>
        <p:nvSpPr>
          <p:cNvPr id="30" name="Shape 28"/>
          <p:cNvSpPr/>
          <p:nvPr/>
        </p:nvSpPr>
        <p:spPr>
          <a:xfrm>
            <a:off x="5318760" y="42443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18760" y="4244340"/>
            <a:ext cx="447949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0439400" y="41605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9.1%</a:t>
            </a:r>
            <a:endParaRPr lang="ko-KR" sz="1440" dirty="0"/>
          </a:p>
        </p:txBody>
      </p:sp>
      <p:sp>
        <p:nvSpPr>
          <p:cNvPr id="33" name="Text 31"/>
          <p:cNvSpPr txBox="1"/>
          <p:nvPr/>
        </p:nvSpPr>
        <p:spPr>
          <a:xfrm>
            <a:off x="670560" y="4625340"/>
            <a:ext cx="440436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친구 · 1명</a:t>
            </a:r>
            <a:endParaRPr lang="ko-KR" sz="1440" dirty="0"/>
          </a:p>
        </p:txBody>
      </p:sp>
      <p:sp>
        <p:nvSpPr>
          <p:cNvPr id="34" name="Shape 32"/>
          <p:cNvSpPr/>
          <p:nvPr/>
        </p:nvSpPr>
        <p:spPr>
          <a:xfrm>
            <a:off x="5318760" y="4701540"/>
            <a:ext cx="4922520" cy="175260"/>
          </a:xfrm>
          <a:prstGeom prst="rect">
            <a:avLst/>
          </a:prstGeom>
          <a:solidFill>
            <a:srgbClr val="EDF1F2"/>
          </a:solidFill>
          <a:ln w="12700">
            <a:solidFill>
              <a:srgbClr val="EDF1F2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5318760" y="4701540"/>
            <a:ext cx="147676" cy="175260"/>
          </a:xfrm>
          <a:prstGeom prst="rect">
            <a:avLst/>
          </a:prstGeom>
          <a:solidFill>
            <a:srgbClr val="A8B7B9"/>
          </a:solidFill>
          <a:ln w="12700">
            <a:solidFill>
              <a:srgbClr val="A8B7B9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0439400" y="4617720"/>
            <a:ext cx="10820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3.0%</a:t>
            </a:r>
            <a:endParaRPr lang="ko-KR" sz="1440" dirty="0"/>
          </a:p>
        </p:txBody>
      </p:sp>
      <p:sp>
        <p:nvSpPr>
          <p:cNvPr id="37" name="Shape 35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후속 분석</a:t>
            </a:r>
            <a:endParaRPr lang="ko-KR" sz="2400" dirty="0"/>
          </a:p>
        </p:txBody>
      </p:sp>
      <p:sp>
        <p:nvSpPr>
          <p:cNvPr id="39" name="Text 37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관계의 친밀도와 보호 책임감이 어떻게 연결되는지 살펴본다.</a:t>
            </a:r>
            <a:endParaRPr lang="ko-KR" sz="14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설문 인사이트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결과값에서 도출한 연구 초점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 결과는 동승자 존재와 책임감의 관계를 연구할 필요성을 보여준다.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13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793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1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793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운전 분노는 경적·상향등·손짓처럼 타인의 적대적 표현에서 가장 강하게 나타났다.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117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108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2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108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분노는 보복 행동보다 혼잣말, 욕설 등 차량 내부 표현으로 먼저 나타나는 경향이 있었다.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54330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6423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3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6423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동승자가 있을 때 감정 표현 조절과 행동 억제가 모두 높게 응답되었다.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2748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37388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인사이트 4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37388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조절 이유는 시선 의식보다 동승자의 안전에 대한 책임감이 가장 크게 나타났다.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 초점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존재가 책임감과 감정 표현 조절로 이어지는 과정을 연구한다.</a:t>
            </a:r>
            <a:endParaRPr lang="ko-KR" sz="144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70560" y="289560"/>
            <a:ext cx="1028700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03 · 향후 연구계획</a:t>
            </a:r>
            <a:endParaRPr lang="ko-KR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670560" y="693420"/>
            <a:ext cx="108508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360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설문 결과 이후의 연구 진행 방향</a:t>
            </a:r>
            <a:endParaRPr lang="ko-KR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670560" y="1470660"/>
            <a:ext cx="1085088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결과 해석과 설계 제안은 후속 연구 단계에서 보완한다.</a:t>
            </a:r>
            <a:endParaRPr lang="ko-KR" sz="1440" dirty="0"/>
          </a:p>
        </p:txBody>
      </p:sp>
      <p:sp>
        <p:nvSpPr>
          <p:cNvPr id="6" name="Shape 4"/>
          <p:cNvSpPr/>
          <p:nvPr/>
        </p:nvSpPr>
        <p:spPr>
          <a:xfrm>
            <a:off x="670560" y="19278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0560" y="629412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70560" y="6423660"/>
            <a:ext cx="10058400" cy="20299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080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연구계획서 초안 · 교수님 피드백용</a:t>
            </a:r>
            <a:endParaRPr lang="ko-KR" sz="1080" dirty="0"/>
          </a:p>
        </p:txBody>
      </p:sp>
      <p:sp>
        <p:nvSpPr>
          <p:cNvPr id="9" name="Text 7"/>
          <p:cNvSpPr txBox="1"/>
          <p:nvPr/>
        </p:nvSpPr>
        <p:spPr>
          <a:xfrm>
            <a:off x="10972800" y="6400800"/>
            <a:ext cx="548640" cy="225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lnSpc>
                <a:spcPct val="100000"/>
              </a:lnSpc>
              <a:buNone/>
            </a:pPr>
            <a:r>
              <a:rPr lang="ko-KR" altLang="en-US" sz="1200" b="1" dirty="0">
                <a:solidFill>
                  <a:srgbClr val="626D70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14</a:t>
            </a:r>
            <a:endParaRPr lang="ko-KR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70560" y="219456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1. 선행연구 보완</a:t>
            </a:r>
            <a:endParaRPr lang="ko-KR" sz="1440" dirty="0"/>
          </a:p>
        </p:txBody>
      </p:sp>
      <p:sp>
        <p:nvSpPr>
          <p:cNvPr id="11" name="Text 9"/>
          <p:cNvSpPr txBox="1"/>
          <p:nvPr/>
        </p:nvSpPr>
        <p:spPr>
          <a:xfrm>
            <a:off x="3215640" y="219456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인문학: 타자·책임·관계 / 심리: 분노 조절·상황 재평가 / 사회: 동승자·체면·감정 동조</a:t>
            </a:r>
            <a:endParaRPr lang="ko-KR" sz="1440" dirty="0"/>
          </a:p>
        </p:txBody>
      </p:sp>
      <p:sp>
        <p:nvSpPr>
          <p:cNvPr id="12" name="Shape 10"/>
          <p:cNvSpPr/>
          <p:nvPr/>
        </p:nvSpPr>
        <p:spPr>
          <a:xfrm>
            <a:off x="670560" y="288798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0560" y="298704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2. 본조사 설계</a:t>
            </a:r>
            <a:endParaRPr lang="ko-KR" sz="1440" dirty="0"/>
          </a:p>
        </p:txBody>
      </p:sp>
      <p:sp>
        <p:nvSpPr>
          <p:cNvPr id="14" name="Text 12"/>
          <p:cNvSpPr txBox="1"/>
          <p:nvPr/>
        </p:nvSpPr>
        <p:spPr>
          <a:xfrm>
            <a:off x="3215640" y="298704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예비조사 문항을 보완하고 표본 수, 연령대, 운전 경력 범위를 확대한다.</a:t>
            </a:r>
            <a:endParaRPr lang="ko-KR" sz="1440" dirty="0"/>
          </a:p>
        </p:txBody>
      </p:sp>
      <p:sp>
        <p:nvSpPr>
          <p:cNvPr id="15" name="Shape 13"/>
          <p:cNvSpPr/>
          <p:nvPr/>
        </p:nvSpPr>
        <p:spPr>
          <a:xfrm>
            <a:off x="670560" y="368046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0560" y="377952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3. 분석 방향</a:t>
            </a:r>
            <a:endParaRPr lang="ko-KR" sz="1440" dirty="0"/>
          </a:p>
        </p:txBody>
      </p:sp>
      <p:sp>
        <p:nvSpPr>
          <p:cNvPr id="17" name="Text 15"/>
          <p:cNvSpPr txBox="1"/>
          <p:nvPr/>
        </p:nvSpPr>
        <p:spPr>
          <a:xfrm>
            <a:off x="3215640" y="377952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동승자 유형, 안전 책임감, 시선 의식, 감정 표현 조절의 관계를 비교한다.</a:t>
            </a:r>
            <a:endParaRPr lang="ko-KR" sz="1440" dirty="0"/>
          </a:p>
        </p:txBody>
      </p:sp>
      <p:sp>
        <p:nvSpPr>
          <p:cNvPr id="18" name="Shape 16"/>
          <p:cNvSpPr/>
          <p:nvPr/>
        </p:nvSpPr>
        <p:spPr>
          <a:xfrm>
            <a:off x="670560" y="4472940"/>
            <a:ext cx="10850880" cy="11430"/>
          </a:xfrm>
          <a:prstGeom prst="rect">
            <a:avLst/>
          </a:prstGeom>
          <a:solidFill>
            <a:srgbClr val="DAE1E2"/>
          </a:solidFill>
          <a:ln w="12700">
            <a:solidFill>
              <a:srgbClr val="DAE1E2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70560" y="4572000"/>
            <a:ext cx="230124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4. AI 설계 검토</a:t>
            </a:r>
            <a:endParaRPr lang="ko-KR" sz="1440" dirty="0"/>
          </a:p>
        </p:txBody>
      </p:sp>
      <p:sp>
        <p:nvSpPr>
          <p:cNvPr id="20" name="Text 18"/>
          <p:cNvSpPr txBox="1"/>
          <p:nvPr/>
        </p:nvSpPr>
        <p:spPr>
          <a:xfrm>
            <a:off x="3215640" y="4572000"/>
            <a:ext cx="83058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혼자 운전할 때 동승자적 존재감과 안전 책임감을 환기하는 인터페이스 가능성을 탐색한다.</a:t>
            </a:r>
            <a:endParaRPr lang="ko-KR" sz="1440" dirty="0"/>
          </a:p>
        </p:txBody>
      </p:sp>
      <p:sp>
        <p:nvSpPr>
          <p:cNvPr id="21" name="Shape 19"/>
          <p:cNvSpPr/>
          <p:nvPr/>
        </p:nvSpPr>
        <p:spPr>
          <a:xfrm>
            <a:off x="670560" y="5364480"/>
            <a:ext cx="10850880" cy="716280"/>
          </a:xfrm>
          <a:prstGeom prst="rect">
            <a:avLst/>
          </a:prstGeom>
          <a:solidFill>
            <a:srgbClr val="EAF5F4"/>
          </a:solidFill>
          <a:ln w="12700">
            <a:solidFill>
              <a:srgbClr val="EAF5F4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53440" y="5494020"/>
            <a:ext cx="1630680" cy="4511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2400" b="1" dirty="0">
                <a:solidFill>
                  <a:srgbClr val="087E83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정리</a:t>
            </a:r>
            <a:endParaRPr lang="ko-KR" sz="2400" dirty="0"/>
          </a:p>
        </p:txBody>
      </p:sp>
      <p:sp>
        <p:nvSpPr>
          <p:cNvPr id="23" name="Text 21"/>
          <p:cNvSpPr txBox="1"/>
          <p:nvPr/>
        </p:nvSpPr>
        <p:spPr>
          <a:xfrm>
            <a:off x="2712720" y="5554980"/>
            <a:ext cx="8534400" cy="27066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ko-KR" altLang="en-US" sz="1440" b="1" dirty="0">
                <a:solidFill>
                  <a:srgbClr val="202628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현재 발표 범위는 예비조사 결과까지이며, 피드백 후 이론과 설계를 구체화한다.</a:t>
            </a:r>
            <a:endParaRPr lang="ko-KR" sz="144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KR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동승자 존재와 운전자 분노 조절 | 연구계획</dc:title>
  <dc:subject>교수님 피드백용 연구계획</dc:subject>
  <dc:creator>서종휘</dc:creator>
  <cp:lastModifiedBy>서종휘</cp:lastModifiedBy>
  <cp:revision>1</cp:revision>
  <dcterms:created xsi:type="dcterms:W3CDTF">2026-09-10T17:56:06Z</dcterms:created>
  <dcterms:modified xsi:type="dcterms:W3CDTF">2026-09-10T17:56:06Z</dcterms:modified>
</cp:coreProperties>
</file>