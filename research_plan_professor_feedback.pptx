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07899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존재가 운전자 분노 조절에 미치는 영향과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 AI 인터페이스 설계 연구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타자의 존재, 안전 책임감, 감정 조절 경험을 중심으로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4251960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708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홍익대학교 일반대학원 산업디자인과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서종휘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5989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피드백용 초안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996696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연구가 해결하려는 문제</a:t>
            </a:r>
            <a:endParaRPr lang="en-US" sz="1800" dirty="0"/>
          </a:p>
          <a:p>
            <a:r>
              <a:rPr lang="en-US" sz="18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인문학적 관점: 자동차 내부, 타자, 책임감</a:t>
            </a:r>
            <a:endParaRPr lang="en-US" sz="1800" dirty="0"/>
          </a:p>
          <a:p>
            <a:r>
              <a:rPr lang="en-US" sz="18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선행연구와 이론적 근거</a:t>
            </a:r>
            <a:endParaRPr lang="en-US" sz="1800" dirty="0"/>
          </a:p>
          <a:p>
            <a:r>
              <a:rPr lang="en-US" sz="18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 설문조사 결과(N=33)</a:t>
            </a:r>
            <a:endParaRPr lang="en-US" sz="1800" dirty="0"/>
          </a:p>
          <a:p>
            <a:r>
              <a:rPr lang="en-US" sz="18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인터페이스 설계 방향과 향후 연구계획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출발점: 자동차 내부는 감정의 공간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3291840" cy="3291840"/>
          </a:xfrm>
          <a:prstGeom prst="roundRect">
            <a:avLst>
              <a:gd name="adj" fmla="val 1111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465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공적 도로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103120"/>
            <a:ext cx="29626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운전자는 타인과 계속 상호작용한다.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끼어들기, 경적, 상향등, 근접 주행은 감정 자극이 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291840" cy="3291840"/>
          </a:xfrm>
          <a:prstGeom prst="roundRect">
            <a:avLst>
              <a:gd name="adj" fmla="val 1111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7465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사적 실내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2103120"/>
            <a:ext cx="29626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안은 혼자 있는 폐쇄적 공간이다.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분노는 외부보다 혼잣말, 욕설, 표정, 신체 긴장으로 축적된다.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291840" cy="3291840"/>
          </a:xfrm>
          <a:prstGeom prst="roundRect">
            <a:avLst>
              <a:gd name="adj" fmla="val 1111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465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관계적 공간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02752" y="2103120"/>
            <a:ext cx="29626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동승자가 타는 순간 차 안은 타자와 함께 있는 공간이 된다.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운전자는 보호해야 할 사람을 의식한다.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연구가 해결하려는 문제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차량 내 AI는 운전자의 감정 경험을 충분히 다루지 못한다.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102412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AI는 주로 길 안내, 음악 재생, 차량 제어 등 명령 수행 중심으로 설계되어 있다.</a:t>
            </a:r>
            <a:endParaRPr lang="en-US" sz="1550" dirty="0"/>
          </a:p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실제 운전에서는 분노, 짜증, 긴장 같은 감정이 안전 행동과 직접 연결된다.</a:t>
            </a:r>
            <a:endParaRPr lang="en-US" sz="1550" dirty="0"/>
          </a:p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운전자가 혼자 있을 때 감정은 차량 내부에서 쌓이지만, 동승자가 있으면 감정 표현과 행동이 조절된다.</a:t>
            </a:r>
            <a:endParaRPr lang="en-US" sz="1550" dirty="0"/>
          </a:p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문제는 ‘화를 없애는 기능’이 아니라 ‘운전자가 스스로 감정을 재해석하고 책임을 떠올리게 하는 경험’을 어떻게 설계할 것인가이다.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인사이트: 시선보다 안전 책임감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예상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200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보고 있어서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창피해서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모습을 보여야 해서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1005840" cy="502920"/>
          </a:xfrm>
          <a:prstGeom prst="rightArrow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응답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0" y="1828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안전에 대한 책임감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5000" y="2423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63.6%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543800" y="2670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21명 / 33명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동승자는 운전자를 감시하는 사람이 아니라,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운전자가 보호해야 할 타자로 작동한다.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목적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1069848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운전자가 어떤 상황에서 분노와 불쾌감을 강하게 느끼는지 파악한다.</a:t>
            </a:r>
            <a:endParaRPr lang="en-US" sz="1620" dirty="0"/>
          </a:p>
          <a:p>
            <a:r>
              <a:rPr lang="en-US" sz="16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중 분노가 혼잣말, 욕설, 경적, 공격적 운전 등 어떤 방식으로 표출되는지 분석한다.</a:t>
            </a:r>
            <a:endParaRPr lang="en-US" sz="1620" dirty="0"/>
          </a:p>
          <a:p>
            <a:r>
              <a:rPr lang="en-US" sz="16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유무와 유형이 감정 표현 및 행동 조절에 미치는 영향을 확인한다.</a:t>
            </a:r>
            <a:endParaRPr lang="en-US" sz="1620" dirty="0"/>
          </a:p>
          <a:p>
            <a:r>
              <a:rPr lang="en-US" sz="16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존재가 감시나 체면이 아니라 보호 책임감으로 작동하는 과정을 해석한다.</a:t>
            </a:r>
            <a:endParaRPr lang="en-US" sz="1620" dirty="0"/>
          </a:p>
          <a:p>
            <a:r>
              <a:rPr lang="en-US" sz="16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조절 경험을 차량 내 AI 인터랙션 원칙과 HMI 디자인 가이드라인으로 전환한다.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문제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106984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운전자는 어떤 도로 상황에서 가장 강한 분노 또는 불쾌감을 경험하는가?</a:t>
            </a:r>
            <a:endParaRPr lang="en-US" sz="1580" dirty="0"/>
          </a:p>
          <a:p>
            <a:r>
              <a:rPr lang="en-US" sz="15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중 분노는 어떤 방식으로 표출되거나 억제되는가?</a:t>
            </a:r>
            <a:endParaRPr lang="en-US" sz="1580" dirty="0"/>
          </a:p>
          <a:p>
            <a:r>
              <a:rPr lang="en-US" sz="15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존재는 운전자의 감정 표현과 행동 억제에 어떠한 영향을 미치는가?</a:t>
            </a:r>
            <a:endParaRPr lang="en-US" sz="1580" dirty="0"/>
          </a:p>
          <a:p>
            <a:r>
              <a:rPr lang="en-US" sz="15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억제 효과의 핵심 동기는 타인의 시선보다 안전 책임감에 더 가까운가?</a:t>
            </a:r>
            <a:endParaRPr lang="en-US" sz="1580" dirty="0"/>
          </a:p>
          <a:p>
            <a:r>
              <a:rPr lang="en-US" sz="15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 AI는 감시하거나 통제하지 않으면서 책임감과 자기조절 경험을 어떻게 구현할 수 있는가?</a:t>
            </a:r>
            <a:endParaRPr lang="en-US" sz="15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 지도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2148840" cy="356616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0078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분노 측정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057400"/>
            <a:ext cx="1819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Deffenbacher et al.(1994)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K-DAS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신용균 외(2009)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99232" y="1554480"/>
            <a:ext cx="2148840" cy="356616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170078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조절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63824" y="2057400"/>
            <a:ext cx="1819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인지적 재평가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Gross(1998)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상황 재해석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Harris &amp; Nass(2011)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58384" y="1554480"/>
            <a:ext cx="2148840" cy="356616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2976" y="170078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효과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22976" y="2057400"/>
            <a:ext cx="1819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억제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Baxter et al.(1990)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 효과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Vollrath et al.(2002)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17536" y="1554480"/>
            <a:ext cx="2148840" cy="356616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70078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82128" y="2057400"/>
            <a:ext cx="1819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에이전트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Nass &amp; Moon(2000)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In-vehicle agent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Jeon et al.(2015)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076688" y="1554480"/>
            <a:ext cx="1463040" cy="356616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170078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0" y="2057400"/>
            <a:ext cx="11338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HMI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 설문조사 개요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2286000" cy="1234440"/>
          </a:xfrm>
          <a:prstGeom prst="roundRect">
            <a:avLst>
              <a:gd name="adj" fmla="val 2963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007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2057400"/>
            <a:ext cx="1956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운전자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33명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286000" cy="1234440"/>
          </a:xfrm>
          <a:prstGeom prst="roundRect">
            <a:avLst>
              <a:gd name="adj" fmla="val 2963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7007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척도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3592" y="2057400"/>
            <a:ext cx="1956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DAS/K-DAS 참고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5점 리커트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286000" cy="1234440"/>
          </a:xfrm>
          <a:prstGeom prst="roundRect">
            <a:avLst>
              <a:gd name="adj" fmla="val 2963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7007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9632" y="2057400"/>
            <a:ext cx="1956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반응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표출 행동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영향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41080" y="1554480"/>
            <a:ext cx="2286000" cy="1234440"/>
          </a:xfrm>
          <a:prstGeom prst="roundRect">
            <a:avLst>
              <a:gd name="adj" fmla="val 2963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05672" y="17007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05672" y="2057400"/>
            <a:ext cx="1956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기술통계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빈도분석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응답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101498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18명(54.5%), 남성 15명(45.5%)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23명(69.7%), 30대 7명(21.2%), 40대 3명(9.1%)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 경험이 있는 응답자: 30명(90.9%)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목적 운전이 가장 높음: 14명(42.4%)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상황별 분노 유발 요인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91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타인의 적대적 표현(경적/상향등/손짓)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74920" y="1627632"/>
            <a:ext cx="557784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627632"/>
            <a:ext cx="432840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71632" y="1572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09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갑작스러운 끼어들기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2145792"/>
            <a:ext cx="557784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2145792"/>
            <a:ext cx="378177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71632" y="20909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627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타인의 교통법규 위반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663952"/>
            <a:ext cx="557784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663952"/>
            <a:ext cx="374830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71632" y="260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145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 체증 및 이동시간 지연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3182112"/>
            <a:ext cx="557784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3182112"/>
            <a:ext cx="3647907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71632" y="3127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3663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뒤차 안전거리 미확보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3700272"/>
            <a:ext cx="557784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3700272"/>
            <a:ext cx="348057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71632" y="36454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4181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앞차의 지나친 서행 운전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74920" y="4218432"/>
            <a:ext cx="557784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4218432"/>
            <a:ext cx="3380171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71632" y="4163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53492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분노는 단순 지연보다 ‘나를 향한 적대적 표현’에서 가장 강하게 발생한다.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중 감정 표출 양상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혼잣말 빈도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74920" y="1682496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682496"/>
            <a:ext cx="3752698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80192" y="1627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욕설 빈도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2267712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2267712"/>
            <a:ext cx="2863901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80192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경적 사용 빈도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852928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852928"/>
            <a:ext cx="235915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80192" y="27980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공격적 운전 경험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3438144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3438144"/>
            <a:ext cx="216164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80192" y="3383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3986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보복 행동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4023360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4023360"/>
            <a:ext cx="1766621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80192" y="3968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525780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분노는 외부 보복보다 차량 내부에서 혼잣말과 억제된 언어 표현으로 남는다.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탑승 시 감정 및 행동 변화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표현 조절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74920" y="1682496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682496"/>
            <a:ext cx="4454957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80192" y="1627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4.06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31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화나는 상황에서 행동 참음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2267712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2267712"/>
            <a:ext cx="4422038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80192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행동 변화 지각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852928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852928"/>
            <a:ext cx="3862426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80192" y="27980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반응에 따른 행동 변화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3438144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3438144"/>
            <a:ext cx="3061411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80192" y="3383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3986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오히려 감정 표현 증가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4023360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4023360"/>
            <a:ext cx="216164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80192" y="3968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525780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동승자는 분노를 증폭시키기보다 감정 표현과 행동 억제를 강화한다.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영향의 이유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640080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7465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안전에 대한 책임감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1217762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86584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영향을 거의 받지 않음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92240" y="23682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12.1%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2843784"/>
            <a:ext cx="915838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9864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모습을 보여주고 싶은 마음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3355848"/>
            <a:ext cx="613913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1071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사람이 나를 보고 있다는 의식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339242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6.1%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3867912"/>
            <a:ext cx="613913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92277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감정을 공유하기 때문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39044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6.1%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4379976"/>
            <a:ext cx="301925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348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반응이나 말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44165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18120" y="1600200"/>
            <a:ext cx="3337560" cy="3337560"/>
          </a:xfrm>
          <a:prstGeom prst="roundRect">
            <a:avLst>
              <a:gd name="adj" fmla="val 1096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82712" y="174650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82712" y="2103120"/>
            <a:ext cx="3008376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예상은 ‘시선 의식’이었다.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응답은 ‘보호 책임’이 압도적이었다.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동승자는 감시자가 아니라 운전자의 윤리적 자기조절을 일으키는 타자다.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유형별 영향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74920" y="1682496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682496"/>
            <a:ext cx="456742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80192" y="1627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33.30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64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유형 차이 없음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2200656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2200656"/>
            <a:ext cx="374446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80192" y="21457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27.30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682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낯선 사람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718816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718816"/>
            <a:ext cx="208483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80192" y="266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15.20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200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3236976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3236976"/>
            <a:ext cx="1659636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80192" y="3182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3718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 동료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3755136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3755136"/>
            <a:ext cx="1248156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80192" y="37002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4236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74920" y="4273296"/>
            <a:ext cx="54864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4273296"/>
            <a:ext cx="41148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80192" y="4218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53492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가족의 영향이 가장 크지만, 유형과 무관하게 ‘함께 탄 사람’ 자체가 영향을 줄 가능성도 확인된다.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인문학적 해석: 동승자는 어떤 존재인가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3291840" cy="3520440"/>
          </a:xfrm>
          <a:prstGeom prst="roundRect">
            <a:avLst>
              <a:gd name="adj" fmla="val 1111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007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시선의 타자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2057400"/>
            <a:ext cx="296265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나를 보고 있다는 의식.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체면, 평가, 창피함과 연결된다.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본 조사에서는 핵심 요인이 아니었다.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291840" cy="3520440"/>
          </a:xfrm>
          <a:prstGeom prst="roundRect">
            <a:avLst>
              <a:gd name="adj" fmla="val 1111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7007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관계의 타자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2057400"/>
            <a:ext cx="296265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내부를 혼자만의 공간이 아니라 함께 있는 공간으로 바꾼다.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운전자는 감정을 관계 안에서 조절한다.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291840" cy="3520440"/>
          </a:xfrm>
          <a:prstGeom prst="roundRect">
            <a:avLst>
              <a:gd name="adj" fmla="val 1111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7007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책임의 타자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7032" y="2057400"/>
            <a:ext cx="296265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탄 사람의 안전을 책임져야 한다는 감각을 일으킨다.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분노는 안전 책임감으로 재해석된다.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인터페이스 설계 원칙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72768"/>
            <a:ext cx="3246120" cy="3429000"/>
          </a:xfrm>
          <a:prstGeom prst="roundRect">
            <a:avLst>
              <a:gd name="adj" fmla="val 112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비침해적 존재감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2075688"/>
            <a:ext cx="291693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훈계하거나 감시하지 않는다.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동승자가 옆에 있는 듯한 낮은 강도의 시각·청각 단서로 안전 의식을 환기한다.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572768"/>
            <a:ext cx="3246120" cy="3429000"/>
          </a:xfrm>
          <a:prstGeom prst="roundRect">
            <a:avLst>
              <a:gd name="adj" fmla="val 112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71907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감정 완충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45152" y="2075688"/>
            <a:ext cx="291693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혼잣말, 욕설, 음성 톤, 조작 압력, 주행 패턴 등 감정 고조 신호에 조명·사운드·온도 반응을 제공한다.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72768"/>
            <a:ext cx="3246120" cy="3429000"/>
          </a:xfrm>
          <a:prstGeom prst="roundRect">
            <a:avLst>
              <a:gd name="adj" fmla="val 112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71907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안전 책임감 환기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8472" y="2075688"/>
            <a:ext cx="291693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운전자가 ‘화를 참아야 한다’가 아니라 ‘함께 탄 사람을 안전하게 데려가야 한다’를 떠올리게 한다.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제안하는 AI 인터랙션 모델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3246120" cy="3657600"/>
          </a:xfrm>
          <a:prstGeom prst="roundRect">
            <a:avLst>
              <a:gd name="adj" fmla="val 112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5506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시각적 존재감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291693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대시보드, 클러스터, 앰비언트 라이트를 통해 조용한 동승자적 존재감을 제공한다.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46120" cy="3657600"/>
          </a:xfrm>
          <a:prstGeom prst="roundRect">
            <a:avLst>
              <a:gd name="adj" fmla="val 112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65506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B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관계성 음성 케어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45152" y="2011680"/>
            <a:ext cx="291693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혹은 가까운 사람을 연상시키는 짧고 부드러운 음성으로 안전을 환기한다.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246120" cy="3657600"/>
          </a:xfrm>
          <a:prstGeom prst="roundRect">
            <a:avLst>
              <a:gd name="adj" fmla="val 1127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65506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동승자 페르소나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8472" y="2011680"/>
            <a:ext cx="291693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맥락을 함께 인식하고, 필요 시 분위기 조율과 감정 완충을 수행한다.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방법 및 평가 계획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106984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문헌연구: DAS/K-DAS, 감정 조절, 사회적 억제, 동승자 효과, 차량 내 AI 에이전트 연구 검토</a:t>
            </a:r>
            <a:endParaRPr lang="en-US" sz="1550" dirty="0"/>
          </a:p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설문조사: 예비 조사 문항 보완 후 표본 수와 연령대를 확대</a:t>
            </a:r>
            <a:endParaRPr lang="en-US" sz="1550" dirty="0"/>
          </a:p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분석: 기술통계, 평균 비교, 교차분석, 정성 응답 코딩</a:t>
            </a:r>
            <a:endParaRPr lang="en-US" sz="1550" dirty="0"/>
          </a:p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프로토타입: 시각적 존재감, 관계성 음성 케어, 가상 동승자 페르소나 모델 제작</a:t>
            </a:r>
            <a:endParaRPr lang="en-US" sz="1550" dirty="0"/>
          </a:p>
          <a:p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지표: 분노 완화감, 수용성, 방해감, 신뢰감, 안전 환기 효과, 선호 인터랙션 유형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결과와 의의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5166360" cy="3840480"/>
          </a:xfrm>
          <a:prstGeom prst="roundRect">
            <a:avLst>
              <a:gd name="adj" fmla="val 95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5506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학술적·인문학적 의의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483717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분노를 단순한 위험 행동이 아니라 자동차 내부에서 발생하는 감정 경험으로 해석한다.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동승자를 감시자가 아니라 책임감을 일으키는 타자로 설명한다.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166360" cy="3840480"/>
          </a:xfrm>
          <a:prstGeom prst="roundRect">
            <a:avLst>
              <a:gd name="adj" fmla="val 952"/>
            </a:avLst>
          </a:prstGeom>
          <a:solidFill>
            <a:srgbClr val="F5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65506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디자인·실무적 의의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011680"/>
            <a:ext cx="483717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 AI가 운전자를 통제하지 않으면서 감정 조절을 돕는 방향을 제안한다.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SDV, In-Cabin AI, 감성 HMI 설계에 적용 가능한 가이드라인을 도출한다.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일정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749808" cy="7498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81912" y="2203704"/>
            <a:ext cx="658368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 검토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04872" y="1828800"/>
            <a:ext cx="749808" cy="7498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20116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9544" y="2203704"/>
            <a:ext cx="658368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문항 보완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32504" y="1828800"/>
            <a:ext cx="749808" cy="74980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32504" y="20116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37176" y="2203704"/>
            <a:ext cx="658368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7912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설문 및 분석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0136" y="1828800"/>
            <a:ext cx="749808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0136" y="20116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64808" y="2203704"/>
            <a:ext cx="658368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원칙 도출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87768" y="1828800"/>
            <a:ext cx="749808" cy="7498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7768" y="20116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2440" y="2203704"/>
            <a:ext cx="658368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제작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15400" y="1828800"/>
            <a:ext cx="749808" cy="74980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20116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20072" y="2203704"/>
            <a:ext cx="658368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50808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평가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543032" y="1828800"/>
            <a:ext cx="749808" cy="7498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43032" y="20116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37844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작성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피드백 요청 포인트: 연구 범위, 선행연구 방향, 본조사 설계, 프로토타입 평가 방법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참고문헌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105156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Deffenbacher et al.(1994) - Driving Anger Scale(DAS)</a:t>
            </a:r>
            <a:endParaRPr lang="en-US" sz="1450" dirty="0"/>
          </a:p>
          <a:p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신용균·한덕웅·류준범(2009) - 한국판 운전분노척도(K-DAS)</a:t>
            </a:r>
            <a:endParaRPr lang="en-US" sz="1450" dirty="0"/>
          </a:p>
          <a:p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Gross(1998) - 감정 조절과 인지적 재평가</a:t>
            </a:r>
            <a:endParaRPr lang="en-US" sz="1450" dirty="0"/>
          </a:p>
          <a:p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Harris &amp; Nass(2011) - 운전 좌절 상황에서 감정 재평가 프롬프트</a:t>
            </a:r>
            <a:endParaRPr lang="en-US" sz="1450" dirty="0"/>
          </a:p>
          <a:p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Baxter et al.(1990), Vollrath et al.(2002), Lee &amp; Abdel-Aty(2008) - 동승자 존재와 운전 행동</a:t>
            </a:r>
            <a:endParaRPr lang="en-US" sz="1450" dirty="0"/>
          </a:p>
          <a:p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Jeon, Walker, &amp; Gable(2015) - 차량 내 에이전트와 운전자 분노 완화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석사학위 청구논문 연구계획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교수님께 받고 싶은 피드백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106984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주제를 ‘차량 AI/HMI 설계’ 중심으로 둘지, ‘운전자의 감정 경험과 타자성’ 중심으로 둘지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안전 책임감을 핵심 개념으로 잡는 것이 타당한지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본조사에서 추가해야 할 문항이나 표본 조건이 있는지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평가를 시나리오 기반으로 할지, 시뮬레이션 기반으로 확장할지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 범위를 심리학, 교통안전, HCI 중 어디까지 넓히는 것이 적절한지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홍익대학교 일반대학원 산업디자인과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존재가 운전자 분노 조절에 미치는 영향과 차량 내 AI 인터페이스 설계 연구</dc:title>
  <dc:subject>자동차 논문 연구계획서</dc:subject>
  <dc:creator>서종휘</dc:creator>
  <cp:lastModifiedBy>서종휘</cp:lastModifiedBy>
  <cp:revision>1</cp:revision>
  <dcterms:created xsi:type="dcterms:W3CDTF">2026-09-07T16:15:51Z</dcterms:created>
  <dcterms:modified xsi:type="dcterms:W3CDTF">2026-09-07T16:15:51Z</dcterms:modified>
</cp:coreProperties>
</file>